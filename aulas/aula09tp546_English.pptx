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ee07af4a4840ef" /><Relationship Type="http://schemas.openxmlformats.org/officeDocument/2006/relationships/extended-properties" Target="/docProps/app.xml" Id="R516d6ac203a0499d" /><Relationship Type="http://schemas.openxmlformats.org/officeDocument/2006/relationships/officeDocument" Target="/ppt/presentation.xml" Id="R4750318aa8964353" /></Relationships>
</file>

<file path=ppt/presentation.xml><?xml version="1.0" encoding="utf-8"?>
<p:presentation xmlns:p="http://schemas.openxmlformats.org/presentationml/2006/main">
  <p:sldMasterIdLst>
    <p:sldMasterId xmlns:r="http://schemas.openxmlformats.org/officeDocument/2006/relationships" id="2147483648" r:id="R57c0392510c04bc3"/>
  </p:sldMasterIdLst>
  <p:notesMasterIdLst>
    <p:notesMasterId xmlns:r="http://schemas.openxmlformats.org/officeDocument/2006/relationships" r:id="R319cea5fe25d44cd"/>
  </p:notesMasterIdLst>
  <p:sldIdLst>
    <p:sldId xmlns:r="http://schemas.openxmlformats.org/officeDocument/2006/relationships" id="256" r:id="R0628fb6c20864298"/>
    <p:sldId xmlns:r="http://schemas.openxmlformats.org/officeDocument/2006/relationships" id="257" r:id="R1537a16e51014e29"/>
    <p:sldId xmlns:r="http://schemas.openxmlformats.org/officeDocument/2006/relationships" id="258" r:id="R55ff6ee0d1944df3"/>
    <p:sldId xmlns:r="http://schemas.openxmlformats.org/officeDocument/2006/relationships" id="259" r:id="R643d90751d0a4ba8"/>
    <p:sldId xmlns:r="http://schemas.openxmlformats.org/officeDocument/2006/relationships" id="260" r:id="R849f98bc35794394"/>
    <p:sldId xmlns:r="http://schemas.openxmlformats.org/officeDocument/2006/relationships" id="261" r:id="R76c1a90e84334ffb"/>
    <p:sldId xmlns:r="http://schemas.openxmlformats.org/officeDocument/2006/relationships" id="262" r:id="Rca7639b6c14a4850"/>
    <p:sldId xmlns:r="http://schemas.openxmlformats.org/officeDocument/2006/relationships" id="263" r:id="R4d0209aa692a4933"/>
    <p:sldId xmlns:r="http://schemas.openxmlformats.org/officeDocument/2006/relationships" id="264" r:id="Rebf57c716646454a"/>
    <p:sldId xmlns:r="http://schemas.openxmlformats.org/officeDocument/2006/relationships" id="265" r:id="R4b46253f35034409"/>
    <p:sldId xmlns:r="http://schemas.openxmlformats.org/officeDocument/2006/relationships" id="266" r:id="R1c55676b2a6a4ad5"/>
    <p:sldId xmlns:r="http://schemas.openxmlformats.org/officeDocument/2006/relationships" id="267" r:id="R2644fbc381894b9c"/>
    <p:sldId xmlns:r="http://schemas.openxmlformats.org/officeDocument/2006/relationships" id="268" r:id="R7d9bf2594c6442a1"/>
    <p:sldId xmlns:r="http://schemas.openxmlformats.org/officeDocument/2006/relationships" id="269" r:id="R97e15e80af974655"/>
    <p:sldId xmlns:r="http://schemas.openxmlformats.org/officeDocument/2006/relationships" id="270" r:id="Rc4465cbb69194ae4"/>
    <p:sldId xmlns:r="http://schemas.openxmlformats.org/officeDocument/2006/relationships" id="271" r:id="R04f5343a0e404a32"/>
    <p:sldId xmlns:r="http://schemas.openxmlformats.org/officeDocument/2006/relationships" id="272" r:id="Rc44ed2f340014ed1"/>
    <p:sldId xmlns:r="http://schemas.openxmlformats.org/officeDocument/2006/relationships" id="273" r:id="R0fa4dceb86cd4ef4"/>
    <p:sldId xmlns:r="http://schemas.openxmlformats.org/officeDocument/2006/relationships" id="274" r:id="R764e954259a442dd"/>
    <p:sldId xmlns:r="http://schemas.openxmlformats.org/officeDocument/2006/relationships" id="275" r:id="R10b5a50b347646cf"/>
    <p:sldId xmlns:r="http://schemas.openxmlformats.org/officeDocument/2006/relationships" id="276" r:id="R3251876d597f4f2a"/>
    <p:sldId xmlns:r="http://schemas.openxmlformats.org/officeDocument/2006/relationships" id="277" r:id="R2c5ebc6f48ab40ae"/>
    <p:sldId xmlns:r="http://schemas.openxmlformats.org/officeDocument/2006/relationships" id="278" r:id="Rd252fec44ae54452"/>
    <p:sldId xmlns:r="http://schemas.openxmlformats.org/officeDocument/2006/relationships" id="279" r:id="R7b2bf127f0fa4036"/>
    <p:sldId xmlns:r="http://schemas.openxmlformats.org/officeDocument/2006/relationships" id="280" r:id="Ra224a4299b104a83"/>
    <p:sldId xmlns:r="http://schemas.openxmlformats.org/officeDocument/2006/relationships" id="281" r:id="R2222ba7d421144c5"/>
    <p:sldId xmlns:r="http://schemas.openxmlformats.org/officeDocument/2006/relationships" id="282" r:id="Rca07d0ae18cf421a"/>
    <p:sldId xmlns:r="http://schemas.openxmlformats.org/officeDocument/2006/relationships" id="283" r:id="Rededb3fbe94c4832"/>
    <p:sldId xmlns:r="http://schemas.openxmlformats.org/officeDocument/2006/relationships" id="284" r:id="Ra3081ddbec1c49d4"/>
    <p:sldId xmlns:r="http://schemas.openxmlformats.org/officeDocument/2006/relationships" id="285" r:id="Rcfe2fc25d8c84df6"/>
    <p:sldId xmlns:r="http://schemas.openxmlformats.org/officeDocument/2006/relationships" id="286" r:id="Rdcb796102d934ecb"/>
    <p:sldId xmlns:r="http://schemas.openxmlformats.org/officeDocument/2006/relationships" id="287" r:id="Rbad18fcd3f534a7e"/>
    <p:sldId xmlns:r="http://schemas.openxmlformats.org/officeDocument/2006/relationships" id="288" r:id="Rd94fd9900a3b4705"/>
    <p:sldId xmlns:r="http://schemas.openxmlformats.org/officeDocument/2006/relationships" id="289" r:id="R17fe6f4c38c44989"/>
    <p:sldId xmlns:r="http://schemas.openxmlformats.org/officeDocument/2006/relationships" id="290" r:id="R90874e7b29c94837"/>
    <p:sldId xmlns:r="http://schemas.openxmlformats.org/officeDocument/2006/relationships" id="291" r:id="Rbcca6c4a837a42ba"/>
    <p:sldId xmlns:r="http://schemas.openxmlformats.org/officeDocument/2006/relationships" id="292" r:id="R0e995b206e144dd5"/>
    <p:sldId xmlns:r="http://schemas.openxmlformats.org/officeDocument/2006/relationships" id="293" r:id="Rce20c9266b2e4983"/>
    <p:sldId xmlns:r="http://schemas.openxmlformats.org/officeDocument/2006/relationships" id="294" r:id="Rb40ae097332e45b0"/>
    <p:sldId xmlns:r="http://schemas.openxmlformats.org/officeDocument/2006/relationships" id="295" r:id="Rf2dd2132a9364ae1"/>
    <p:sldId xmlns:r="http://schemas.openxmlformats.org/officeDocument/2006/relationships" id="296" r:id="Rdba9a3b0ff9044b6"/>
    <p:sldId xmlns:r="http://schemas.openxmlformats.org/officeDocument/2006/relationships" id="297" r:id="R9846a4669dd142cc"/>
    <p:sldId xmlns:r="http://schemas.openxmlformats.org/officeDocument/2006/relationships" id="298" r:id="R2ef11f031fe94bfb"/>
    <p:sldId xmlns:r="http://schemas.openxmlformats.org/officeDocument/2006/relationships" id="299" r:id="R9a8d016799414a44"/>
    <p:sldId xmlns:r="http://schemas.openxmlformats.org/officeDocument/2006/relationships" id="300" r:id="Re03c6e9d75774f64"/>
    <p:sldId xmlns:r="http://schemas.openxmlformats.org/officeDocument/2006/relationships" id="301" r:id="R4373b629973e49c6"/>
    <p:sldId xmlns:r="http://schemas.openxmlformats.org/officeDocument/2006/relationships" id="302" r:id="Rbc58811fa6984522"/>
    <p:sldId xmlns:r="http://schemas.openxmlformats.org/officeDocument/2006/relationships" id="303" r:id="R4631c03c596b4357"/>
    <p:sldId xmlns:r="http://schemas.openxmlformats.org/officeDocument/2006/relationships" id="304" r:id="Rfd61bd90869b47bc"/>
    <p:sldId xmlns:r="http://schemas.openxmlformats.org/officeDocument/2006/relationships" id="305" r:id="Rbb0721a9a9fa44f3"/>
    <p:sldId xmlns:r="http://schemas.openxmlformats.org/officeDocument/2006/relationships" id="306" r:id="R7543962467f44adb"/>
    <p:sldId xmlns:r="http://schemas.openxmlformats.org/officeDocument/2006/relationships" id="307" r:id="R9a1206a4f8a74959"/>
    <p:sldId xmlns:r="http://schemas.openxmlformats.org/officeDocument/2006/relationships" id="308" r:id="Rc34f8302c9d145b3"/>
    <p:sldId xmlns:r="http://schemas.openxmlformats.org/officeDocument/2006/relationships" id="309" r:id="Re0c65207517f4fd8"/>
    <p:sldId xmlns:r="http://schemas.openxmlformats.org/officeDocument/2006/relationships" id="310" r:id="R52585a0ca0ee4242"/>
    <p:sldId xmlns:r="http://schemas.openxmlformats.org/officeDocument/2006/relationships" id="311" r:id="Rd1e618ade4264cd6"/>
    <p:sldId xmlns:r="http://schemas.openxmlformats.org/officeDocument/2006/relationships" id="312" r:id="R0ab01f774f324c79"/>
    <p:sldId xmlns:r="http://schemas.openxmlformats.org/officeDocument/2006/relationships" id="313" r:id="R0fd43c423df94f40"/>
    <p:sldId xmlns:r="http://schemas.openxmlformats.org/officeDocument/2006/relationships" id="314" r:id="R8c15bb7a406f4b3d"/>
    <p:sldId xmlns:r="http://schemas.openxmlformats.org/officeDocument/2006/relationships" id="315" r:id="R8b6dad9185df4638"/>
    <p:sldId xmlns:r="http://schemas.openxmlformats.org/officeDocument/2006/relationships" id="316" r:id="Rf19abd610cfe4cf6"/>
    <p:sldId xmlns:r="http://schemas.openxmlformats.org/officeDocument/2006/relationships" id="317" r:id="Re083685dcd234f48"/>
    <p:sldId xmlns:r="http://schemas.openxmlformats.org/officeDocument/2006/relationships" id="318" r:id="R1ba3e1f205914d79"/>
    <p:sldId xmlns:r="http://schemas.openxmlformats.org/officeDocument/2006/relationships" id="319" r:id="Rdab1d0443a2d443b"/>
    <p:sldId xmlns:r="http://schemas.openxmlformats.org/officeDocument/2006/relationships" id="320" r:id="R20b4674b50bf4c4b"/>
    <p:sldId xmlns:r="http://schemas.openxmlformats.org/officeDocument/2006/relationships" id="321" r:id="R9fee8a880c3a45c0"/>
    <p:sldId xmlns:r="http://schemas.openxmlformats.org/officeDocument/2006/relationships" id="322" r:id="R976b77824beb4cb9"/>
    <p:sldId xmlns:r="http://schemas.openxmlformats.org/officeDocument/2006/relationships" id="323" r:id="Rbe1ab5ccc8c44382"/>
    <p:sldId xmlns:r="http://schemas.openxmlformats.org/officeDocument/2006/relationships" id="324" r:id="R3bf44ca4816f406c"/>
    <p:sldId xmlns:r="http://schemas.openxmlformats.org/officeDocument/2006/relationships" id="325" r:id="R1dfa4aa620bc43c3"/>
    <p:sldId xmlns:r="http://schemas.openxmlformats.org/officeDocument/2006/relationships" id="326" r:id="R1a6aad10640d487d"/>
    <p:sldId xmlns:r="http://schemas.openxmlformats.org/officeDocument/2006/relationships" id="327" r:id="R7e29b6ee1bb04516"/>
    <p:sldId xmlns:r="http://schemas.openxmlformats.org/officeDocument/2006/relationships" id="328" r:id="R72de2ca82afb468d"/>
    <p:sldId xmlns:r="http://schemas.openxmlformats.org/officeDocument/2006/relationships" id="329" r:id="R0a7f3e85d6fc4e79"/>
    <p:sldId xmlns:r="http://schemas.openxmlformats.org/officeDocument/2006/relationships" id="330" r:id="Ra30043be59dd4a27"/>
    <p:sldId xmlns:r="http://schemas.openxmlformats.org/officeDocument/2006/relationships" id="331" r:id="R282a2d50ef824c17"/>
    <p:sldId xmlns:r="http://schemas.openxmlformats.org/officeDocument/2006/relationships" id="332" r:id="R436585fa58b841dc"/>
    <p:sldId xmlns:r="http://schemas.openxmlformats.org/officeDocument/2006/relationships" id="333" r:id="R5bc31cf2202b46a2"/>
    <p:sldId xmlns:r="http://schemas.openxmlformats.org/officeDocument/2006/relationships" id="334" r:id="Raf825bd447a74399"/>
    <p:sldId xmlns:r="http://schemas.openxmlformats.org/officeDocument/2006/relationships" id="335" r:id="R611941b919124c3e"/>
    <p:sldId xmlns:r="http://schemas.openxmlformats.org/officeDocument/2006/relationships" id="336" r:id="R955edfaa85044bc4"/>
    <p:sldId xmlns:r="http://schemas.openxmlformats.org/officeDocument/2006/relationships" id="337" r:id="R49bbb2e2c66449db"/>
    <p:sldId xmlns:r="http://schemas.openxmlformats.org/officeDocument/2006/relationships" id="338" r:id="R384a4883dd284a44"/>
    <p:sldId xmlns:r="http://schemas.openxmlformats.org/officeDocument/2006/relationships" id="339" r:id="R3cc1ed9bec9a4e9e"/>
    <p:sldId xmlns:r="http://schemas.openxmlformats.org/officeDocument/2006/relationships" id="340" r:id="R83a23c8211ea4dd6"/>
    <p:sldId xmlns:r="http://schemas.openxmlformats.org/officeDocument/2006/relationships" id="341" r:id="R8c3197b71ae443eb"/>
    <p:sldId xmlns:r="http://schemas.openxmlformats.org/officeDocument/2006/relationships" id="342" r:id="R94290213c8ff4818"/>
    <p:sldId xmlns:r="http://schemas.openxmlformats.org/officeDocument/2006/relationships" id="343" r:id="Rce1ad17278204dfa"/>
    <p:sldId xmlns:r="http://schemas.openxmlformats.org/officeDocument/2006/relationships" id="344" r:id="R02403edfc38f4a96"/>
    <p:sldId xmlns:r="http://schemas.openxmlformats.org/officeDocument/2006/relationships" id="345" r:id="R2e8c95adcb5f4327"/>
    <p:sldId xmlns:r="http://schemas.openxmlformats.org/officeDocument/2006/relationships" id="346" r:id="R214596d187e34a0d"/>
    <p:sldId xmlns:r="http://schemas.openxmlformats.org/officeDocument/2006/relationships" id="347" r:id="R5b31329bff6c4e0b"/>
    <p:sldId xmlns:r="http://schemas.openxmlformats.org/officeDocument/2006/relationships" id="348" r:id="R4b731c1c493849bf"/>
    <p:sldId xmlns:r="http://schemas.openxmlformats.org/officeDocument/2006/relationships" id="349" r:id="Ra660edc3ccb04ce7"/>
    <p:sldId xmlns:r="http://schemas.openxmlformats.org/officeDocument/2006/relationships" id="350" r:id="R3e40d905609c4197"/>
    <p:sldId xmlns:r="http://schemas.openxmlformats.org/officeDocument/2006/relationships" id="351" r:id="R6258b74e300c445c"/>
    <p:sldId xmlns:r="http://schemas.openxmlformats.org/officeDocument/2006/relationships" id="352" r:id="R2acd725212524f9e"/>
    <p:sldId xmlns:r="http://schemas.openxmlformats.org/officeDocument/2006/relationships" id="353" r:id="R64a0c0e93cb14ffa"/>
    <p:sldId xmlns:r="http://schemas.openxmlformats.org/officeDocument/2006/relationships" id="354" r:id="Rc438f7e2920249fc"/>
    <p:sldId xmlns:r="http://schemas.openxmlformats.org/officeDocument/2006/relationships" id="355" r:id="Rc5b5612ebbf34d35"/>
    <p:sldId xmlns:r="http://schemas.openxmlformats.org/officeDocument/2006/relationships" id="356" r:id="R51ca90ae38074c1f"/>
    <p:sldId xmlns:r="http://schemas.openxmlformats.org/officeDocument/2006/relationships" id="357" r:id="Re0f1b49cdd284df8"/>
    <p:sldId xmlns:r="http://schemas.openxmlformats.org/officeDocument/2006/relationships" id="358" r:id="R8de9813e92fa4aaf"/>
    <p:sldId xmlns:r="http://schemas.openxmlformats.org/officeDocument/2006/relationships" id="359" r:id="Rfad1b72620224c34"/>
    <p:sldId xmlns:r="http://schemas.openxmlformats.org/officeDocument/2006/relationships" id="360" r:id="R13aa121830f842d8"/>
    <p:sldId xmlns:r="http://schemas.openxmlformats.org/officeDocument/2006/relationships" id="361" r:id="R55394e7afb87429e"/>
    <p:sldId xmlns:r="http://schemas.openxmlformats.org/officeDocument/2006/relationships" id="362" r:id="Rda8d741c00ac48a9"/>
    <p:sldId xmlns:r="http://schemas.openxmlformats.org/officeDocument/2006/relationships" id="363" r:id="Ra6494598cec94ca4"/>
    <p:sldId xmlns:r="http://schemas.openxmlformats.org/officeDocument/2006/relationships" id="364" r:id="R88625c63e000492a"/>
    <p:sldId xmlns:r="http://schemas.openxmlformats.org/officeDocument/2006/relationships" id="365" r:id="Rd0fc14e6d0cd426e"/>
    <p:sldId xmlns:r="http://schemas.openxmlformats.org/officeDocument/2006/relationships" id="366" r:id="R7c9dda4babf445d9"/>
    <p:sldId xmlns:r="http://schemas.openxmlformats.org/officeDocument/2006/relationships" id="367" r:id="R1e4eb2357e424c2f"/>
    <p:sldId xmlns:r="http://schemas.openxmlformats.org/officeDocument/2006/relationships" id="368" r:id="Redb712b318ca4ff0"/>
    <p:sldId xmlns:r="http://schemas.openxmlformats.org/officeDocument/2006/relationships" id="369" r:id="Rd4ae02a0556b44e6"/>
    <p:sldId xmlns:r="http://schemas.openxmlformats.org/officeDocument/2006/relationships" id="370" r:id="Rc283c669144d4dcb"/>
    <p:sldId xmlns:r="http://schemas.openxmlformats.org/officeDocument/2006/relationships" id="371" r:id="Rb14ab49bee4a4fd7"/>
    <p:sldId xmlns:r="http://schemas.openxmlformats.org/officeDocument/2006/relationships" id="372" r:id="Rc005826003bf48ad"/>
    <p:sldId xmlns:r="http://schemas.openxmlformats.org/officeDocument/2006/relationships" id="373" r:id="Rfccf97cb40764356"/>
    <p:sldId xmlns:r="http://schemas.openxmlformats.org/officeDocument/2006/relationships" id="374" r:id="Rdd79c8ba0d7e41ec"/>
    <p:sldId xmlns:r="http://schemas.openxmlformats.org/officeDocument/2006/relationships" id="375" r:id="R63d9aa71d8ff4610"/>
    <p:sldId xmlns:r="http://schemas.openxmlformats.org/officeDocument/2006/relationships" id="376" r:id="Ra60e1a7c46784835"/>
    <p:sldId xmlns:r="http://schemas.openxmlformats.org/officeDocument/2006/relationships" id="377" r:id="R53cf43dc5d934507"/>
    <p:sldId xmlns:r="http://schemas.openxmlformats.org/officeDocument/2006/relationships" id="378" r:id="Ra1e1dc538d364b84"/>
    <p:sldId xmlns:r="http://schemas.openxmlformats.org/officeDocument/2006/relationships" id="379" r:id="Rb8e9e8fa86e5447e"/>
    <p:sldId xmlns:r="http://schemas.openxmlformats.org/officeDocument/2006/relationships" id="380" r:id="Reb9f7206cbcc4993"/>
    <p:sldId xmlns:r="http://schemas.openxmlformats.org/officeDocument/2006/relationships" id="381" r:id="R0cb16b3972ea4ced"/>
    <p:sldId xmlns:r="http://schemas.openxmlformats.org/officeDocument/2006/relationships" id="382" r:id="Rb2233a7d571f4ba6"/>
    <p:sldId xmlns:r="http://schemas.openxmlformats.org/officeDocument/2006/relationships" id="383" r:id="Red65924bb5cd4769"/>
    <p:sldId xmlns:r="http://schemas.openxmlformats.org/officeDocument/2006/relationships" id="384" r:id="R474d9f21d58d4744"/>
    <p:sldId xmlns:r="http://schemas.openxmlformats.org/officeDocument/2006/relationships" id="385" r:id="R64eb914ae7bf4020"/>
    <p:sldId xmlns:r="http://schemas.openxmlformats.org/officeDocument/2006/relationships" id="386" r:id="Ra94fd7cc8e28487a"/>
    <p:sldId xmlns:r="http://schemas.openxmlformats.org/officeDocument/2006/relationships" id="387" r:id="R5954ff5a3a294e14"/>
    <p:sldId xmlns:r="http://schemas.openxmlformats.org/officeDocument/2006/relationships" id="388" r:id="Rf96d4bac243847bf"/>
    <p:sldId xmlns:r="http://schemas.openxmlformats.org/officeDocument/2006/relationships" id="389" r:id="Rce6fa0fd326d4389"/>
    <p:sldId xmlns:r="http://schemas.openxmlformats.org/officeDocument/2006/relationships" id="390" r:id="Rc3c358d22d4d4406"/>
    <p:sldId xmlns:r="http://schemas.openxmlformats.org/officeDocument/2006/relationships" id="391" r:id="Rd01fa66233734e17"/>
    <p:sldId xmlns:r="http://schemas.openxmlformats.org/officeDocument/2006/relationships" id="392" r:id="R3a288fa73cd64d6b"/>
    <p:sldId xmlns:r="http://schemas.openxmlformats.org/officeDocument/2006/relationships" id="393" r:id="Rd461cd991e5a468d"/>
    <p:sldId xmlns:r="http://schemas.openxmlformats.org/officeDocument/2006/relationships" id="394" r:id="R1068761560224ce8"/>
    <p:sldId xmlns:r="http://schemas.openxmlformats.org/officeDocument/2006/relationships" id="395" r:id="R6365c0ba8cfc45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697b3d8a4c46e5" /><Relationship Type="http://schemas.openxmlformats.org/officeDocument/2006/relationships/slideMaster" Target="/ppt/slideMasters/slideMaster1.xml" Id="R57c0392510c04bc3" /><Relationship Type="http://schemas.openxmlformats.org/officeDocument/2006/relationships/notesMaster" Target="/ppt/notesMasters/notesMaster1.xml" Id="R319cea5fe25d44cd" /><Relationship Type="http://schemas.openxmlformats.org/officeDocument/2006/relationships/presProps" Target="/ppt/presProps.xml" Id="Rb9d9094be0804514" /><Relationship Type="http://schemas.openxmlformats.org/officeDocument/2006/relationships/tableStyles" Target="/ppt/tableStyles.xml" Id="R5739b388d9d548b3" /><Relationship Type="http://schemas.openxmlformats.org/officeDocument/2006/relationships/slide" Target="/ppt/slides/slide1.xml" Id="R0628fb6c20864298" /><Relationship Type="http://schemas.openxmlformats.org/officeDocument/2006/relationships/slide" Target="/ppt/slides/slide2.xml" Id="R1537a16e51014e29" /><Relationship Type="http://schemas.openxmlformats.org/officeDocument/2006/relationships/slide" Target="/ppt/slides/slide3.xml" Id="R55ff6ee0d1944df3" /><Relationship Type="http://schemas.openxmlformats.org/officeDocument/2006/relationships/slide" Target="/ppt/slides/slide4.xml" Id="R643d90751d0a4ba8" /><Relationship Type="http://schemas.openxmlformats.org/officeDocument/2006/relationships/slide" Target="/ppt/slides/slide5.xml" Id="R849f98bc35794394" /><Relationship Type="http://schemas.openxmlformats.org/officeDocument/2006/relationships/slide" Target="/ppt/slides/slide6.xml" Id="R76c1a90e84334ffb" /><Relationship Type="http://schemas.openxmlformats.org/officeDocument/2006/relationships/slide" Target="/ppt/slides/slide7.xml" Id="Rca7639b6c14a4850" /><Relationship Type="http://schemas.openxmlformats.org/officeDocument/2006/relationships/slide" Target="/ppt/slides/slide8.xml" Id="R4d0209aa692a4933" /><Relationship Type="http://schemas.openxmlformats.org/officeDocument/2006/relationships/slide" Target="/ppt/slides/slide9.xml" Id="Rebf57c716646454a" /><Relationship Type="http://schemas.openxmlformats.org/officeDocument/2006/relationships/slide" Target="/ppt/slides/slide10.xml" Id="R4b46253f35034409" /><Relationship Type="http://schemas.openxmlformats.org/officeDocument/2006/relationships/slide" Target="/ppt/slides/slide11.xml" Id="R1c55676b2a6a4ad5" /><Relationship Type="http://schemas.openxmlformats.org/officeDocument/2006/relationships/slide" Target="/ppt/slides/slide12.xml" Id="R2644fbc381894b9c" /><Relationship Type="http://schemas.openxmlformats.org/officeDocument/2006/relationships/slide" Target="/ppt/slides/slide13.xml" Id="R7d9bf2594c6442a1" /><Relationship Type="http://schemas.openxmlformats.org/officeDocument/2006/relationships/slide" Target="/ppt/slides/slide14.xml" Id="R97e15e80af974655" /><Relationship Type="http://schemas.openxmlformats.org/officeDocument/2006/relationships/slide" Target="/ppt/slides/slide15.xml" Id="Rc4465cbb69194ae4" /><Relationship Type="http://schemas.openxmlformats.org/officeDocument/2006/relationships/slide" Target="/ppt/slides/slide16.xml" Id="R04f5343a0e404a32" /><Relationship Type="http://schemas.openxmlformats.org/officeDocument/2006/relationships/slide" Target="/ppt/slides/slide17.xml" Id="Rc44ed2f340014ed1" /><Relationship Type="http://schemas.openxmlformats.org/officeDocument/2006/relationships/slide" Target="/ppt/slides/slide18.xml" Id="R0fa4dceb86cd4ef4" /><Relationship Type="http://schemas.openxmlformats.org/officeDocument/2006/relationships/slide" Target="/ppt/slides/slide19.xml" Id="R764e954259a442dd" /><Relationship Type="http://schemas.openxmlformats.org/officeDocument/2006/relationships/slide" Target="/ppt/slides/slide20.xml" Id="R10b5a50b347646cf" /><Relationship Type="http://schemas.openxmlformats.org/officeDocument/2006/relationships/slide" Target="/ppt/slides/slide21.xml" Id="R3251876d597f4f2a" /><Relationship Type="http://schemas.openxmlformats.org/officeDocument/2006/relationships/slide" Target="/ppt/slides/slide22.xml" Id="R2c5ebc6f48ab40ae" /><Relationship Type="http://schemas.openxmlformats.org/officeDocument/2006/relationships/slide" Target="/ppt/slides/slide23.xml" Id="Rd252fec44ae54452" /><Relationship Type="http://schemas.openxmlformats.org/officeDocument/2006/relationships/slide" Target="/ppt/slides/slide24.xml" Id="R7b2bf127f0fa4036" /><Relationship Type="http://schemas.openxmlformats.org/officeDocument/2006/relationships/slide" Target="/ppt/slides/slide25.xml" Id="Ra224a4299b104a83" /><Relationship Type="http://schemas.openxmlformats.org/officeDocument/2006/relationships/slide" Target="/ppt/slides/slide26.xml" Id="R2222ba7d421144c5" /><Relationship Type="http://schemas.openxmlformats.org/officeDocument/2006/relationships/slide" Target="/ppt/slides/slide27.xml" Id="Rca07d0ae18cf421a" /><Relationship Type="http://schemas.openxmlformats.org/officeDocument/2006/relationships/slide" Target="/ppt/slides/slide28.xml" Id="Rededb3fbe94c4832" /><Relationship Type="http://schemas.openxmlformats.org/officeDocument/2006/relationships/slide" Target="/ppt/slides/slide29.xml" Id="Ra3081ddbec1c49d4" /><Relationship Type="http://schemas.openxmlformats.org/officeDocument/2006/relationships/slide" Target="/ppt/slides/slide30.xml" Id="Rcfe2fc25d8c84df6" /><Relationship Type="http://schemas.openxmlformats.org/officeDocument/2006/relationships/slide" Target="/ppt/slides/slide31.xml" Id="Rdcb796102d934ecb" /><Relationship Type="http://schemas.openxmlformats.org/officeDocument/2006/relationships/slide" Target="/ppt/slides/slide32.xml" Id="Rbad18fcd3f534a7e" /><Relationship Type="http://schemas.openxmlformats.org/officeDocument/2006/relationships/slide" Target="/ppt/slides/slide33.xml" Id="Rd94fd9900a3b4705" /><Relationship Type="http://schemas.openxmlformats.org/officeDocument/2006/relationships/slide" Target="/ppt/slides/slide34.xml" Id="R17fe6f4c38c44989" /><Relationship Type="http://schemas.openxmlformats.org/officeDocument/2006/relationships/slide" Target="/ppt/slides/slide35.xml" Id="R90874e7b29c94837" /><Relationship Type="http://schemas.openxmlformats.org/officeDocument/2006/relationships/slide" Target="/ppt/slides/slide36.xml" Id="Rbcca6c4a837a42ba" /><Relationship Type="http://schemas.openxmlformats.org/officeDocument/2006/relationships/slide" Target="/ppt/slides/slide37.xml" Id="R0e995b206e144dd5" /><Relationship Type="http://schemas.openxmlformats.org/officeDocument/2006/relationships/slide" Target="/ppt/slides/slide38.xml" Id="Rce20c9266b2e4983" /><Relationship Type="http://schemas.openxmlformats.org/officeDocument/2006/relationships/slide" Target="/ppt/slides/slide39.xml" Id="Rb40ae097332e45b0" /><Relationship Type="http://schemas.openxmlformats.org/officeDocument/2006/relationships/slide" Target="/ppt/slides/slide40.xml" Id="Rf2dd2132a9364ae1" /><Relationship Type="http://schemas.openxmlformats.org/officeDocument/2006/relationships/slide" Target="/ppt/slides/slide41.xml" Id="Rdba9a3b0ff9044b6" /><Relationship Type="http://schemas.openxmlformats.org/officeDocument/2006/relationships/slide" Target="/ppt/slides/slide42.xml" Id="R9846a4669dd142cc" /><Relationship Type="http://schemas.openxmlformats.org/officeDocument/2006/relationships/slide" Target="/ppt/slides/slide43.xml" Id="R2ef11f031fe94bfb" /><Relationship Type="http://schemas.openxmlformats.org/officeDocument/2006/relationships/slide" Target="/ppt/slides/slide44.xml" Id="R9a8d016799414a44" /><Relationship Type="http://schemas.openxmlformats.org/officeDocument/2006/relationships/slide" Target="/ppt/slides/slide45.xml" Id="Re03c6e9d75774f64" /><Relationship Type="http://schemas.openxmlformats.org/officeDocument/2006/relationships/slide" Target="/ppt/slides/slide46.xml" Id="R4373b629973e49c6" /><Relationship Type="http://schemas.openxmlformats.org/officeDocument/2006/relationships/slide" Target="/ppt/slides/slide47.xml" Id="Rbc58811fa6984522" /><Relationship Type="http://schemas.openxmlformats.org/officeDocument/2006/relationships/slide" Target="/ppt/slides/slide48.xml" Id="R4631c03c596b4357" /><Relationship Type="http://schemas.openxmlformats.org/officeDocument/2006/relationships/slide" Target="/ppt/slides/slide49.xml" Id="Rfd61bd90869b47bc" /><Relationship Type="http://schemas.openxmlformats.org/officeDocument/2006/relationships/slide" Target="/ppt/slides/slide50.xml" Id="Rbb0721a9a9fa44f3" /><Relationship Type="http://schemas.openxmlformats.org/officeDocument/2006/relationships/slide" Target="/ppt/slides/slide51.xml" Id="R7543962467f44adb" /><Relationship Type="http://schemas.openxmlformats.org/officeDocument/2006/relationships/slide" Target="/ppt/slides/slide52.xml" Id="R9a1206a4f8a74959" /><Relationship Type="http://schemas.openxmlformats.org/officeDocument/2006/relationships/slide" Target="/ppt/slides/slide53.xml" Id="Rc34f8302c9d145b3" /><Relationship Type="http://schemas.openxmlformats.org/officeDocument/2006/relationships/slide" Target="/ppt/slides/slide54.xml" Id="Re0c65207517f4fd8" /><Relationship Type="http://schemas.openxmlformats.org/officeDocument/2006/relationships/slide" Target="/ppt/slides/slide55.xml" Id="R52585a0ca0ee4242" /><Relationship Type="http://schemas.openxmlformats.org/officeDocument/2006/relationships/slide" Target="/ppt/slides/slide56.xml" Id="Rd1e618ade4264cd6" /><Relationship Type="http://schemas.openxmlformats.org/officeDocument/2006/relationships/slide" Target="/ppt/slides/slide57.xml" Id="R0ab01f774f324c79" /><Relationship Type="http://schemas.openxmlformats.org/officeDocument/2006/relationships/slide" Target="/ppt/slides/slide58.xml" Id="R0fd43c423df94f40" /><Relationship Type="http://schemas.openxmlformats.org/officeDocument/2006/relationships/slide" Target="/ppt/slides/slide59.xml" Id="R8c15bb7a406f4b3d" /><Relationship Type="http://schemas.openxmlformats.org/officeDocument/2006/relationships/slide" Target="/ppt/slides/slide60.xml" Id="R8b6dad9185df4638" /><Relationship Type="http://schemas.openxmlformats.org/officeDocument/2006/relationships/slide" Target="/ppt/slides/slide61.xml" Id="Rf19abd610cfe4cf6" /><Relationship Type="http://schemas.openxmlformats.org/officeDocument/2006/relationships/slide" Target="/ppt/slides/slide62.xml" Id="Re083685dcd234f48" /><Relationship Type="http://schemas.openxmlformats.org/officeDocument/2006/relationships/slide" Target="/ppt/slides/slide63.xml" Id="R1ba3e1f205914d79" /><Relationship Type="http://schemas.openxmlformats.org/officeDocument/2006/relationships/slide" Target="/ppt/slides/slide64.xml" Id="Rdab1d0443a2d443b" /><Relationship Type="http://schemas.openxmlformats.org/officeDocument/2006/relationships/slide" Target="/ppt/slides/slide65.xml" Id="R20b4674b50bf4c4b" /><Relationship Type="http://schemas.openxmlformats.org/officeDocument/2006/relationships/slide" Target="/ppt/slides/slide66.xml" Id="R9fee8a880c3a45c0" /><Relationship Type="http://schemas.openxmlformats.org/officeDocument/2006/relationships/slide" Target="/ppt/slides/slide67.xml" Id="R976b77824beb4cb9" /><Relationship Type="http://schemas.openxmlformats.org/officeDocument/2006/relationships/slide" Target="/ppt/slides/slide68.xml" Id="Rbe1ab5ccc8c44382" /><Relationship Type="http://schemas.openxmlformats.org/officeDocument/2006/relationships/slide" Target="/ppt/slides/slide69.xml" Id="R3bf44ca4816f406c" /><Relationship Type="http://schemas.openxmlformats.org/officeDocument/2006/relationships/slide" Target="/ppt/slides/slide70.xml" Id="R1dfa4aa620bc43c3" /><Relationship Type="http://schemas.openxmlformats.org/officeDocument/2006/relationships/slide" Target="/ppt/slides/slide71.xml" Id="R1a6aad10640d487d" /><Relationship Type="http://schemas.openxmlformats.org/officeDocument/2006/relationships/slide" Target="/ppt/slides/slide72.xml" Id="R7e29b6ee1bb04516" /><Relationship Type="http://schemas.openxmlformats.org/officeDocument/2006/relationships/slide" Target="/ppt/slides/slide73.xml" Id="R72de2ca82afb468d" /><Relationship Type="http://schemas.openxmlformats.org/officeDocument/2006/relationships/slide" Target="/ppt/slides/slide74.xml" Id="R0a7f3e85d6fc4e79" /><Relationship Type="http://schemas.openxmlformats.org/officeDocument/2006/relationships/slide" Target="/ppt/slides/slide75.xml" Id="Ra30043be59dd4a27" /><Relationship Type="http://schemas.openxmlformats.org/officeDocument/2006/relationships/slide" Target="/ppt/slides/slide76.xml" Id="R282a2d50ef824c17" /><Relationship Type="http://schemas.openxmlformats.org/officeDocument/2006/relationships/slide" Target="/ppt/slides/slide77.xml" Id="R436585fa58b841dc" /><Relationship Type="http://schemas.openxmlformats.org/officeDocument/2006/relationships/slide" Target="/ppt/slides/slide78.xml" Id="R5bc31cf2202b46a2" /><Relationship Type="http://schemas.openxmlformats.org/officeDocument/2006/relationships/slide" Target="/ppt/slides/slide79.xml" Id="Raf825bd447a74399" /><Relationship Type="http://schemas.openxmlformats.org/officeDocument/2006/relationships/slide" Target="/ppt/slides/slide80.xml" Id="R611941b919124c3e" /><Relationship Type="http://schemas.openxmlformats.org/officeDocument/2006/relationships/slide" Target="/ppt/slides/slide81.xml" Id="R955edfaa85044bc4" /><Relationship Type="http://schemas.openxmlformats.org/officeDocument/2006/relationships/slide" Target="/ppt/slides/slide82.xml" Id="R49bbb2e2c66449db" /><Relationship Type="http://schemas.openxmlformats.org/officeDocument/2006/relationships/slide" Target="/ppt/slides/slide83.xml" Id="R384a4883dd284a44" /><Relationship Type="http://schemas.openxmlformats.org/officeDocument/2006/relationships/slide" Target="/ppt/slides/slide84.xml" Id="R3cc1ed9bec9a4e9e" /><Relationship Type="http://schemas.openxmlformats.org/officeDocument/2006/relationships/slide" Target="/ppt/slides/slide85.xml" Id="R83a23c8211ea4dd6" /><Relationship Type="http://schemas.openxmlformats.org/officeDocument/2006/relationships/slide" Target="/ppt/slides/slide86.xml" Id="R8c3197b71ae443eb" /><Relationship Type="http://schemas.openxmlformats.org/officeDocument/2006/relationships/slide" Target="/ppt/slides/slide87.xml" Id="R94290213c8ff4818" /><Relationship Type="http://schemas.openxmlformats.org/officeDocument/2006/relationships/slide" Target="/ppt/slides/slide88.xml" Id="Rce1ad17278204dfa" /><Relationship Type="http://schemas.openxmlformats.org/officeDocument/2006/relationships/slide" Target="/ppt/slides/slide89.xml" Id="R02403edfc38f4a96" /><Relationship Type="http://schemas.openxmlformats.org/officeDocument/2006/relationships/slide" Target="/ppt/slides/slide90.xml" Id="R2e8c95adcb5f4327" /><Relationship Type="http://schemas.openxmlformats.org/officeDocument/2006/relationships/slide" Target="/ppt/slides/slide91.xml" Id="R214596d187e34a0d" /><Relationship Type="http://schemas.openxmlformats.org/officeDocument/2006/relationships/slide" Target="/ppt/slides/slide92.xml" Id="R5b31329bff6c4e0b" /><Relationship Type="http://schemas.openxmlformats.org/officeDocument/2006/relationships/slide" Target="/ppt/slides/slide93.xml" Id="R4b731c1c493849bf" /><Relationship Type="http://schemas.openxmlformats.org/officeDocument/2006/relationships/slide" Target="/ppt/slides/slide94.xml" Id="Ra660edc3ccb04ce7" /><Relationship Type="http://schemas.openxmlformats.org/officeDocument/2006/relationships/slide" Target="/ppt/slides/slide95.xml" Id="R3e40d905609c4197" /><Relationship Type="http://schemas.openxmlformats.org/officeDocument/2006/relationships/slide" Target="/ppt/slides/slide96.xml" Id="R6258b74e300c445c" /><Relationship Type="http://schemas.openxmlformats.org/officeDocument/2006/relationships/slide" Target="/ppt/slides/slide97.xml" Id="R2acd725212524f9e" /><Relationship Type="http://schemas.openxmlformats.org/officeDocument/2006/relationships/slide" Target="/ppt/slides/slide98.xml" Id="R64a0c0e93cb14ffa" /><Relationship Type="http://schemas.openxmlformats.org/officeDocument/2006/relationships/slide" Target="/ppt/slides/slide99.xml" Id="Rc438f7e2920249fc" /><Relationship Type="http://schemas.openxmlformats.org/officeDocument/2006/relationships/slide" Target="/ppt/slides/slide100.xml" Id="Rc5b5612ebbf34d35" /><Relationship Type="http://schemas.openxmlformats.org/officeDocument/2006/relationships/slide" Target="/ppt/slides/slide101.xml" Id="R51ca90ae38074c1f" /><Relationship Type="http://schemas.openxmlformats.org/officeDocument/2006/relationships/slide" Target="/ppt/slides/slide102.xml" Id="Re0f1b49cdd284df8" /><Relationship Type="http://schemas.openxmlformats.org/officeDocument/2006/relationships/slide" Target="/ppt/slides/slide103.xml" Id="R8de9813e92fa4aaf" /><Relationship Type="http://schemas.openxmlformats.org/officeDocument/2006/relationships/slide" Target="/ppt/slides/slide104.xml" Id="Rfad1b72620224c34" /><Relationship Type="http://schemas.openxmlformats.org/officeDocument/2006/relationships/slide" Target="/ppt/slides/slide105.xml" Id="R13aa121830f842d8" /><Relationship Type="http://schemas.openxmlformats.org/officeDocument/2006/relationships/slide" Target="/ppt/slides/slide106.xml" Id="R55394e7afb87429e" /><Relationship Type="http://schemas.openxmlformats.org/officeDocument/2006/relationships/slide" Target="/ppt/slides/slide107.xml" Id="Rda8d741c00ac48a9" /><Relationship Type="http://schemas.openxmlformats.org/officeDocument/2006/relationships/slide" Target="/ppt/slides/slide108.xml" Id="Ra6494598cec94ca4" /><Relationship Type="http://schemas.openxmlformats.org/officeDocument/2006/relationships/slide" Target="/ppt/slides/slide109.xml" Id="R88625c63e000492a" /><Relationship Type="http://schemas.openxmlformats.org/officeDocument/2006/relationships/slide" Target="/ppt/slides/slide110.xml" Id="Rd0fc14e6d0cd426e" /><Relationship Type="http://schemas.openxmlformats.org/officeDocument/2006/relationships/slide" Target="/ppt/slides/slide111.xml" Id="R7c9dda4babf445d9" /><Relationship Type="http://schemas.openxmlformats.org/officeDocument/2006/relationships/slide" Target="/ppt/slides/slide112.xml" Id="R1e4eb2357e424c2f" /><Relationship Type="http://schemas.openxmlformats.org/officeDocument/2006/relationships/slide" Target="/ppt/slides/slide113.xml" Id="Redb712b318ca4ff0" /><Relationship Type="http://schemas.openxmlformats.org/officeDocument/2006/relationships/slide" Target="/ppt/slides/slide114.xml" Id="Rd4ae02a0556b44e6" /><Relationship Type="http://schemas.openxmlformats.org/officeDocument/2006/relationships/slide" Target="/ppt/slides/slide115.xml" Id="Rc283c669144d4dcb" /><Relationship Type="http://schemas.openxmlformats.org/officeDocument/2006/relationships/slide" Target="/ppt/slides/slide116.xml" Id="Rb14ab49bee4a4fd7" /><Relationship Type="http://schemas.openxmlformats.org/officeDocument/2006/relationships/slide" Target="/ppt/slides/slide117.xml" Id="Rc005826003bf48ad" /><Relationship Type="http://schemas.openxmlformats.org/officeDocument/2006/relationships/slide" Target="/ppt/slides/slide118.xml" Id="Rfccf97cb40764356" /><Relationship Type="http://schemas.openxmlformats.org/officeDocument/2006/relationships/slide" Target="/ppt/slides/slide119.xml" Id="Rdd79c8ba0d7e41ec" /><Relationship Type="http://schemas.openxmlformats.org/officeDocument/2006/relationships/slide" Target="/ppt/slides/slide120.xml" Id="R63d9aa71d8ff4610" /><Relationship Type="http://schemas.openxmlformats.org/officeDocument/2006/relationships/slide" Target="/ppt/slides/slide121.xml" Id="Ra60e1a7c46784835" /><Relationship Type="http://schemas.openxmlformats.org/officeDocument/2006/relationships/slide" Target="/ppt/slides/slide122.xml" Id="R53cf43dc5d934507" /><Relationship Type="http://schemas.openxmlformats.org/officeDocument/2006/relationships/slide" Target="/ppt/slides/slide123.xml" Id="Ra1e1dc538d364b84" /><Relationship Type="http://schemas.openxmlformats.org/officeDocument/2006/relationships/slide" Target="/ppt/slides/slide124.xml" Id="Rb8e9e8fa86e5447e" /><Relationship Type="http://schemas.openxmlformats.org/officeDocument/2006/relationships/slide" Target="/ppt/slides/slide125.xml" Id="Reb9f7206cbcc4993" /><Relationship Type="http://schemas.openxmlformats.org/officeDocument/2006/relationships/slide" Target="/ppt/slides/slide126.xml" Id="R0cb16b3972ea4ced" /><Relationship Type="http://schemas.openxmlformats.org/officeDocument/2006/relationships/slide" Target="/ppt/slides/slide127.xml" Id="Rb2233a7d571f4ba6" /><Relationship Type="http://schemas.openxmlformats.org/officeDocument/2006/relationships/slide" Target="/ppt/slides/slide128.xml" Id="Red65924bb5cd4769" /><Relationship Type="http://schemas.openxmlformats.org/officeDocument/2006/relationships/slide" Target="/ppt/slides/slide129.xml" Id="R474d9f21d58d4744" /><Relationship Type="http://schemas.openxmlformats.org/officeDocument/2006/relationships/slide" Target="/ppt/slides/slide130.xml" Id="R64eb914ae7bf4020" /><Relationship Type="http://schemas.openxmlformats.org/officeDocument/2006/relationships/slide" Target="/ppt/slides/slide131.xml" Id="Ra94fd7cc8e28487a" /><Relationship Type="http://schemas.openxmlformats.org/officeDocument/2006/relationships/slide" Target="/ppt/slides/slide132.xml" Id="R5954ff5a3a294e14" /><Relationship Type="http://schemas.openxmlformats.org/officeDocument/2006/relationships/slide" Target="/ppt/slides/slide133.xml" Id="Rf96d4bac243847bf" /><Relationship Type="http://schemas.openxmlformats.org/officeDocument/2006/relationships/slide" Target="/ppt/slides/slide134.xml" Id="Rce6fa0fd326d4389" /><Relationship Type="http://schemas.openxmlformats.org/officeDocument/2006/relationships/slide" Target="/ppt/slides/slide135.xml" Id="Rc3c358d22d4d4406" /><Relationship Type="http://schemas.openxmlformats.org/officeDocument/2006/relationships/slide" Target="/ppt/slides/slide136.xml" Id="Rd01fa66233734e17" /><Relationship Type="http://schemas.openxmlformats.org/officeDocument/2006/relationships/slide" Target="/ppt/slides/slide137.xml" Id="R3a288fa73cd64d6b" /><Relationship Type="http://schemas.openxmlformats.org/officeDocument/2006/relationships/slide" Target="/ppt/slides/slide138.xml" Id="Rd461cd991e5a468d" /><Relationship Type="http://schemas.openxmlformats.org/officeDocument/2006/relationships/slide" Target="/ppt/slides/slide139.xml" Id="R1068761560224ce8" /><Relationship Type="http://schemas.openxmlformats.org/officeDocument/2006/relationships/slide" Target="/ppt/slides/slide140.xml" Id="R6365c0ba8cfc45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2928b213644f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e5075dea2a43c4" /><Relationship Type="http://schemas.openxmlformats.org/officeDocument/2006/relationships/notesMaster" Target="/ppt/notesMasters/notesMaster1.xml" Id="R19769187f60544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b37e4454c849ba" /><Relationship Type="http://schemas.openxmlformats.org/officeDocument/2006/relationships/notesMaster" Target="/ppt/notesMasters/notesMaster1.xml" Id="R2da78f0ff56945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fe757d78b342b9" /><Relationship Type="http://schemas.openxmlformats.org/officeDocument/2006/relationships/notesMaster" Target="/ppt/notesMasters/notesMaster1.xml" Id="R786068b2772546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cf1e54acb94191" /><Relationship Type="http://schemas.openxmlformats.org/officeDocument/2006/relationships/notesMaster" Target="/ppt/notesMasters/notesMaster1.xml" Id="R4ed5f9f2536549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efe0add92b40a1" /><Relationship Type="http://schemas.openxmlformats.org/officeDocument/2006/relationships/notesMaster" Target="/ppt/notesMasters/notesMaster1.xml" Id="R64734715012342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c37a1fd81f4b4a" /><Relationship Type="http://schemas.openxmlformats.org/officeDocument/2006/relationships/notesMaster" Target="/ppt/notesMasters/notesMaster1.xml" Id="R142e97243ce74d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95878763194196" /><Relationship Type="http://schemas.openxmlformats.org/officeDocument/2006/relationships/notesMaster" Target="/ppt/notesMasters/notesMaster1.xml" Id="R98a2b12bb3f64b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20c70244ae45d7" /><Relationship Type="http://schemas.openxmlformats.org/officeDocument/2006/relationships/notesMaster" Target="/ppt/notesMasters/notesMaster1.xml" Id="R2e5fcdb4be064b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6d9ae8bbca4901" /><Relationship Type="http://schemas.openxmlformats.org/officeDocument/2006/relationships/notesMaster" Target="/ppt/notesMasters/notesMaster1.xml" Id="Raaebb300e1114d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2253e088db412d" /><Relationship Type="http://schemas.openxmlformats.org/officeDocument/2006/relationships/notesMaster" Target="/ppt/notesMasters/notesMaster1.xml" Id="R887cf4b9fe7744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1474a604da4c0f" /><Relationship Type="http://schemas.openxmlformats.org/officeDocument/2006/relationships/notesMaster" Target="/ppt/notesMasters/notesMaster1.xml" Id="R28b07b9a316044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39dc27d9104b0e" /><Relationship Type="http://schemas.openxmlformats.org/officeDocument/2006/relationships/notesMaster" Target="/ppt/notesMasters/notesMaster1.xml" Id="R1abf282cd17042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b34dec7ec146e6" /><Relationship Type="http://schemas.openxmlformats.org/officeDocument/2006/relationships/notesMaster" Target="/ppt/notesMasters/notesMaster1.xml" Id="R6edb2b2783d643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2b7ca870854566" /><Relationship Type="http://schemas.openxmlformats.org/officeDocument/2006/relationships/notesMaster" Target="/ppt/notesMasters/notesMaster1.xml" Id="Rb95177a8b67645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0aa581367043b5" /><Relationship Type="http://schemas.openxmlformats.org/officeDocument/2006/relationships/notesMaster" Target="/ppt/notesMasters/notesMaster1.xml" Id="R5a4e090496ae4c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b3f42717fc4930" /><Relationship Type="http://schemas.openxmlformats.org/officeDocument/2006/relationships/notesMaster" Target="/ppt/notesMasters/notesMaster1.xml" Id="Rd0f61d08ca9541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3f7b17fd7c4fea" /><Relationship Type="http://schemas.openxmlformats.org/officeDocument/2006/relationships/notesMaster" Target="/ppt/notesMasters/notesMaster1.xml" Id="R33cec4591b0e4a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6af85ba0194151" /><Relationship Type="http://schemas.openxmlformats.org/officeDocument/2006/relationships/notesMaster" Target="/ppt/notesMasters/notesMaster1.xml" Id="R117944efab294f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00571eb46a44a41" /><Relationship Type="http://schemas.openxmlformats.org/officeDocument/2006/relationships/notesMaster" Target="/ppt/notesMasters/notesMaster1.xml" Id="Rde2c1493766645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7812ccfef314076" /><Relationship Type="http://schemas.openxmlformats.org/officeDocument/2006/relationships/notesMaster" Target="/ppt/notesMasters/notesMaster1.xml" Id="R2538b36002e9421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b4b0142a2554f4a" /><Relationship Type="http://schemas.openxmlformats.org/officeDocument/2006/relationships/notesMaster" Target="/ppt/notesMasters/notesMaster1.xml" Id="R1bd6d0f780c741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d71af97239740f3" /><Relationship Type="http://schemas.openxmlformats.org/officeDocument/2006/relationships/notesMaster" Target="/ppt/notesMasters/notesMaster1.xml" Id="R6c4308caa6a04f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67f7682d02f4305" /><Relationship Type="http://schemas.openxmlformats.org/officeDocument/2006/relationships/notesMaster" Target="/ppt/notesMasters/notesMaster1.xml" Id="R29ca9cc44dba4b9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76d8c6d4fbc4471" /><Relationship Type="http://schemas.openxmlformats.org/officeDocument/2006/relationships/notesMaster" Target="/ppt/notesMasters/notesMaster1.xml" Id="Rd145368f324b4f0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d690bd394724b55" /><Relationship Type="http://schemas.openxmlformats.org/officeDocument/2006/relationships/notesMaster" Target="/ppt/notesMasters/notesMaster1.xml" Id="R4ceeebcf6a134a8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3375e3a936c4404" /><Relationship Type="http://schemas.openxmlformats.org/officeDocument/2006/relationships/notesMaster" Target="/ppt/notesMasters/notesMaster1.xml" Id="Rff6be35c7a574f2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187b7c4365f4b14" /><Relationship Type="http://schemas.openxmlformats.org/officeDocument/2006/relationships/notesMaster" Target="/ppt/notesMasters/notesMaster1.xml" Id="R12dfa4e3a2f7431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8e475372ca9415f" /><Relationship Type="http://schemas.openxmlformats.org/officeDocument/2006/relationships/notesMaster" Target="/ppt/notesMasters/notesMaster1.xml" Id="Rd039b6c035434b9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85366fb11f7494c" /><Relationship Type="http://schemas.openxmlformats.org/officeDocument/2006/relationships/notesMaster" Target="/ppt/notesMasters/notesMaster1.xml" Id="Rd34ec55c56274ee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6177fc680744837" /><Relationship Type="http://schemas.openxmlformats.org/officeDocument/2006/relationships/notesMaster" Target="/ppt/notesMasters/notesMaster1.xml" Id="R7a916869024e416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0005a8a249846e8" /><Relationship Type="http://schemas.openxmlformats.org/officeDocument/2006/relationships/notesMaster" Target="/ppt/notesMasters/notesMaster1.xml" Id="R6ad4e21e661b4ac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a523d9e2e404c46" /><Relationship Type="http://schemas.openxmlformats.org/officeDocument/2006/relationships/notesMaster" Target="/ppt/notesMasters/notesMaster1.xml" Id="Rbd807d828de54bd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cfb1ba063834bae" /><Relationship Type="http://schemas.openxmlformats.org/officeDocument/2006/relationships/notesMaster" Target="/ppt/notesMasters/notesMaster1.xml" Id="R658245ef5b2349d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6736b02c7f64d17" /><Relationship Type="http://schemas.openxmlformats.org/officeDocument/2006/relationships/notesMaster" Target="/ppt/notesMasters/notesMaster1.xml" Id="R33896b66f271407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253fe7b5ab345b5" /><Relationship Type="http://schemas.openxmlformats.org/officeDocument/2006/relationships/notesMaster" Target="/ppt/notesMasters/notesMaster1.xml" Id="R16d95b3577fd43b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39fb1ed8bef4016" /><Relationship Type="http://schemas.openxmlformats.org/officeDocument/2006/relationships/notesMaster" Target="/ppt/notesMasters/notesMaster1.xml" Id="R3e07236b39fd48a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46f7bca6002431b" /><Relationship Type="http://schemas.openxmlformats.org/officeDocument/2006/relationships/notesMaster" Target="/ppt/notesMasters/notesMaster1.xml" Id="Rd7a62d8037b94f5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53c5c22be1a4bce" /><Relationship Type="http://schemas.openxmlformats.org/officeDocument/2006/relationships/notesMaster" Target="/ppt/notesMasters/notesMaster1.xml" Id="Rd62bbfa4f05949b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954bd4a445b47b5" /><Relationship Type="http://schemas.openxmlformats.org/officeDocument/2006/relationships/notesMaster" Target="/ppt/notesMasters/notesMaster1.xml" Id="R86cccebdbfa44ad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2b598db9f9f46f3" /><Relationship Type="http://schemas.openxmlformats.org/officeDocument/2006/relationships/notesMaster" Target="/ppt/notesMasters/notesMaster1.xml" Id="R4db1f653faa0400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676b5cdd9034f8b" /><Relationship Type="http://schemas.openxmlformats.org/officeDocument/2006/relationships/notesMaster" Target="/ppt/notesMasters/notesMaster1.xml" Id="Rd12f091810a8481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5a63e2743bb4027" /><Relationship Type="http://schemas.openxmlformats.org/officeDocument/2006/relationships/notesMaster" Target="/ppt/notesMasters/notesMaster1.xml" Id="R1f728ee5cb15489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9c866837cbd4602" /><Relationship Type="http://schemas.openxmlformats.org/officeDocument/2006/relationships/notesMaster" Target="/ppt/notesMasters/notesMaster1.xml" Id="Re9d2a9a5e0f248b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ec5859a6ada4190" /><Relationship Type="http://schemas.openxmlformats.org/officeDocument/2006/relationships/notesMaster" Target="/ppt/notesMasters/notesMaster1.xml" Id="R31abcef20793446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d59e0606fa2488b" /><Relationship Type="http://schemas.openxmlformats.org/officeDocument/2006/relationships/notesMaster" Target="/ppt/notesMasters/notesMaster1.xml" Id="R70ef382f3cb14aa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ea67c6b96e04e16" /><Relationship Type="http://schemas.openxmlformats.org/officeDocument/2006/relationships/notesMaster" Target="/ppt/notesMasters/notesMaster1.xml" Id="R40a86266bab2445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30e178da2be40bb" /><Relationship Type="http://schemas.openxmlformats.org/officeDocument/2006/relationships/notesMaster" Target="/ppt/notesMasters/notesMaster1.xml" Id="Rceb7e390d30f4fc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b517a1a8c9244c2" /><Relationship Type="http://schemas.openxmlformats.org/officeDocument/2006/relationships/notesMaster" Target="/ppt/notesMasters/notesMaster1.xml" Id="R34581297e44a4b9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f699a01ac1543b3" /><Relationship Type="http://schemas.openxmlformats.org/officeDocument/2006/relationships/notesMaster" Target="/ppt/notesMasters/notesMaster1.xml" Id="R33ebb6f1bda24b6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754348f00424457" /><Relationship Type="http://schemas.openxmlformats.org/officeDocument/2006/relationships/notesMaster" Target="/ppt/notesMasters/notesMaster1.xml" Id="R4bbff036c7164c9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b75de80e3774eba" /><Relationship Type="http://schemas.openxmlformats.org/officeDocument/2006/relationships/notesMaster" Target="/ppt/notesMasters/notesMaster1.xml" Id="R270825e24db6472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ddb6aa7d65748b4" /><Relationship Type="http://schemas.openxmlformats.org/officeDocument/2006/relationships/notesMaster" Target="/ppt/notesMasters/notesMaster1.xml" Id="R9a7d85248aad414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4f2dac018a3416b" /><Relationship Type="http://schemas.openxmlformats.org/officeDocument/2006/relationships/notesMaster" Target="/ppt/notesMasters/notesMaster1.xml" Id="R704f61d97f9c44b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e57baaaf495447c" /><Relationship Type="http://schemas.openxmlformats.org/officeDocument/2006/relationships/notesMaster" Target="/ppt/notesMasters/notesMaster1.xml" Id="R91bc2ee31efa46d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b56768e27ed42f8" /><Relationship Type="http://schemas.openxmlformats.org/officeDocument/2006/relationships/notesMaster" Target="/ppt/notesMasters/notesMaster1.xml" Id="R17de6a075327413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3b0d3a4ee684e18" /><Relationship Type="http://schemas.openxmlformats.org/officeDocument/2006/relationships/notesMaster" Target="/ppt/notesMasters/notesMaster1.xml" Id="R8659bb01faee460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eb9a03301cc4ada" /><Relationship Type="http://schemas.openxmlformats.org/officeDocument/2006/relationships/notesMaster" Target="/ppt/notesMasters/notesMaster1.xml" Id="R60660ccab55f491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1cdee7d9a9b4cd3" /><Relationship Type="http://schemas.openxmlformats.org/officeDocument/2006/relationships/notesMaster" Target="/ppt/notesMasters/notesMaster1.xml" Id="R60bbb47a3d544db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4ff2ab78b1b4047" /><Relationship Type="http://schemas.openxmlformats.org/officeDocument/2006/relationships/notesMaster" Target="/ppt/notesMasters/notesMaster1.xml" Id="Rf82c9bce71d948b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e2bfc188d424a99" /><Relationship Type="http://schemas.openxmlformats.org/officeDocument/2006/relationships/notesMaster" Target="/ppt/notesMasters/notesMaster1.xml" Id="R500da8f77b8c41a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30db18bd4434f9a" /><Relationship Type="http://schemas.openxmlformats.org/officeDocument/2006/relationships/notesMaster" Target="/ppt/notesMasters/notesMaster1.xml" Id="Rd9d0684a24ac424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5e3b4838b06546dd" /><Relationship Type="http://schemas.openxmlformats.org/officeDocument/2006/relationships/notesMaster" Target="/ppt/notesMasters/notesMaster1.xml" Id="R76219e52d8974fa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d689f072dfc499b" /><Relationship Type="http://schemas.openxmlformats.org/officeDocument/2006/relationships/notesMaster" Target="/ppt/notesMasters/notesMaster1.xml" Id="R65978ffadb314e6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47f5b98fa6546e7" /><Relationship Type="http://schemas.openxmlformats.org/officeDocument/2006/relationships/notesMaster" Target="/ppt/notesMasters/notesMaster1.xml" Id="Rd7ee6a9c3f8a4ed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5ec76cfcbfb24d45" /><Relationship Type="http://schemas.openxmlformats.org/officeDocument/2006/relationships/notesMaster" Target="/ppt/notesMasters/notesMaster1.xml" Id="R629cfe378d834b54"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8280fd40a8a24720" /><Relationship Type="http://schemas.openxmlformats.org/officeDocument/2006/relationships/notesMaster" Target="/ppt/notesMasters/notesMaster1.xml" Id="Re94d0cb1f3fc4de3"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f0d9767bb3854b97" /><Relationship Type="http://schemas.openxmlformats.org/officeDocument/2006/relationships/notesMaster" Target="/ppt/notesMasters/notesMaster1.xml" Id="R265f05f1e6e9407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d11200bfdee43ad" /><Relationship Type="http://schemas.openxmlformats.org/officeDocument/2006/relationships/notesMaster" Target="/ppt/notesMasters/notesMaster1.xml" Id="R388109a27f16434f"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d9f98035342b4e90" /><Relationship Type="http://schemas.openxmlformats.org/officeDocument/2006/relationships/notesMaster" Target="/ppt/notesMasters/notesMaster1.xml" Id="R8e5b0aef7719406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0ce35dd347a84abe" /><Relationship Type="http://schemas.openxmlformats.org/officeDocument/2006/relationships/notesMaster" Target="/ppt/notesMasters/notesMaster1.xml" Id="R9a6c31d145284ab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e3b5647cbb4c4e37" /><Relationship Type="http://schemas.openxmlformats.org/officeDocument/2006/relationships/notesMaster" Target="/ppt/notesMasters/notesMaster1.xml" Id="R9f5bf44a36f4486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223eb54a2b674765" /><Relationship Type="http://schemas.openxmlformats.org/officeDocument/2006/relationships/notesMaster" Target="/ppt/notesMasters/notesMaster1.xml" Id="R2310bdd65aaa4b5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f67d86120886438d" /><Relationship Type="http://schemas.openxmlformats.org/officeDocument/2006/relationships/notesMaster" Target="/ppt/notesMasters/notesMaster1.xml" Id="Re5d54bdccaaf4086"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0c8f806f19764921" /><Relationship Type="http://schemas.openxmlformats.org/officeDocument/2006/relationships/notesMaster" Target="/ppt/notesMasters/notesMaster1.xml" Id="Rccb5af30d2e5467a"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7d40ec55352a4210" /><Relationship Type="http://schemas.openxmlformats.org/officeDocument/2006/relationships/notesMaster" Target="/ppt/notesMasters/notesMaster1.xml" Id="Rc10b361769364560"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2a6aec4d17c749ff" /><Relationship Type="http://schemas.openxmlformats.org/officeDocument/2006/relationships/notesMaster" Target="/ppt/notesMasters/notesMaster1.xml" Id="R7e880e6f124e43a7"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1980d89d0d98494a" /><Relationship Type="http://schemas.openxmlformats.org/officeDocument/2006/relationships/notesMaster" Target="/ppt/notesMasters/notesMaster1.xml" Id="Rc28ac12049e442a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72727d05da8b4c0c" /><Relationship Type="http://schemas.openxmlformats.org/officeDocument/2006/relationships/notesMaster" Target="/ppt/notesMasters/notesMaster1.xml" Id="R174289114bea494a"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448b42c3fad14073" /><Relationship Type="http://schemas.openxmlformats.org/officeDocument/2006/relationships/notesMaster" Target="/ppt/notesMasters/notesMaster1.xml" Id="Rd62f9cb85ac24c8b"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aa2973d33f784d63" /><Relationship Type="http://schemas.openxmlformats.org/officeDocument/2006/relationships/notesMaster" Target="/ppt/notesMasters/notesMaster1.xml" Id="R8b14c439996c48fa"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0762af9590634126" /><Relationship Type="http://schemas.openxmlformats.org/officeDocument/2006/relationships/notesMaster" Target="/ppt/notesMasters/notesMaster1.xml" Id="Re4f377a5870d4334"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0c567c417cc94255" /><Relationship Type="http://schemas.openxmlformats.org/officeDocument/2006/relationships/notesMaster" Target="/ppt/notesMasters/notesMaster1.xml" Id="R5e7183a23c044a34"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668e3eae22c84c59" /><Relationship Type="http://schemas.openxmlformats.org/officeDocument/2006/relationships/notesMaster" Target="/ppt/notesMasters/notesMaster1.xml" Id="Rf826e9bb770249bb"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92c69f2513ad4f17" /><Relationship Type="http://schemas.openxmlformats.org/officeDocument/2006/relationships/notesMaster" Target="/ppt/notesMasters/notesMaster1.xml" Id="R09a4fbaf1e864513"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92c3740da3e84505" /><Relationship Type="http://schemas.openxmlformats.org/officeDocument/2006/relationships/notesMaster" Target="/ppt/notesMasters/notesMaster1.xml" Id="R8be9f2a13b784ce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f2c0230839ac4393" /><Relationship Type="http://schemas.openxmlformats.org/officeDocument/2006/relationships/notesMaster" Target="/ppt/notesMasters/notesMaster1.xml" Id="Ra178d2089ae14779"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1b954e84baf4d41" /><Relationship Type="http://schemas.openxmlformats.org/officeDocument/2006/relationships/notesMaster" Target="/ppt/notesMasters/notesMaster1.xml" Id="Rb33b2b201fb24637"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4e23cc5f0ec542c9" /><Relationship Type="http://schemas.openxmlformats.org/officeDocument/2006/relationships/notesMaster" Target="/ppt/notesMasters/notesMaster1.xml" Id="Rb0f6270119764050"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46d9198d637b49b7" /><Relationship Type="http://schemas.openxmlformats.org/officeDocument/2006/relationships/notesMaster" Target="/ppt/notesMasters/notesMaster1.xml" Id="R3fec857a02d541ea"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ebf6c8df84eb4eba" /><Relationship Type="http://schemas.openxmlformats.org/officeDocument/2006/relationships/notesMaster" Target="/ppt/notesMasters/notesMaster1.xml" Id="R6d3f7ec7e4004410"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9175a231bd0c457c" /><Relationship Type="http://schemas.openxmlformats.org/officeDocument/2006/relationships/notesMaster" Target="/ppt/notesMasters/notesMaster1.xml" Id="Rb302002f0c7e4692"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1f6dabe8cfb043c2" /><Relationship Type="http://schemas.openxmlformats.org/officeDocument/2006/relationships/notesMaster" Target="/ppt/notesMasters/notesMaster1.xml" Id="R85790b89580549ae"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d6229762fea84d18" /><Relationship Type="http://schemas.openxmlformats.org/officeDocument/2006/relationships/notesMaster" Target="/ppt/notesMasters/notesMaster1.xml" Id="R52687b79731e4742"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f8260c9939d54937" /><Relationship Type="http://schemas.openxmlformats.org/officeDocument/2006/relationships/notesMaster" Target="/ppt/notesMasters/notesMaster1.xml" Id="R8422f7be5eb741d3"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340bc9d60a414bd3" /><Relationship Type="http://schemas.openxmlformats.org/officeDocument/2006/relationships/notesMaster" Target="/ppt/notesMasters/notesMaster1.xml" Id="R9fe1912e3d8e4388"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81ebd9c0f0ab4efa" /><Relationship Type="http://schemas.openxmlformats.org/officeDocument/2006/relationships/notesMaster" Target="/ppt/notesMasters/notesMaster1.xml" Id="R085fb63043394d48"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30a0fe494faf4f67" /><Relationship Type="http://schemas.openxmlformats.org/officeDocument/2006/relationships/notesMaster" Target="/ppt/notesMasters/notesMaster1.xml" Id="Reb992c54991844e2"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67b80c91f65c41de" /><Relationship Type="http://schemas.openxmlformats.org/officeDocument/2006/relationships/notesMaster" Target="/ppt/notesMasters/notesMaster1.xml" Id="Rbe4b95c673e84865"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ab92553b9b9c41ec" /><Relationship Type="http://schemas.openxmlformats.org/officeDocument/2006/relationships/notesMaster" Target="/ppt/notesMasters/notesMaster1.xml" Id="Re0cda504697d4efb"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83fdedd9586f47ff" /><Relationship Type="http://schemas.openxmlformats.org/officeDocument/2006/relationships/notesMaster" Target="/ppt/notesMasters/notesMaster1.xml" Id="R9b9a03bea0804fc9"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99c050dee0274fd4" /><Relationship Type="http://schemas.openxmlformats.org/officeDocument/2006/relationships/notesMaster" Target="/ppt/notesMasters/notesMaster1.xml" Id="Ra7f2b2c144b64b2f"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a29c7d7457b1414c" /><Relationship Type="http://schemas.openxmlformats.org/officeDocument/2006/relationships/notesMaster" Target="/ppt/notesMasters/notesMaster1.xml" Id="R2f804d6fb7d14448"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8443d7fe56be482b" /><Relationship Type="http://schemas.openxmlformats.org/officeDocument/2006/relationships/notesMaster" Target="/ppt/notesMasters/notesMaster1.xml" Id="Rb94784a6548840ff"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132df780a95240c6" /><Relationship Type="http://schemas.openxmlformats.org/officeDocument/2006/relationships/notesMaster" Target="/ppt/notesMasters/notesMaster1.xml" Id="R4879d4542062400e"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c44a4b83e77847c5" /><Relationship Type="http://schemas.openxmlformats.org/officeDocument/2006/relationships/notesMaster" Target="/ppt/notesMasters/notesMaster1.xml" Id="R6e57fd08b1f24a2b"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e482bad219c34949" /><Relationship Type="http://schemas.openxmlformats.org/officeDocument/2006/relationships/notesMaster" Target="/ppt/notesMasters/notesMaster1.xml" Id="Re0852fac175142b8"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3eac6838e2e748af" /><Relationship Type="http://schemas.openxmlformats.org/officeDocument/2006/relationships/notesMaster" Target="/ppt/notesMasters/notesMaster1.xml" Id="Rd262e15ffb2d4cc7"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30fc9b6b545445f6" /><Relationship Type="http://schemas.openxmlformats.org/officeDocument/2006/relationships/notesMaster" Target="/ppt/notesMasters/notesMaster1.xml" Id="Rcdd602b1f7964033"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5d44073364b1408d" /><Relationship Type="http://schemas.openxmlformats.org/officeDocument/2006/relationships/notesMaster" Target="/ppt/notesMasters/notesMaster1.xml" Id="R296ecb4c5c6a4b25"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06ac94e8cc5941d8" /><Relationship Type="http://schemas.openxmlformats.org/officeDocument/2006/relationships/notesMaster" Target="/ppt/notesMasters/notesMaster1.xml" Id="Rd8be3c0a353742ff"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57cc3b41854544e5" /><Relationship Type="http://schemas.openxmlformats.org/officeDocument/2006/relationships/notesMaster" Target="/ppt/notesMasters/notesMaster1.xml" Id="R878893ec3d3f4eec"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8a5177fe89e84dda" /><Relationship Type="http://schemas.openxmlformats.org/officeDocument/2006/relationships/notesMaster" Target="/ppt/notesMasters/notesMaster1.xml" Id="Ra19c020877d84ed3"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424c49c4022d49c4" /><Relationship Type="http://schemas.openxmlformats.org/officeDocument/2006/relationships/notesMaster" Target="/ppt/notesMasters/notesMaster1.xml" Id="R1ada9ea6bd0d450e"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ce4c20c145a74ea3" /><Relationship Type="http://schemas.openxmlformats.org/officeDocument/2006/relationships/notesMaster" Target="/ppt/notesMasters/notesMaster1.xml" Id="R0ea36d2dca534c70"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939a3cb040fa445e" /><Relationship Type="http://schemas.openxmlformats.org/officeDocument/2006/relationships/notesMaster" Target="/ppt/notesMasters/notesMaster1.xml" Id="R32e8e588b02644c5"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5a0c8cad863f4e9c" /><Relationship Type="http://schemas.openxmlformats.org/officeDocument/2006/relationships/notesMaster" Target="/ppt/notesMasters/notesMaster1.xml" Id="Ra45411a14e9540f5"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e51e72cf49fd46e8" /><Relationship Type="http://schemas.openxmlformats.org/officeDocument/2006/relationships/notesMaster" Target="/ppt/notesMasters/notesMaster1.xml" Id="R6fe9140e0b7e47f5"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3c55f867a9c24296" /><Relationship Type="http://schemas.openxmlformats.org/officeDocument/2006/relationships/notesMaster" Target="/ppt/notesMasters/notesMaster1.xml" Id="R5ad85fc2705d44b7"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e81527b4255f415e" /><Relationship Type="http://schemas.openxmlformats.org/officeDocument/2006/relationships/notesMaster" Target="/ppt/notesMasters/notesMaster1.xml" Id="Rd393d57c9cf240f7"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6cc7561ef1604834" /><Relationship Type="http://schemas.openxmlformats.org/officeDocument/2006/relationships/notesMaster" Target="/ppt/notesMasters/notesMaster1.xml" Id="R1ab4f616395d4f14"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65d3deebd0ca4493" /><Relationship Type="http://schemas.openxmlformats.org/officeDocument/2006/relationships/notesMaster" Target="/ppt/notesMasters/notesMaster1.xml" Id="R3c3271023d95483a"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7d8bb844d02b42d0" /><Relationship Type="http://schemas.openxmlformats.org/officeDocument/2006/relationships/notesMaster" Target="/ppt/notesMasters/notesMaster1.xml" Id="Re486caac7e4e48ec"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a0ce716e22eb4262" /><Relationship Type="http://schemas.openxmlformats.org/officeDocument/2006/relationships/notesMaster" Target="/ppt/notesMasters/notesMaster1.xml" Id="R95923530288e42c0"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c46e6bca88aa4237" /><Relationship Type="http://schemas.openxmlformats.org/officeDocument/2006/relationships/notesMaster" Target="/ppt/notesMasters/notesMaster1.xml" Id="R03385d1ed8274d3f"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d766584f55f7428d" /><Relationship Type="http://schemas.openxmlformats.org/officeDocument/2006/relationships/notesMaster" Target="/ppt/notesMasters/notesMaster1.xml" Id="R35989c85db2b4511"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6d55565061b54b9e" /><Relationship Type="http://schemas.openxmlformats.org/officeDocument/2006/relationships/notesMaster" Target="/ppt/notesMasters/notesMaster1.xml" Id="R275d6e3aa0c7459c"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86bcf8e5a3f545bc" /><Relationship Type="http://schemas.openxmlformats.org/officeDocument/2006/relationships/notesMaster" Target="/ppt/notesMasters/notesMaster1.xml" Id="R6eaba5f68ad24538"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4e64970614e24371" /><Relationship Type="http://schemas.openxmlformats.org/officeDocument/2006/relationships/notesMaster" Target="/ppt/notesMasters/notesMaster1.xml" Id="R19d9fefa82784954"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994090f33b9a46b4" /><Relationship Type="http://schemas.openxmlformats.org/officeDocument/2006/relationships/notesMaster" Target="/ppt/notesMasters/notesMaster1.xml" Id="R88f4dc8451134d41"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baa04eefce6c4d93" /><Relationship Type="http://schemas.openxmlformats.org/officeDocument/2006/relationships/notesMaster" Target="/ppt/notesMasters/notesMaster1.xml" Id="Rd196c364e3f64cd5"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1146387f00004ed6" /><Relationship Type="http://schemas.openxmlformats.org/officeDocument/2006/relationships/notesMaster" Target="/ppt/notesMasters/notesMaster1.xml" Id="Rf00c2468fa2f4bb2"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dd9e14d3b64e4199" /><Relationship Type="http://schemas.openxmlformats.org/officeDocument/2006/relationships/notesMaster" Target="/ppt/notesMasters/notesMaster1.xml" Id="R82cfe99b949f40f5"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1821c0595cac4936" /><Relationship Type="http://schemas.openxmlformats.org/officeDocument/2006/relationships/notesMaster" Target="/ppt/notesMasters/notesMaster1.xml" Id="R5e63bfdf5dc54a1a"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6140512e75f24cd4" /><Relationship Type="http://schemas.openxmlformats.org/officeDocument/2006/relationships/notesMaster" Target="/ppt/notesMasters/notesMaster1.xml" Id="Rd5bbf99222784865"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71827d40e8464319" /><Relationship Type="http://schemas.openxmlformats.org/officeDocument/2006/relationships/notesMaster" Target="/ppt/notesMasters/notesMaster1.xml" Id="Rb50ca0032504404a"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4132482f85a4434b" /><Relationship Type="http://schemas.openxmlformats.org/officeDocument/2006/relationships/notesMaster" Target="/ppt/notesMasters/notesMaster1.xml" Id="R188b1aacab884cf8"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67cf2a60a2fe4736" /><Relationship Type="http://schemas.openxmlformats.org/officeDocument/2006/relationships/notesMaster" Target="/ppt/notesMasters/notesMaster1.xml" Id="R054a090afb644a98"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6e758aef53784189" /><Relationship Type="http://schemas.openxmlformats.org/officeDocument/2006/relationships/notesMaster" Target="/ppt/notesMasters/notesMaster1.xml" Id="R5eaf2b85888e4084"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2515401158574b08" /><Relationship Type="http://schemas.openxmlformats.org/officeDocument/2006/relationships/notesMaster" Target="/ppt/notesMasters/notesMaster1.xml" Id="R87a54652e7a54ffb"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3f6236886dd8456f" /><Relationship Type="http://schemas.openxmlformats.org/officeDocument/2006/relationships/notesMaster" Target="/ppt/notesMasters/notesMaster1.xml" Id="Rc995fb42b24f4c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29.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39.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49.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59.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69.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79.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89.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99.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109.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119.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129.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131.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132.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133.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134.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135.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136.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137.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138.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139.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source: aula09tp546.pdf, page 140. English translation prepared from the original Portuguese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e085cf072049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1ade59aa934605" /><Relationship Type="http://schemas.openxmlformats.org/officeDocument/2006/relationships/slideLayout" Target="/ppt/slideLayouts/slideLayout1.xml" Id="Rabb1431c636845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b1431c636845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5918ed4e044b57" /><Relationship Type="http://schemas.openxmlformats.org/officeDocument/2006/relationships/image" Target="/ppt/media/image.jpeg" Id="R17de5ca3f8344d5e" /><Relationship Type="http://schemas.openxmlformats.org/officeDocument/2006/relationships/notesSlide" Target="/ppt/notesSlides/notesSlide1.xml" Id="R9ba359c6f58c44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d741cecc2c4216" /><Relationship Type="http://schemas.openxmlformats.org/officeDocument/2006/relationships/image" Target="/ppt/media/image2.jpeg" Id="R7ab558e50c0549f1" /><Relationship Type="http://schemas.openxmlformats.org/officeDocument/2006/relationships/notesSlide" Target="/ppt/notesSlides/notesSlide2.xml" Id="Rca6074286cf846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df109f8c69495c" /><Relationship Type="http://schemas.openxmlformats.org/officeDocument/2006/relationships/image" Target="/ppt/media/image3.jpeg" Id="R352892cc1dc745b2" /><Relationship Type="http://schemas.openxmlformats.org/officeDocument/2006/relationships/notesSlide" Target="/ppt/notesSlides/notesSlide3.xml" Id="R9844698bd10541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f9aef5dd134468" /><Relationship Type="http://schemas.openxmlformats.org/officeDocument/2006/relationships/image" Target="/ppt/media/image4.jpeg" Id="R7a65746a64624604" /><Relationship Type="http://schemas.openxmlformats.org/officeDocument/2006/relationships/notesSlide" Target="/ppt/notesSlides/notesSlide4.xml" Id="R1f448a57891245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cc98e14e1f499c" /><Relationship Type="http://schemas.openxmlformats.org/officeDocument/2006/relationships/image" Target="/ppt/media/image5.jpeg" Id="R8212bb7b19c74038" /><Relationship Type="http://schemas.openxmlformats.org/officeDocument/2006/relationships/notesSlide" Target="/ppt/notesSlides/notesSlide5.xml" Id="Re1a7ac04d15649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f58bbd01b94bc2" /><Relationship Type="http://schemas.openxmlformats.org/officeDocument/2006/relationships/image" Target="/ppt/media/image6.jpeg" Id="R1a387a5c26ce49d4" /><Relationship Type="http://schemas.openxmlformats.org/officeDocument/2006/relationships/notesSlide" Target="/ppt/notesSlides/notesSlide6.xml" Id="R83368ef687f44e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86568a4241467f" /><Relationship Type="http://schemas.openxmlformats.org/officeDocument/2006/relationships/image" Target="/ppt/media/image7.jpeg" Id="R37fcf637f35a4772" /><Relationship Type="http://schemas.openxmlformats.org/officeDocument/2006/relationships/notesSlide" Target="/ppt/notesSlides/notesSlide7.xml" Id="R67187a10438046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544e22b0864af2" /><Relationship Type="http://schemas.openxmlformats.org/officeDocument/2006/relationships/image" Target="/ppt/media/image8.jpeg" Id="R1672a2ec45fd4206" /><Relationship Type="http://schemas.openxmlformats.org/officeDocument/2006/relationships/notesSlide" Target="/ppt/notesSlides/notesSlide8.xml" Id="Rb5263be0314b48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40abff032e4831" /><Relationship Type="http://schemas.openxmlformats.org/officeDocument/2006/relationships/image" Target="/ppt/media/image9.jpeg" Id="Re4f00aae92df400e" /><Relationship Type="http://schemas.openxmlformats.org/officeDocument/2006/relationships/notesSlide" Target="/ppt/notesSlides/notesSlide9.xml" Id="R4d158c0fe6de42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343be263a84da7" /><Relationship Type="http://schemas.openxmlformats.org/officeDocument/2006/relationships/image" Target="/ppt/media/image10.jpeg" Id="R172eb18809ee4659" /><Relationship Type="http://schemas.openxmlformats.org/officeDocument/2006/relationships/notesSlide" Target="/ppt/notesSlides/notesSlide10.xml" Id="R2ab42781b25041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e58af65b914c1e" /><Relationship Type="http://schemas.openxmlformats.org/officeDocument/2006/relationships/image" Target="/ppt/media/image11.jpeg" Id="Rd063091bd96e4b41" /><Relationship Type="http://schemas.openxmlformats.org/officeDocument/2006/relationships/notesSlide" Target="/ppt/notesSlides/notesSlide11.xml" Id="Rede2c4fe40c44e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2f68dea4484e1d" /><Relationship Type="http://schemas.openxmlformats.org/officeDocument/2006/relationships/image" Target="/ppt/media/image12.jpeg" Id="Ref885f631b9b4225" /><Relationship Type="http://schemas.openxmlformats.org/officeDocument/2006/relationships/notesSlide" Target="/ppt/notesSlides/notesSlide12.xml" Id="R8957e056819b44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ff3eb75c784b49" /><Relationship Type="http://schemas.openxmlformats.org/officeDocument/2006/relationships/image" Target="/ppt/media/image13.jpeg" Id="R2a2750ae98d3487c" /><Relationship Type="http://schemas.openxmlformats.org/officeDocument/2006/relationships/notesSlide" Target="/ppt/notesSlides/notesSlide13.xml" Id="R3961a7bf3cf94a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e294b1e124747e5" /><Relationship Type="http://schemas.openxmlformats.org/officeDocument/2006/relationships/image" Target="/ppt/media/image14.jpeg" Id="R72546e49bafb4054" /><Relationship Type="http://schemas.openxmlformats.org/officeDocument/2006/relationships/notesSlide" Target="/ppt/notesSlides/notesSlide14.xml" Id="Rf9435b9f4d0043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0ba3fb124a4017" /><Relationship Type="http://schemas.openxmlformats.org/officeDocument/2006/relationships/image" Target="/ppt/media/image15.jpeg" Id="R100f7b6ffed7408c" /><Relationship Type="http://schemas.openxmlformats.org/officeDocument/2006/relationships/notesSlide" Target="/ppt/notesSlides/notesSlide15.xml" Id="R6e99bb667e6745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4e3f571a1ce4d93" /><Relationship Type="http://schemas.openxmlformats.org/officeDocument/2006/relationships/image" Target="/ppt/media/image16.jpeg" Id="R5d18efa2ba424432" /><Relationship Type="http://schemas.openxmlformats.org/officeDocument/2006/relationships/notesSlide" Target="/ppt/notesSlides/notesSlide16.xml" Id="R17c97165068d473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4959528b8ab406d" /><Relationship Type="http://schemas.openxmlformats.org/officeDocument/2006/relationships/image" Target="/ppt/media/image17.jpeg" Id="Rde4775a75dbb4894" /><Relationship Type="http://schemas.openxmlformats.org/officeDocument/2006/relationships/notesSlide" Target="/ppt/notesSlides/notesSlide17.xml" Id="Rc5d6ab52035d4b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0ac6a1388c1465b" /><Relationship Type="http://schemas.openxmlformats.org/officeDocument/2006/relationships/image" Target="/ppt/media/image18.jpeg" Id="R029576c1404d40ca" /><Relationship Type="http://schemas.openxmlformats.org/officeDocument/2006/relationships/notesSlide" Target="/ppt/notesSlides/notesSlide18.xml" Id="Reba54b3f31ae41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0b855beb6f44a67" /><Relationship Type="http://schemas.openxmlformats.org/officeDocument/2006/relationships/image" Target="/ppt/media/image19.jpeg" Id="R416b45574c804898" /><Relationship Type="http://schemas.openxmlformats.org/officeDocument/2006/relationships/notesSlide" Target="/ppt/notesSlides/notesSlide19.xml" Id="R68a01c41087549d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bfcf039c22b4a95" /><Relationship Type="http://schemas.openxmlformats.org/officeDocument/2006/relationships/image" Target="/ppt/media/image20.jpeg" Id="Rf466faf312e445a6" /><Relationship Type="http://schemas.openxmlformats.org/officeDocument/2006/relationships/notesSlide" Target="/ppt/notesSlides/notesSlide20.xml" Id="R97c65547a3904f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c0fce727f214a7e" /><Relationship Type="http://schemas.openxmlformats.org/officeDocument/2006/relationships/image" Target="/ppt/media/image21.jpeg" Id="R032b441c4d6d4afd" /><Relationship Type="http://schemas.openxmlformats.org/officeDocument/2006/relationships/notesSlide" Target="/ppt/notesSlides/notesSlide21.xml" Id="R69568bd6ce1247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3bf56b2752a43d9" /><Relationship Type="http://schemas.openxmlformats.org/officeDocument/2006/relationships/image" Target="/ppt/media/image22.jpeg" Id="R5adb43a52c044a2a" /><Relationship Type="http://schemas.openxmlformats.org/officeDocument/2006/relationships/notesSlide" Target="/ppt/notesSlides/notesSlide22.xml" Id="Rd8bd1d52fadf43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c92ee5c3a224a5c" /><Relationship Type="http://schemas.openxmlformats.org/officeDocument/2006/relationships/image" Target="/ppt/media/image23.jpeg" Id="R3a22f662e49b4a2d" /><Relationship Type="http://schemas.openxmlformats.org/officeDocument/2006/relationships/notesSlide" Target="/ppt/notesSlides/notesSlide23.xml" Id="R510dc4c47bec484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3cd3b2b4e574358" /><Relationship Type="http://schemas.openxmlformats.org/officeDocument/2006/relationships/image" Target="/ppt/media/image24.jpeg" Id="Rf33e7e51c81648ce" /><Relationship Type="http://schemas.openxmlformats.org/officeDocument/2006/relationships/notesSlide" Target="/ppt/notesSlides/notesSlide24.xml" Id="R9294f4d9ae9f402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e606fbffda84fdb" /><Relationship Type="http://schemas.openxmlformats.org/officeDocument/2006/relationships/image" Target="/ppt/media/image25.jpeg" Id="R3ae1c6e410994733" /><Relationship Type="http://schemas.openxmlformats.org/officeDocument/2006/relationships/notesSlide" Target="/ppt/notesSlides/notesSlide25.xml" Id="Ra03e7d73cd1f4af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6596331a5b8482d" /><Relationship Type="http://schemas.openxmlformats.org/officeDocument/2006/relationships/image" Target="/ppt/media/image26.jpeg" Id="R2b9d418791b54313" /><Relationship Type="http://schemas.openxmlformats.org/officeDocument/2006/relationships/notesSlide" Target="/ppt/notesSlides/notesSlide26.xml" Id="R438d669dc2a44a0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022b4b4266b48b3" /><Relationship Type="http://schemas.openxmlformats.org/officeDocument/2006/relationships/image" Target="/ppt/media/image27.jpeg" Id="R0e5fe018c22d4447" /><Relationship Type="http://schemas.openxmlformats.org/officeDocument/2006/relationships/notesSlide" Target="/ppt/notesSlides/notesSlide27.xml" Id="R9ac434d9ee02405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d177af04bb44789" /><Relationship Type="http://schemas.openxmlformats.org/officeDocument/2006/relationships/image" Target="/ppt/media/image28.jpeg" Id="Rbc1f8f7e36a54598" /><Relationship Type="http://schemas.openxmlformats.org/officeDocument/2006/relationships/notesSlide" Target="/ppt/notesSlides/notesSlide28.xml" Id="R618321b10ee2424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df91a5923ed4f8a" /><Relationship Type="http://schemas.openxmlformats.org/officeDocument/2006/relationships/image" Target="/ppt/media/image29.jpeg" Id="Raa918aae972c450a" /><Relationship Type="http://schemas.openxmlformats.org/officeDocument/2006/relationships/notesSlide" Target="/ppt/notesSlides/notesSlide29.xml" Id="R864ba43add5c4d3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8e9d4591cb64265" /><Relationship Type="http://schemas.openxmlformats.org/officeDocument/2006/relationships/image" Target="/ppt/media/image30.jpeg" Id="Rd690b3e4c2894720" /><Relationship Type="http://schemas.openxmlformats.org/officeDocument/2006/relationships/notesSlide" Target="/ppt/notesSlides/notesSlide30.xml" Id="R62ca29c30f164ee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a45eb1725624148" /><Relationship Type="http://schemas.openxmlformats.org/officeDocument/2006/relationships/image" Target="/ppt/media/image31.jpeg" Id="Rc6902fa1d56f4c77" /><Relationship Type="http://schemas.openxmlformats.org/officeDocument/2006/relationships/notesSlide" Target="/ppt/notesSlides/notesSlide31.xml" Id="Rea98b3c36fe2413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ecf562a40e345b2" /><Relationship Type="http://schemas.openxmlformats.org/officeDocument/2006/relationships/image" Target="/ppt/media/image32.jpeg" Id="R813d3bb7941a4f64" /><Relationship Type="http://schemas.openxmlformats.org/officeDocument/2006/relationships/notesSlide" Target="/ppt/notesSlides/notesSlide32.xml" Id="Rb500aa098543401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0d4e9e2d7cf4e77" /><Relationship Type="http://schemas.openxmlformats.org/officeDocument/2006/relationships/image" Target="/ppt/media/image33.jpeg" Id="R9ee93dbc8a674dd3" /><Relationship Type="http://schemas.openxmlformats.org/officeDocument/2006/relationships/notesSlide" Target="/ppt/notesSlides/notesSlide33.xml" Id="R5981b562a8714cb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81897b9e0e7490d" /><Relationship Type="http://schemas.openxmlformats.org/officeDocument/2006/relationships/image" Target="/ppt/media/image34.jpeg" Id="R50b8d767a34542fa" /><Relationship Type="http://schemas.openxmlformats.org/officeDocument/2006/relationships/notesSlide" Target="/ppt/notesSlides/notesSlide34.xml" Id="Ra86b35f1b3b94fd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893028b151d421e" /><Relationship Type="http://schemas.openxmlformats.org/officeDocument/2006/relationships/image" Target="/ppt/media/image35.jpeg" Id="R89c93050155d4196" /><Relationship Type="http://schemas.openxmlformats.org/officeDocument/2006/relationships/notesSlide" Target="/ppt/notesSlides/notesSlide35.xml" Id="R67b03d83bf16408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fd0d47df4a34bec" /><Relationship Type="http://schemas.openxmlformats.org/officeDocument/2006/relationships/image" Target="/ppt/media/image36.jpeg" Id="Rd519ca4bd2714b2a" /><Relationship Type="http://schemas.openxmlformats.org/officeDocument/2006/relationships/notesSlide" Target="/ppt/notesSlides/notesSlide36.xml" Id="R16bcb70565d3444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3b49dc53daa460e" /><Relationship Type="http://schemas.openxmlformats.org/officeDocument/2006/relationships/image" Target="/ppt/media/image37.jpeg" Id="R537efc8aacef4f2b" /><Relationship Type="http://schemas.openxmlformats.org/officeDocument/2006/relationships/notesSlide" Target="/ppt/notesSlides/notesSlide37.xml" Id="R139f0840dcb1462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bf256e577064231" /><Relationship Type="http://schemas.openxmlformats.org/officeDocument/2006/relationships/image" Target="/ppt/media/image38.jpeg" Id="R254c50eb7980451b" /><Relationship Type="http://schemas.openxmlformats.org/officeDocument/2006/relationships/notesSlide" Target="/ppt/notesSlides/notesSlide38.xml" Id="R4bdcae08267d45f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32e594c04294882" /><Relationship Type="http://schemas.openxmlformats.org/officeDocument/2006/relationships/image" Target="/ppt/media/image39.jpeg" Id="Rc0e6207c2fac4c99" /><Relationship Type="http://schemas.openxmlformats.org/officeDocument/2006/relationships/notesSlide" Target="/ppt/notesSlides/notesSlide39.xml" Id="Rb45cb9837d824d2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799990ddd9542b8" /><Relationship Type="http://schemas.openxmlformats.org/officeDocument/2006/relationships/image" Target="/ppt/media/image40.jpeg" Id="R3aedf491fac94c66" /><Relationship Type="http://schemas.openxmlformats.org/officeDocument/2006/relationships/notesSlide" Target="/ppt/notesSlides/notesSlide40.xml" Id="R1d44b469ca104cc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546dc8cf154469a" /><Relationship Type="http://schemas.openxmlformats.org/officeDocument/2006/relationships/image" Target="/ppt/media/image41.jpeg" Id="Rf2881a351aeb44ff" /><Relationship Type="http://schemas.openxmlformats.org/officeDocument/2006/relationships/notesSlide" Target="/ppt/notesSlides/notesSlide41.xml" Id="R282be919af99469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0a43bcf50c44ede" /><Relationship Type="http://schemas.openxmlformats.org/officeDocument/2006/relationships/image" Target="/ppt/media/image42.jpeg" Id="R8d89e59b514546e8" /><Relationship Type="http://schemas.openxmlformats.org/officeDocument/2006/relationships/notesSlide" Target="/ppt/notesSlides/notesSlide42.xml" Id="Rbffba14efed346a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d0ad17873e3426f" /><Relationship Type="http://schemas.openxmlformats.org/officeDocument/2006/relationships/image" Target="/ppt/media/image43.jpeg" Id="Rd1d4cff0933849c3" /><Relationship Type="http://schemas.openxmlformats.org/officeDocument/2006/relationships/notesSlide" Target="/ppt/notesSlides/notesSlide43.xml" Id="R35d2f4ca6f2b484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da90794e4864454" /><Relationship Type="http://schemas.openxmlformats.org/officeDocument/2006/relationships/image" Target="/ppt/media/image44.jpeg" Id="R161ec44de9024bc6" /><Relationship Type="http://schemas.openxmlformats.org/officeDocument/2006/relationships/notesSlide" Target="/ppt/notesSlides/notesSlide44.xml" Id="R55fb25acdf52422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ef848a97daa4244" /><Relationship Type="http://schemas.openxmlformats.org/officeDocument/2006/relationships/image" Target="/ppt/media/image45.jpeg" Id="R902bf66171ed48a3" /><Relationship Type="http://schemas.openxmlformats.org/officeDocument/2006/relationships/notesSlide" Target="/ppt/notesSlides/notesSlide45.xml" Id="R31dbec1035884e1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c5679e609ba4a49" /><Relationship Type="http://schemas.openxmlformats.org/officeDocument/2006/relationships/image" Target="/ppt/media/image46.jpeg" Id="Rfb3179d86c4e4ebb" /><Relationship Type="http://schemas.openxmlformats.org/officeDocument/2006/relationships/notesSlide" Target="/ppt/notesSlides/notesSlide46.xml" Id="Rbd1aafa93493448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128d492842743cf" /><Relationship Type="http://schemas.openxmlformats.org/officeDocument/2006/relationships/image" Target="/ppt/media/image47.jpeg" Id="R44d98105cc1d4e0d" /><Relationship Type="http://schemas.openxmlformats.org/officeDocument/2006/relationships/notesSlide" Target="/ppt/notesSlides/notesSlide47.xml" Id="Rec470251afa5422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03b5650cc6a4fb3" /><Relationship Type="http://schemas.openxmlformats.org/officeDocument/2006/relationships/image" Target="/ppt/media/image48.jpeg" Id="R11247422a81c45cd" /><Relationship Type="http://schemas.openxmlformats.org/officeDocument/2006/relationships/notesSlide" Target="/ppt/notesSlides/notesSlide48.xml" Id="R09896ad151c744f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c4b3e2420b94f87" /><Relationship Type="http://schemas.openxmlformats.org/officeDocument/2006/relationships/image" Target="/ppt/media/image49.jpeg" Id="R86ec6f8e60ca40c0" /><Relationship Type="http://schemas.openxmlformats.org/officeDocument/2006/relationships/notesSlide" Target="/ppt/notesSlides/notesSlide49.xml" Id="R47ef2a2a572c454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088d2650264f4b7d" /><Relationship Type="http://schemas.openxmlformats.org/officeDocument/2006/relationships/image" Target="/ppt/media/image50.jpeg" Id="Refef24578e304a60" /><Relationship Type="http://schemas.openxmlformats.org/officeDocument/2006/relationships/notesSlide" Target="/ppt/notesSlides/notesSlide50.xml" Id="R27fccc0747dc4be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b09f0fd459f42dd" /><Relationship Type="http://schemas.openxmlformats.org/officeDocument/2006/relationships/image" Target="/ppt/media/image51.jpeg" Id="Rea0f309fdd7b4cfd" /><Relationship Type="http://schemas.openxmlformats.org/officeDocument/2006/relationships/notesSlide" Target="/ppt/notesSlides/notesSlide51.xml" Id="R1759a5d98d8d472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3650c97218784e58" /><Relationship Type="http://schemas.openxmlformats.org/officeDocument/2006/relationships/image" Target="/ppt/media/image52.jpeg" Id="R1d73cef427034a7e" /><Relationship Type="http://schemas.openxmlformats.org/officeDocument/2006/relationships/notesSlide" Target="/ppt/notesSlides/notesSlide52.xml" Id="R6bafe9ab0ee4435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41fb4bdc5944c13" /><Relationship Type="http://schemas.openxmlformats.org/officeDocument/2006/relationships/image" Target="/ppt/media/image53.jpeg" Id="R311f9fa7560948c9" /><Relationship Type="http://schemas.openxmlformats.org/officeDocument/2006/relationships/notesSlide" Target="/ppt/notesSlides/notesSlide53.xml" Id="Ra654b5f5a05e49f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ec57d0f338da4be1" /><Relationship Type="http://schemas.openxmlformats.org/officeDocument/2006/relationships/image" Target="/ppt/media/image54.jpeg" Id="R512d39f717a14859" /><Relationship Type="http://schemas.openxmlformats.org/officeDocument/2006/relationships/notesSlide" Target="/ppt/notesSlides/notesSlide54.xml" Id="R2c867ef4d328420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ca0a6e6b46e541e8" /><Relationship Type="http://schemas.openxmlformats.org/officeDocument/2006/relationships/image" Target="/ppt/media/image55.jpeg" Id="R231315cc7e394061" /><Relationship Type="http://schemas.openxmlformats.org/officeDocument/2006/relationships/notesSlide" Target="/ppt/notesSlides/notesSlide55.xml" Id="Rc52e9b5a2092411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1c9b3bfb99945b6" /><Relationship Type="http://schemas.openxmlformats.org/officeDocument/2006/relationships/image" Target="/ppt/media/image56.jpeg" Id="Re50dc0c6a96f46d3" /><Relationship Type="http://schemas.openxmlformats.org/officeDocument/2006/relationships/notesSlide" Target="/ppt/notesSlides/notesSlide56.xml" Id="Rafe772824bd04f7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0c4d05e90234ead" /><Relationship Type="http://schemas.openxmlformats.org/officeDocument/2006/relationships/image" Target="/ppt/media/image57.jpeg" Id="R0a95707761f24cea" /><Relationship Type="http://schemas.openxmlformats.org/officeDocument/2006/relationships/notesSlide" Target="/ppt/notesSlides/notesSlide57.xml" Id="Rb7fd2b4bb590407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b3d98d221e2f487d" /><Relationship Type="http://schemas.openxmlformats.org/officeDocument/2006/relationships/image" Target="/ppt/media/image58.jpeg" Id="R5abf9813fcda4bc6" /><Relationship Type="http://schemas.openxmlformats.org/officeDocument/2006/relationships/notesSlide" Target="/ppt/notesSlides/notesSlide58.xml" Id="R3f94a76edd804d4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374bc379b8c7441a" /><Relationship Type="http://schemas.openxmlformats.org/officeDocument/2006/relationships/image" Target="/ppt/media/image59.jpeg" Id="Rfe7a12e32aba40d7" /><Relationship Type="http://schemas.openxmlformats.org/officeDocument/2006/relationships/notesSlide" Target="/ppt/notesSlides/notesSlide59.xml" Id="R35949139fa2d441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9a81f0f546274b92" /><Relationship Type="http://schemas.openxmlformats.org/officeDocument/2006/relationships/image" Target="/ppt/media/image60.jpeg" Id="R6d9a076f2bb84906" /><Relationship Type="http://schemas.openxmlformats.org/officeDocument/2006/relationships/notesSlide" Target="/ppt/notesSlides/notesSlide60.xml" Id="R005605059b6a480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8204f7b08c97427e" /><Relationship Type="http://schemas.openxmlformats.org/officeDocument/2006/relationships/image" Target="/ppt/media/image61.jpeg" Id="R799c598861ba44fd" /><Relationship Type="http://schemas.openxmlformats.org/officeDocument/2006/relationships/notesSlide" Target="/ppt/notesSlides/notesSlide61.xml" Id="R9ac4d67cc8374a2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879e7375b0049ad" /><Relationship Type="http://schemas.openxmlformats.org/officeDocument/2006/relationships/image" Target="/ppt/media/image62.jpeg" Id="Rc04d91ac050a4ba4" /><Relationship Type="http://schemas.openxmlformats.org/officeDocument/2006/relationships/notesSlide" Target="/ppt/notesSlides/notesSlide62.xml" Id="Rdd168fb7ff0b43f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e8813a046ee3413e" /><Relationship Type="http://schemas.openxmlformats.org/officeDocument/2006/relationships/image" Target="/ppt/media/image63.jpeg" Id="R55f94a23217b4fb6" /><Relationship Type="http://schemas.openxmlformats.org/officeDocument/2006/relationships/notesSlide" Target="/ppt/notesSlides/notesSlide63.xml" Id="R4bfb945300884a8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4aef202a79044a20" /><Relationship Type="http://schemas.openxmlformats.org/officeDocument/2006/relationships/image" Target="/ppt/media/image64.jpeg" Id="R238ba6198dec475e" /><Relationship Type="http://schemas.openxmlformats.org/officeDocument/2006/relationships/notesSlide" Target="/ppt/notesSlides/notesSlide64.xml" Id="Ra75d2b6c046c4a8e"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d5714b6391bb4b13" /><Relationship Type="http://schemas.openxmlformats.org/officeDocument/2006/relationships/image" Target="/ppt/media/image65.jpeg" Id="R7140fc6282ea4f7d" /><Relationship Type="http://schemas.openxmlformats.org/officeDocument/2006/relationships/notesSlide" Target="/ppt/notesSlides/notesSlide65.xml" Id="R65628d6b0e67469b"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54736de80b804451" /><Relationship Type="http://schemas.openxmlformats.org/officeDocument/2006/relationships/image" Target="/ppt/media/image66.jpeg" Id="R1481de0cb0694c64" /><Relationship Type="http://schemas.openxmlformats.org/officeDocument/2006/relationships/notesSlide" Target="/ppt/notesSlides/notesSlide66.xml" Id="R7c2b7f449c7a4fd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d0921f462f1943c1" /><Relationship Type="http://schemas.openxmlformats.org/officeDocument/2006/relationships/image" Target="/ppt/media/image67.jpeg" Id="Ra7f321c7bafd4b06" /><Relationship Type="http://schemas.openxmlformats.org/officeDocument/2006/relationships/notesSlide" Target="/ppt/notesSlides/notesSlide67.xml" Id="R86ed72d01dde41f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b73f296962c44f4f" /><Relationship Type="http://schemas.openxmlformats.org/officeDocument/2006/relationships/image" Target="/ppt/media/image68.jpeg" Id="R86fb36ea6f044c90" /><Relationship Type="http://schemas.openxmlformats.org/officeDocument/2006/relationships/notesSlide" Target="/ppt/notesSlides/notesSlide68.xml" Id="R588c141e4b434368"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5d95cc39a13f4371" /><Relationship Type="http://schemas.openxmlformats.org/officeDocument/2006/relationships/image" Target="/ppt/media/image69.jpeg" Id="R8070b054dc6c4d53" /><Relationship Type="http://schemas.openxmlformats.org/officeDocument/2006/relationships/notesSlide" Target="/ppt/notesSlides/notesSlide69.xml" Id="Rca395938bc614ff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b4aea2ec60484fc0" /><Relationship Type="http://schemas.openxmlformats.org/officeDocument/2006/relationships/image" Target="/ppt/media/image70.jpeg" Id="Rf2c21446f3d54166" /><Relationship Type="http://schemas.openxmlformats.org/officeDocument/2006/relationships/notesSlide" Target="/ppt/notesSlides/notesSlide70.xml" Id="R93b2b1add66b4f34"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ae182e60a6b14a1b" /><Relationship Type="http://schemas.openxmlformats.org/officeDocument/2006/relationships/image" Target="/ppt/media/image71.jpeg" Id="Rd4151805f38d496d" /><Relationship Type="http://schemas.openxmlformats.org/officeDocument/2006/relationships/notesSlide" Target="/ppt/notesSlides/notesSlide71.xml" Id="Ra852ed12b5984cdc"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b8b4ad1e07d044f0" /><Relationship Type="http://schemas.openxmlformats.org/officeDocument/2006/relationships/image" Target="/ppt/media/image72.jpeg" Id="Ra46a9b067cf24ce4" /><Relationship Type="http://schemas.openxmlformats.org/officeDocument/2006/relationships/notesSlide" Target="/ppt/notesSlides/notesSlide72.xml" Id="R2ffa731cd2794f09"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9570f1c15b4641de" /><Relationship Type="http://schemas.openxmlformats.org/officeDocument/2006/relationships/image" Target="/ppt/media/image73.jpeg" Id="R722f3511f8ef4ddc" /><Relationship Type="http://schemas.openxmlformats.org/officeDocument/2006/relationships/notesSlide" Target="/ppt/notesSlides/notesSlide73.xml" Id="Rd75656ae9ede4e6e"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9963dbaeda4648e0" /><Relationship Type="http://schemas.openxmlformats.org/officeDocument/2006/relationships/image" Target="/ppt/media/image74.jpeg" Id="Rb77e51a42e9343e7" /><Relationship Type="http://schemas.openxmlformats.org/officeDocument/2006/relationships/notesSlide" Target="/ppt/notesSlides/notesSlide74.xml" Id="R9a7c4af4dc144772"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b2251578a98b4ed5" /><Relationship Type="http://schemas.openxmlformats.org/officeDocument/2006/relationships/image" Target="/ppt/media/image75.jpeg" Id="R0d20e568d7654f1c" /><Relationship Type="http://schemas.openxmlformats.org/officeDocument/2006/relationships/notesSlide" Target="/ppt/notesSlides/notesSlide75.xml" Id="R959a6db195a24e9e"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0476e99cf04d4aa7" /><Relationship Type="http://schemas.openxmlformats.org/officeDocument/2006/relationships/image" Target="/ppt/media/image76.jpeg" Id="Rb1b2bc5fc6434eee" /><Relationship Type="http://schemas.openxmlformats.org/officeDocument/2006/relationships/notesSlide" Target="/ppt/notesSlides/notesSlide76.xml" Id="Rf22874088c4144cc"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b84f8ea652b04757" /><Relationship Type="http://schemas.openxmlformats.org/officeDocument/2006/relationships/image" Target="/ppt/media/image77.jpeg" Id="R467ff2837be145fe" /><Relationship Type="http://schemas.openxmlformats.org/officeDocument/2006/relationships/notesSlide" Target="/ppt/notesSlides/notesSlide77.xml" Id="R22da8828a72d490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627f1110da0d470e" /><Relationship Type="http://schemas.openxmlformats.org/officeDocument/2006/relationships/image" Target="/ppt/media/image78.jpeg" Id="R9d0ff08fd0334ca2" /><Relationship Type="http://schemas.openxmlformats.org/officeDocument/2006/relationships/notesSlide" Target="/ppt/notesSlides/notesSlide78.xml" Id="R6ee6966167104e7a"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f292c180d99d4da4" /><Relationship Type="http://schemas.openxmlformats.org/officeDocument/2006/relationships/image" Target="/ppt/media/image79.jpeg" Id="R915e999f3d954923" /><Relationship Type="http://schemas.openxmlformats.org/officeDocument/2006/relationships/notesSlide" Target="/ppt/notesSlides/notesSlide79.xml" Id="Red2a11af4ce346f6"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cd23187edab34033" /><Relationship Type="http://schemas.openxmlformats.org/officeDocument/2006/relationships/image" Target="/ppt/media/image80.jpeg" Id="Ra54caf66dc4a4ba3" /><Relationship Type="http://schemas.openxmlformats.org/officeDocument/2006/relationships/notesSlide" Target="/ppt/notesSlides/notesSlide80.xml" Id="R66edc5a065c2489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a99165c0ffd141ca" /><Relationship Type="http://schemas.openxmlformats.org/officeDocument/2006/relationships/image" Target="/ppt/media/image81.jpeg" Id="R0bb323d5401947d3" /><Relationship Type="http://schemas.openxmlformats.org/officeDocument/2006/relationships/notesSlide" Target="/ppt/notesSlides/notesSlide81.xml" Id="Ra5c40eebd3a34fd7"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2f36231a2d3843d7" /><Relationship Type="http://schemas.openxmlformats.org/officeDocument/2006/relationships/image" Target="/ppt/media/image82.jpeg" Id="R6e92fd2050e740c7" /><Relationship Type="http://schemas.openxmlformats.org/officeDocument/2006/relationships/notesSlide" Target="/ppt/notesSlides/notesSlide82.xml" Id="R7c68542f670141e4"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c7d8c09ab7144241" /><Relationship Type="http://schemas.openxmlformats.org/officeDocument/2006/relationships/image" Target="/ppt/media/image83.jpeg" Id="Rb272060f43dc4328" /><Relationship Type="http://schemas.openxmlformats.org/officeDocument/2006/relationships/notesSlide" Target="/ppt/notesSlides/notesSlide83.xml" Id="Ra5dfd25177ae4c68"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3c05186757c64072" /><Relationship Type="http://schemas.openxmlformats.org/officeDocument/2006/relationships/image" Target="/ppt/media/image84.jpeg" Id="R816c0e5d708440cc" /><Relationship Type="http://schemas.openxmlformats.org/officeDocument/2006/relationships/notesSlide" Target="/ppt/notesSlides/notesSlide84.xml" Id="R68314737c5de4fe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a58e6e176cf0416e" /><Relationship Type="http://schemas.openxmlformats.org/officeDocument/2006/relationships/image" Target="/ppt/media/image85.jpeg" Id="Rfbb41b0fb3c047ad" /><Relationship Type="http://schemas.openxmlformats.org/officeDocument/2006/relationships/notesSlide" Target="/ppt/notesSlides/notesSlide85.xml" Id="Rde07bb0f0e2d4043"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def6b6651f4140a6" /><Relationship Type="http://schemas.openxmlformats.org/officeDocument/2006/relationships/image" Target="/ppt/media/image86.jpeg" Id="Rcee6c248498c42cb" /><Relationship Type="http://schemas.openxmlformats.org/officeDocument/2006/relationships/notesSlide" Target="/ppt/notesSlides/notesSlide86.xml" Id="Re2bebcbff54d45da"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1fca876e37b4467a" /><Relationship Type="http://schemas.openxmlformats.org/officeDocument/2006/relationships/image" Target="/ppt/media/image87.jpeg" Id="Rfa73196d12d648fb" /><Relationship Type="http://schemas.openxmlformats.org/officeDocument/2006/relationships/notesSlide" Target="/ppt/notesSlides/notesSlide87.xml" Id="R594aaa0370134c01"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9a9909ba3add46e2" /><Relationship Type="http://schemas.openxmlformats.org/officeDocument/2006/relationships/image" Target="/ppt/media/image88.jpeg" Id="R878eff518c5c4626" /><Relationship Type="http://schemas.openxmlformats.org/officeDocument/2006/relationships/notesSlide" Target="/ppt/notesSlides/notesSlide88.xml" Id="R71e3e15535354318"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a41d7af3b0744491" /><Relationship Type="http://schemas.openxmlformats.org/officeDocument/2006/relationships/image" Target="/ppt/media/image89.jpeg" Id="R42442614f6e94d81" /><Relationship Type="http://schemas.openxmlformats.org/officeDocument/2006/relationships/notesSlide" Target="/ppt/notesSlides/notesSlide89.xml" Id="R2106af2563f743d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29487e5d11854cdc" /><Relationship Type="http://schemas.openxmlformats.org/officeDocument/2006/relationships/image" Target="/ppt/media/image90.jpeg" Id="Re25ea235fdb2471e" /><Relationship Type="http://schemas.openxmlformats.org/officeDocument/2006/relationships/notesSlide" Target="/ppt/notesSlides/notesSlide90.xml" Id="R13e001166d9247f5"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d3b9d0c7b4c244d4" /><Relationship Type="http://schemas.openxmlformats.org/officeDocument/2006/relationships/image" Target="/ppt/media/image91.jpeg" Id="R5eaae725517047ec" /><Relationship Type="http://schemas.openxmlformats.org/officeDocument/2006/relationships/notesSlide" Target="/ppt/notesSlides/notesSlide91.xml" Id="R5b2b23acf9e444ac"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0201bc3c7e0c4a80" /><Relationship Type="http://schemas.openxmlformats.org/officeDocument/2006/relationships/image" Target="/ppt/media/image92.jpeg" Id="Rc8bc949251eb4724" /><Relationship Type="http://schemas.openxmlformats.org/officeDocument/2006/relationships/notesSlide" Target="/ppt/notesSlides/notesSlide92.xml" Id="R7ddf3da1f8734742"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9850c9422a544dfe" /><Relationship Type="http://schemas.openxmlformats.org/officeDocument/2006/relationships/image" Target="/ppt/media/image93.jpeg" Id="Ra7bb7c14ff5f43d9" /><Relationship Type="http://schemas.openxmlformats.org/officeDocument/2006/relationships/notesSlide" Target="/ppt/notesSlides/notesSlide93.xml" Id="Rb2c075d4d1364b07"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afe5249eea0342b6" /><Relationship Type="http://schemas.openxmlformats.org/officeDocument/2006/relationships/image" Target="/ppt/media/image94.jpeg" Id="Re0e60036b42341a8" /><Relationship Type="http://schemas.openxmlformats.org/officeDocument/2006/relationships/notesSlide" Target="/ppt/notesSlides/notesSlide94.xml" Id="R0ae7a5d854de49bf"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990c6063fb494908" /><Relationship Type="http://schemas.openxmlformats.org/officeDocument/2006/relationships/image" Target="/ppt/media/image95.jpeg" Id="Ref7695cc51a84285" /><Relationship Type="http://schemas.openxmlformats.org/officeDocument/2006/relationships/notesSlide" Target="/ppt/notesSlides/notesSlide95.xml" Id="R904c4143e32d49f0"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01b01d9bfa6440cd" /><Relationship Type="http://schemas.openxmlformats.org/officeDocument/2006/relationships/image" Target="/ppt/media/image96.jpeg" Id="R177097fa8cdc4db4" /><Relationship Type="http://schemas.openxmlformats.org/officeDocument/2006/relationships/notesSlide" Target="/ppt/notesSlides/notesSlide96.xml" Id="Rcdc8a1750a674aa6"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64a97ff7df724cd2" /><Relationship Type="http://schemas.openxmlformats.org/officeDocument/2006/relationships/image" Target="/ppt/media/image97.jpeg" Id="Rb1c25f3df2ab4090" /><Relationship Type="http://schemas.openxmlformats.org/officeDocument/2006/relationships/notesSlide" Target="/ppt/notesSlides/notesSlide97.xml" Id="R8b9cc8d66ad242c8"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71b26fd9a5114006" /><Relationship Type="http://schemas.openxmlformats.org/officeDocument/2006/relationships/image" Target="/ppt/media/image98.jpeg" Id="R8485cb431266463c" /><Relationship Type="http://schemas.openxmlformats.org/officeDocument/2006/relationships/notesSlide" Target="/ppt/notesSlides/notesSlide98.xml" Id="Re8c7e377fdb34f04"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39f58a5690f148f5" /><Relationship Type="http://schemas.openxmlformats.org/officeDocument/2006/relationships/image" Target="/ppt/media/image99.jpeg" Id="R5388d80f857d469e" /><Relationship Type="http://schemas.openxmlformats.org/officeDocument/2006/relationships/notesSlide" Target="/ppt/notesSlides/notesSlide99.xml" Id="R255876405500487c"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0c74056b10a247e8" /><Relationship Type="http://schemas.openxmlformats.org/officeDocument/2006/relationships/image" Target="/ppt/media/image100.jpeg" Id="R415a377fc6004b6a" /><Relationship Type="http://schemas.openxmlformats.org/officeDocument/2006/relationships/notesSlide" Target="/ppt/notesSlides/notesSlide100.xml" Id="R9dbe2753aa654bf2"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19981b3c6ed24f2e" /><Relationship Type="http://schemas.openxmlformats.org/officeDocument/2006/relationships/image" Target="/ppt/media/image101.jpeg" Id="R7958bf8bd99d4c1a" /><Relationship Type="http://schemas.openxmlformats.org/officeDocument/2006/relationships/notesSlide" Target="/ppt/notesSlides/notesSlide101.xml" Id="R4171b0a3c8ce4f0b"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36f0fbb7ffc2440b" /><Relationship Type="http://schemas.openxmlformats.org/officeDocument/2006/relationships/image" Target="/ppt/media/image102.jpeg" Id="R08e70c3ace654a55" /><Relationship Type="http://schemas.openxmlformats.org/officeDocument/2006/relationships/notesSlide" Target="/ppt/notesSlides/notesSlide102.xml" Id="Ra7fb74b9d8b84278"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471838dbc7444f1b" /><Relationship Type="http://schemas.openxmlformats.org/officeDocument/2006/relationships/image" Target="/ppt/media/image103.jpeg" Id="R5b52724bc1584b81" /><Relationship Type="http://schemas.openxmlformats.org/officeDocument/2006/relationships/notesSlide" Target="/ppt/notesSlides/notesSlide103.xml" Id="R2fe6b0fabacb4390"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9f36458802504f45" /><Relationship Type="http://schemas.openxmlformats.org/officeDocument/2006/relationships/image" Target="/ppt/media/image104.jpeg" Id="R756bf74eaae74fe7" /><Relationship Type="http://schemas.openxmlformats.org/officeDocument/2006/relationships/notesSlide" Target="/ppt/notesSlides/notesSlide104.xml" Id="R121ba8b0965b4a50"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eb2206f7b2d54ed4" /><Relationship Type="http://schemas.openxmlformats.org/officeDocument/2006/relationships/image" Target="/ppt/media/image105.jpeg" Id="R60123b038c874ac5" /><Relationship Type="http://schemas.openxmlformats.org/officeDocument/2006/relationships/notesSlide" Target="/ppt/notesSlides/notesSlide105.xml" Id="Rdddeaabd42374846"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4aa16a0263a74916" /><Relationship Type="http://schemas.openxmlformats.org/officeDocument/2006/relationships/image" Target="/ppt/media/image106.jpeg" Id="Rc1cfb59f382546d8" /><Relationship Type="http://schemas.openxmlformats.org/officeDocument/2006/relationships/notesSlide" Target="/ppt/notesSlides/notesSlide106.xml" Id="R3e4f250300224485"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bc4fef1fd8614ea0" /><Relationship Type="http://schemas.openxmlformats.org/officeDocument/2006/relationships/image" Target="/ppt/media/image107.jpeg" Id="R49eaff4456f94664" /><Relationship Type="http://schemas.openxmlformats.org/officeDocument/2006/relationships/notesSlide" Target="/ppt/notesSlides/notesSlide107.xml" Id="Rdf207208c34c4f19"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a72bae2f4ab04487" /><Relationship Type="http://schemas.openxmlformats.org/officeDocument/2006/relationships/image" Target="/ppt/media/image108.jpeg" Id="R076065fa02804dcd" /><Relationship Type="http://schemas.openxmlformats.org/officeDocument/2006/relationships/notesSlide" Target="/ppt/notesSlides/notesSlide108.xml" Id="Rc21cfd62ef884092"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944f5f1b3a484ae6" /><Relationship Type="http://schemas.openxmlformats.org/officeDocument/2006/relationships/image" Target="/ppt/media/image109.jpeg" Id="R01f7331512ef4306" /><Relationship Type="http://schemas.openxmlformats.org/officeDocument/2006/relationships/notesSlide" Target="/ppt/notesSlides/notesSlide109.xml" Id="Re63180c406954929"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8b6830a80bb345d8" /><Relationship Type="http://schemas.openxmlformats.org/officeDocument/2006/relationships/image" Target="/ppt/media/image110.jpeg" Id="Rd948403c91434c5b" /><Relationship Type="http://schemas.openxmlformats.org/officeDocument/2006/relationships/notesSlide" Target="/ppt/notesSlides/notesSlide110.xml" Id="Rd5458def767646ed"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8a7750498b48429f" /><Relationship Type="http://schemas.openxmlformats.org/officeDocument/2006/relationships/image" Target="/ppt/media/image111.jpeg" Id="Rb916e40db29642b1" /><Relationship Type="http://schemas.openxmlformats.org/officeDocument/2006/relationships/notesSlide" Target="/ppt/notesSlides/notesSlide111.xml" Id="R81008a12331d44de"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2b2fc8221cb944ca" /><Relationship Type="http://schemas.openxmlformats.org/officeDocument/2006/relationships/image" Target="/ppt/media/image112.jpeg" Id="Reb728b184e4e402f" /><Relationship Type="http://schemas.openxmlformats.org/officeDocument/2006/relationships/notesSlide" Target="/ppt/notesSlides/notesSlide112.xml" Id="Rb9539c7e61d549fe"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c324dd5a068b436a" /><Relationship Type="http://schemas.openxmlformats.org/officeDocument/2006/relationships/image" Target="/ppt/media/image113.jpeg" Id="R6303b7a78d014b9e" /><Relationship Type="http://schemas.openxmlformats.org/officeDocument/2006/relationships/notesSlide" Target="/ppt/notesSlides/notesSlide113.xml" Id="Rf4879adf56214704"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36f08f9ab5f64bc1" /><Relationship Type="http://schemas.openxmlformats.org/officeDocument/2006/relationships/image" Target="/ppt/media/image114.jpeg" Id="Rda862e4f9e3f43a9" /><Relationship Type="http://schemas.openxmlformats.org/officeDocument/2006/relationships/notesSlide" Target="/ppt/notesSlides/notesSlide114.xml" Id="R3172b06b41984940"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25aa2e9b58ff4b69" /><Relationship Type="http://schemas.openxmlformats.org/officeDocument/2006/relationships/image" Target="/ppt/media/image115.jpeg" Id="R12914b510fa34a1b" /><Relationship Type="http://schemas.openxmlformats.org/officeDocument/2006/relationships/notesSlide" Target="/ppt/notesSlides/notesSlide115.xml" Id="R3451992c22ef4571"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32f90fd338654c68" /><Relationship Type="http://schemas.openxmlformats.org/officeDocument/2006/relationships/image" Target="/ppt/media/image116.jpeg" Id="Ra18b3bb0f45a4868" /><Relationship Type="http://schemas.openxmlformats.org/officeDocument/2006/relationships/notesSlide" Target="/ppt/notesSlides/notesSlide116.xml" Id="R890f59c5fc354893"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755ec67b9ec8442d" /><Relationship Type="http://schemas.openxmlformats.org/officeDocument/2006/relationships/image" Target="/ppt/media/image117.jpeg" Id="R4541de7141f14be8" /><Relationship Type="http://schemas.openxmlformats.org/officeDocument/2006/relationships/notesSlide" Target="/ppt/notesSlides/notesSlide117.xml" Id="Rbdda0ec1915a4285"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f62f605ad8384093" /><Relationship Type="http://schemas.openxmlformats.org/officeDocument/2006/relationships/image" Target="/ppt/media/image118.jpeg" Id="R5af1de090ddf435a" /><Relationship Type="http://schemas.openxmlformats.org/officeDocument/2006/relationships/notesSlide" Target="/ppt/notesSlides/notesSlide118.xml" Id="R8d105c44f0d04447"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d11ee49979f34959" /><Relationship Type="http://schemas.openxmlformats.org/officeDocument/2006/relationships/image" Target="/ppt/media/image119.jpeg" Id="Rdfca42b32051436b" /><Relationship Type="http://schemas.openxmlformats.org/officeDocument/2006/relationships/notesSlide" Target="/ppt/notesSlides/notesSlide119.xml" Id="Rea00b04596ee4bad"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3a7fc8b146174c96" /><Relationship Type="http://schemas.openxmlformats.org/officeDocument/2006/relationships/image" Target="/ppt/media/image120.jpeg" Id="R8c5fde29a5004dc4" /><Relationship Type="http://schemas.openxmlformats.org/officeDocument/2006/relationships/notesSlide" Target="/ppt/notesSlides/notesSlide120.xml" Id="R79be4e3d25224210"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0103d25f451344dd" /><Relationship Type="http://schemas.openxmlformats.org/officeDocument/2006/relationships/image" Target="/ppt/media/image121.jpeg" Id="Rdf04537412e1497c" /><Relationship Type="http://schemas.openxmlformats.org/officeDocument/2006/relationships/notesSlide" Target="/ppt/notesSlides/notesSlide121.xml" Id="R9058d45744304337"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80229e2980bd4164" /><Relationship Type="http://schemas.openxmlformats.org/officeDocument/2006/relationships/image" Target="/ppt/media/image122.jpeg" Id="Raf9c317cb6854065" /><Relationship Type="http://schemas.openxmlformats.org/officeDocument/2006/relationships/notesSlide" Target="/ppt/notesSlides/notesSlide122.xml" Id="R146e738a00bf4be6"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6d37ed9423fc47f8" /><Relationship Type="http://schemas.openxmlformats.org/officeDocument/2006/relationships/image" Target="/ppt/media/image123.jpeg" Id="Rc1709f668c484f05" /><Relationship Type="http://schemas.openxmlformats.org/officeDocument/2006/relationships/notesSlide" Target="/ppt/notesSlides/notesSlide123.xml" Id="R60a597d2ad9c460a"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3c21572717e249f1" /><Relationship Type="http://schemas.openxmlformats.org/officeDocument/2006/relationships/image" Target="/ppt/media/image124.jpeg" Id="R4641ba1cfd584942" /><Relationship Type="http://schemas.openxmlformats.org/officeDocument/2006/relationships/notesSlide" Target="/ppt/notesSlides/notesSlide124.xml" Id="R3966be1eacbc4b05"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9c96efb681b246bf" /><Relationship Type="http://schemas.openxmlformats.org/officeDocument/2006/relationships/image" Target="/ppt/media/image125.jpeg" Id="R8b857b122b25485d" /><Relationship Type="http://schemas.openxmlformats.org/officeDocument/2006/relationships/notesSlide" Target="/ppt/notesSlides/notesSlide125.xml" Id="Ra38c2c7e23224b18"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f2132c0cd92d4005" /><Relationship Type="http://schemas.openxmlformats.org/officeDocument/2006/relationships/image" Target="/ppt/media/image126.jpeg" Id="R80f18ead262c4062" /><Relationship Type="http://schemas.openxmlformats.org/officeDocument/2006/relationships/notesSlide" Target="/ppt/notesSlides/notesSlide126.xml" Id="Rc4de127386b049e7"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cf05ebeea77e4ef5" /><Relationship Type="http://schemas.openxmlformats.org/officeDocument/2006/relationships/image" Target="/ppt/media/image127.jpeg" Id="R8828e258eed5443a" /><Relationship Type="http://schemas.openxmlformats.org/officeDocument/2006/relationships/notesSlide" Target="/ppt/notesSlides/notesSlide127.xml" Id="R79e9c79493ee4d2b"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f9f57252f2334a0a" /><Relationship Type="http://schemas.openxmlformats.org/officeDocument/2006/relationships/image" Target="/ppt/media/image128.jpeg" Id="R147f2f9710084801" /><Relationship Type="http://schemas.openxmlformats.org/officeDocument/2006/relationships/notesSlide" Target="/ppt/notesSlides/notesSlide128.xml" Id="Ra9957b832f324092"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eb3087ff2c424c6d" /><Relationship Type="http://schemas.openxmlformats.org/officeDocument/2006/relationships/image" Target="/ppt/media/image129.jpeg" Id="Rf8db13bdba734e7a" /><Relationship Type="http://schemas.openxmlformats.org/officeDocument/2006/relationships/notesSlide" Target="/ppt/notesSlides/notesSlide129.xml" Id="R194a62ed7ebc472f"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7cf2bbac0dd54ba7" /><Relationship Type="http://schemas.openxmlformats.org/officeDocument/2006/relationships/image" Target="/ppt/media/image130.jpeg" Id="Rd704b0734b0e44d5" /><Relationship Type="http://schemas.openxmlformats.org/officeDocument/2006/relationships/notesSlide" Target="/ppt/notesSlides/notesSlide130.xml" Id="R4bfc6bb6168c45e8"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1f74d9097ccf45c7" /><Relationship Type="http://schemas.openxmlformats.org/officeDocument/2006/relationships/image" Target="/ppt/media/image131.jpeg" Id="R91a536dbd25045f7" /><Relationship Type="http://schemas.openxmlformats.org/officeDocument/2006/relationships/notesSlide" Target="/ppt/notesSlides/notesSlide131.xml" Id="R6afa65e1b6ab45f0"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108ff228e7e64f5f" /><Relationship Type="http://schemas.openxmlformats.org/officeDocument/2006/relationships/image" Target="/ppt/media/image132.jpeg" Id="R0a2ac10c13d545e1" /><Relationship Type="http://schemas.openxmlformats.org/officeDocument/2006/relationships/notesSlide" Target="/ppt/notesSlides/notesSlide132.xml" Id="Rf25a0466c7f24f3e"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190b18c8e1b84cb6" /><Relationship Type="http://schemas.openxmlformats.org/officeDocument/2006/relationships/image" Target="/ppt/media/image133.jpeg" Id="R2fabc064097a40f0" /><Relationship Type="http://schemas.openxmlformats.org/officeDocument/2006/relationships/notesSlide" Target="/ppt/notesSlides/notesSlide133.xml" Id="R275a3aac9f784fba"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860a9a8825564273" /><Relationship Type="http://schemas.openxmlformats.org/officeDocument/2006/relationships/image" Target="/ppt/media/image134.jpeg" Id="Rca3d189374344bb2" /><Relationship Type="http://schemas.openxmlformats.org/officeDocument/2006/relationships/notesSlide" Target="/ppt/notesSlides/notesSlide134.xml" Id="Rd870144e7b5f4d79"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d6c2ffc7aabc451f" /><Relationship Type="http://schemas.openxmlformats.org/officeDocument/2006/relationships/image" Target="/ppt/media/image135.jpeg" Id="R03e4cfdc2fb64700" /><Relationship Type="http://schemas.openxmlformats.org/officeDocument/2006/relationships/notesSlide" Target="/ppt/notesSlides/notesSlide135.xml" Id="R59b3437f93784f15"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0df9e8f7d4a64a4d" /><Relationship Type="http://schemas.openxmlformats.org/officeDocument/2006/relationships/image" Target="/ppt/media/image136.jpeg" Id="Rf132777423694e34" /><Relationship Type="http://schemas.openxmlformats.org/officeDocument/2006/relationships/notesSlide" Target="/ppt/notesSlides/notesSlide136.xml" Id="Rf587859fb25b44ea"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78e904e73b844b2f" /><Relationship Type="http://schemas.openxmlformats.org/officeDocument/2006/relationships/image" Target="/ppt/media/image137.jpeg" Id="R66ec7e79e9f94702" /><Relationship Type="http://schemas.openxmlformats.org/officeDocument/2006/relationships/notesSlide" Target="/ppt/notesSlides/notesSlide137.xml" Id="R1dc748997f2c48c6"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1f2be45be68b4cf9" /><Relationship Type="http://schemas.openxmlformats.org/officeDocument/2006/relationships/image" Target="/ppt/media/image138.jpeg" Id="R99e10ef9dd364024" /><Relationship Type="http://schemas.openxmlformats.org/officeDocument/2006/relationships/notesSlide" Target="/ppt/notesSlides/notesSlide138.xml" Id="R373629afbaac4e45"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25eef1d8a8984fd7" /><Relationship Type="http://schemas.openxmlformats.org/officeDocument/2006/relationships/image" Target="/ppt/media/image139.jpeg" Id="Re7ae984660374268" /><Relationship Type="http://schemas.openxmlformats.org/officeDocument/2006/relationships/notesSlide" Target="/ppt/notesSlides/notesSlide139.xml" Id="R649c80a53dc74611"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f0ebf929206344fb" /><Relationship Type="http://schemas.openxmlformats.org/officeDocument/2006/relationships/image" Target="/ppt/media/image140.jpeg" Id="R0bc7aa89e8db4b66" /><Relationship Type="http://schemas.openxmlformats.org/officeDocument/2006/relationships/notesSlide" Target="/ppt/notesSlides/notesSlide140.xml" Id="Rd173cf481578472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7de5ca3f8344d5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8280AE-96E7-4245-ADDD-3426C18B55D1}"/>
              </a:ext>
            </a:extLst>
          </p:cNvPr>
          <p:cNvSpPr>
            <a:spLocks xmlns:a="http://schemas.openxmlformats.org/drawingml/2006/main" noGrp="1"/>
          </p:cNvSpPr>
          <p:nvPr/>
        </p:nvSpPr>
        <p:spPr>
          <a:xfrm xmlns:a="http://schemas.openxmlformats.org/drawingml/2006/main">
            <a:off x="333375" y="266700"/>
            <a:ext cx="11334750" cy="2476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0CBC7A8-D331-4FC1-A1D6-717572BAF4C1}"/>
              </a:ext>
            </a:extLst>
          </p:cNvPr>
          <p:cNvSpPr>
            <a:spLocks xmlns:a="http://schemas.openxmlformats.org/drawingml/2006/main" noGrp="1"/>
          </p:cNvSpPr>
          <p:nvPr/>
        </p:nvSpPr>
        <p:spPr>
          <a:xfrm xmlns:a="http://schemas.openxmlformats.org/drawingml/2006/main">
            <a:off x="1066800" y="1219200"/>
            <a:ext cx="10048875" cy="1257300"/>
          </a:xfrm>
          <a:prstGeom xmlns:a="http://schemas.openxmlformats.org/drawingml/2006/main" prst="roundRect">
            <a:avLst>
              <a:gd name="adj" fmla="val 6061"/>
            </a:avLst>
          </a:prstGeom>
          <a:solidFill xmlns:a="http://schemas.openxmlformats.org/drawingml/2006/main">
            <a:srgbClr val="4138B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22EF13-3B4D-4912-A605-5A3E2ED09486}"/>
              </a:ext>
            </a:extLst>
          </p:cNvPr>
          <p:cNvSpPr>
            <a:spLocks xmlns:a="http://schemas.openxmlformats.org/drawingml/2006/main" noGrp="1"/>
          </p:cNvSpPr>
          <p:nvPr/>
        </p:nvSpPr>
        <p:spPr>
          <a:xfrm xmlns:a="http://schemas.openxmlformats.org/drawingml/2006/main">
            <a:off x="1428750" y="1571625"/>
            <a:ext cx="942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defRPr sz="2625" b="0">
                <a:solidFill>
                  <a:srgbClr val="FFFFFF"/>
                </a:solidFill>
              </a:defRPr>
            </a:pPr>
            <a:r>
              <a:rPr sz="2625" b="0">
                <a:solidFill>
                  <a:srgbClr val="FFFFFF"/>
                </a:solidFill>
              </a:rPr>
              <a:t>Internet of Things and Vehicular Networks (TP-546)</a:t>
            </a:r>
          </a:p>
        </p:txBody>
      </p:sp>
    </p:spTree>
    <p:extLst>
      <p:ext uri="{BB962C8B-B14F-4D97-AF65-F5344CB8AC3E}">
        <p14:creationId xmlns:p14="http://schemas.microsoft.com/office/powerpoint/2010/main" val="20508826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7ab558e50c0549f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E0D9C0-E41C-4E6B-AF33-1241A5DB786E}"/>
              </a:ext>
            </a:extLst>
          </p:cNvPr>
          <p:cNvSpPr>
            <a:spLocks xmlns:a="http://schemas.openxmlformats.org/drawingml/2006/main" noGrp="1"/>
          </p:cNvSpPr>
          <p:nvPr/>
        </p:nvSpPr>
        <p:spPr>
          <a:xfrm xmlns:a="http://schemas.openxmlformats.org/drawingml/2006/main">
            <a:off x="8178165" y="1054735"/>
            <a:ext cx="2706370" cy="10617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C65F9F2-01D9-47D7-A23D-424EE7198CAD}"/>
              </a:ext>
            </a:extLst>
          </p:cNvPr>
          <p:cNvSpPr>
            <a:spLocks xmlns:a="http://schemas.openxmlformats.org/drawingml/2006/main" noGrp="1"/>
          </p:cNvSpPr>
          <p:nvPr/>
        </p:nvSpPr>
        <p:spPr>
          <a:xfrm xmlns:a="http://schemas.openxmlformats.org/drawingml/2006/main">
            <a:off x="8178165" y="1054735"/>
            <a:ext cx="2706370" cy="10617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99256"/>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Tree>
    <p:extLst>
      <p:ext uri="{BB962C8B-B14F-4D97-AF65-F5344CB8AC3E}">
        <p14:creationId xmlns:p14="http://schemas.microsoft.com/office/powerpoint/2010/main" val="8333047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52892cc1dc745b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702AAF-1518-44D2-9E9F-6E679A933E78}"/>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FB953BA-9C27-4481-AD95-C760CE145F91}"/>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87F48639-EAB9-4D37-912D-3E46859C0A08}"/>
              </a:ext>
            </a:extLst>
          </p:cNvPr>
          <p:cNvSpPr>
            <a:spLocks xmlns:a="http://schemas.openxmlformats.org/drawingml/2006/main" noGrp="1"/>
          </p:cNvSpPr>
          <p:nvPr/>
        </p:nvSpPr>
        <p:spPr>
          <a:xfrm xmlns:a="http://schemas.openxmlformats.org/drawingml/2006/main">
            <a:off x="568960" y="1988820"/>
            <a:ext cx="6774180" cy="19926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08E6C1-B3A5-4B1B-B3A5-CF5B8FC3B28B}"/>
              </a:ext>
            </a:extLst>
          </p:cNvPr>
          <p:cNvSpPr>
            <a:spLocks xmlns:a="http://schemas.openxmlformats.org/drawingml/2006/main" noGrp="1"/>
          </p:cNvSpPr>
          <p:nvPr/>
        </p:nvSpPr>
        <p:spPr>
          <a:xfrm xmlns:a="http://schemas.openxmlformats.org/drawingml/2006/main">
            <a:off x="568960" y="1988820"/>
            <a:ext cx="6774180" cy="1992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What is traceability in Agriculture 4.0?</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Definition: the ability to track the movement of agricultural products throughout the supply chain, from farm to table.</a:t>
            </a:r>
          </a:p>
        </p:txBody>
      </p:sp>
    </p:spTree>
    <p:extLst>
      <p:ext uri="{BB962C8B-B14F-4D97-AF65-F5344CB8AC3E}">
        <p14:creationId xmlns:p14="http://schemas.microsoft.com/office/powerpoint/2010/main" val="120998833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a65746a6462460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B4BEC0-EEDD-40DC-81BF-E8FBDB21023F}"/>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FEA0E1-E2A6-4D94-8151-64D65DE5E961}"/>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19C0350B-200C-438D-BA8A-209C58C7FC64}"/>
              </a:ext>
            </a:extLst>
          </p:cNvPr>
          <p:cNvSpPr>
            <a:spLocks xmlns:a="http://schemas.openxmlformats.org/drawingml/2006/main" noGrp="1"/>
          </p:cNvSpPr>
          <p:nvPr/>
        </p:nvSpPr>
        <p:spPr>
          <a:xfrm xmlns:a="http://schemas.openxmlformats.org/drawingml/2006/main">
            <a:off x="568960" y="1988820"/>
            <a:ext cx="6777990" cy="14312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B42BFCB-EE7F-402F-924C-D9B5359853E1}"/>
              </a:ext>
            </a:extLst>
          </p:cNvPr>
          <p:cNvSpPr>
            <a:spLocks xmlns:a="http://schemas.openxmlformats.org/drawingml/2006/main" noGrp="1"/>
          </p:cNvSpPr>
          <p:nvPr/>
        </p:nvSpPr>
        <p:spPr>
          <a:xfrm xmlns:a="http://schemas.openxmlformats.org/drawingml/2006/main">
            <a:off x="568960" y="1988820"/>
            <a:ext cx="6777990" cy="143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Traceability is the ability to track the origin, movement, and transformation of products across every stage of production, processing, and distribution.</a:t>
            </a:r>
          </a:p>
        </p:txBody>
      </p:sp>
    </p:spTree>
    <p:extLst>
      <p:ext uri="{BB962C8B-B14F-4D97-AF65-F5344CB8AC3E}">
        <p14:creationId xmlns:p14="http://schemas.microsoft.com/office/powerpoint/2010/main" val="52008366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212bb7b19c7403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AC5E0E-507D-47FB-97CB-0AA6ECE52D04}"/>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744BA75-6419-4149-AECA-64EE7E40B8E6}"/>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91EEBD6D-3AFD-46C0-9309-30DFF43B6C75}"/>
              </a:ext>
            </a:extLst>
          </p:cNvPr>
          <p:cNvSpPr>
            <a:spLocks xmlns:a="http://schemas.openxmlformats.org/drawingml/2006/main" noGrp="1"/>
          </p:cNvSpPr>
          <p:nvPr/>
        </p:nvSpPr>
        <p:spPr>
          <a:xfrm xmlns:a="http://schemas.openxmlformats.org/drawingml/2006/main">
            <a:off x="568960" y="1988820"/>
            <a:ext cx="6638290" cy="1864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5DAE5AD-5B85-434B-B6A5-A0FED3774295}"/>
              </a:ext>
            </a:extLst>
          </p:cNvPr>
          <p:cNvSpPr>
            <a:spLocks xmlns:a="http://schemas.openxmlformats.org/drawingml/2006/main" noGrp="1"/>
          </p:cNvSpPr>
          <p:nvPr/>
        </p:nvSpPr>
        <p:spPr>
          <a:xfrm xmlns:a="http://schemas.openxmlformats.org/drawingml/2006/main">
            <a:off x="568960" y="1988820"/>
            <a:ext cx="6638290" cy="1864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Traceability builds consumer trust by providing transparent information about a product's journey.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It supports food safety, quality control, and compliance with regulatory requirements.</a:t>
            </a:r>
          </a:p>
        </p:txBody>
      </p:sp>
    </p:spTree>
    <p:extLst>
      <p:ext uri="{BB962C8B-B14F-4D97-AF65-F5344CB8AC3E}">
        <p14:creationId xmlns:p14="http://schemas.microsoft.com/office/powerpoint/2010/main" val="108618244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a387a5c26ce49d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D3E317-33D1-46FF-B716-6A4BD3B9BD49}"/>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145458-088B-4273-A99E-C78CE44DF6C0}"/>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C7BEFA5E-BFD5-4C80-80FF-FB42E99BE111}"/>
              </a:ext>
            </a:extLst>
          </p:cNvPr>
          <p:cNvSpPr>
            <a:spLocks xmlns:a="http://schemas.openxmlformats.org/drawingml/2006/main" noGrp="1"/>
          </p:cNvSpPr>
          <p:nvPr/>
        </p:nvSpPr>
        <p:spPr>
          <a:xfrm xmlns:a="http://schemas.openxmlformats.org/drawingml/2006/main">
            <a:off x="834390" y="1846580"/>
            <a:ext cx="10462260" cy="41770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836D6EC-9AF5-4FE5-BFA4-7F788A0C2603}"/>
              </a:ext>
            </a:extLst>
          </p:cNvPr>
          <p:cNvSpPr>
            <a:spLocks xmlns:a="http://schemas.openxmlformats.org/drawingml/2006/main" noGrp="1"/>
          </p:cNvSpPr>
          <p:nvPr/>
        </p:nvSpPr>
        <p:spPr>
          <a:xfrm xmlns:a="http://schemas.openxmlformats.org/drawingml/2006/main">
            <a:off x="834390" y="1846580"/>
            <a:ext cx="10462260" cy="41770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0">
                <a:solidFill>
                  <a:srgbClr val="111111"/>
                </a:solidFill>
              </a:defRPr>
            </a:pPr>
            <a:r>
              <a:rPr sz="1500" b="0">
                <a:solidFill>
                  <a:srgbClr val="111111"/>
                </a:solidFill>
              </a:rPr>
              <a:t>• ISO 22005:2007 defines principles and requirements for food and feed traceability systems. It helps organizations:</a:t>
            </a:r>
          </a:p>
          <a:p xmlns:a="http://schemas.openxmlformats.org/drawingml/2006/main">
            <a:r>
              <a:t/>
            </a:r>
          </a:p>
          <a:p xmlns:a="http://schemas.openxmlformats.org/drawingml/2006/main">
            <a:pPr algn="l">
              <a:defRPr sz="1500" b="0">
                <a:solidFill>
                  <a:srgbClr val="111111"/>
                </a:solidFill>
              </a:defRPr>
            </a:pPr>
            <a:r>
              <a:rPr sz="1500" b="0">
                <a:solidFill>
                  <a:srgbClr val="111111"/>
                </a:solidFill>
              </a:rPr>
              <a:t>1. Track materials, ingredients, food, feed, and packaging;</a:t>
            </a:r>
          </a:p>
          <a:p xmlns:a="http://schemas.openxmlformats.org/drawingml/2006/main">
            <a:pPr algn="l">
              <a:defRPr sz="1500" b="0">
                <a:solidFill>
                  <a:srgbClr val="111111"/>
                </a:solidFill>
              </a:defRPr>
            </a:pPr>
            <a:r>
              <a:rPr sz="1500" b="0">
                <a:solidFill>
                  <a:srgbClr val="111111"/>
                </a:solidFill>
              </a:rPr>
              <a:t>2. Identify the documentation required at each production stage;</a:t>
            </a:r>
          </a:p>
          <a:p xmlns:a="http://schemas.openxmlformats.org/drawingml/2006/main">
            <a:pPr algn="l">
              <a:defRPr sz="1500" b="0">
                <a:solidFill>
                  <a:srgbClr val="111111"/>
                </a:solidFill>
              </a:defRPr>
            </a:pPr>
            <a:r>
              <a:rPr sz="1500" b="0">
                <a:solidFill>
                  <a:srgbClr val="111111"/>
                </a:solidFill>
              </a:rPr>
              <a:t>3. Coordinate actors across the chain;</a:t>
            </a:r>
          </a:p>
          <a:p xmlns:a="http://schemas.openxmlformats.org/drawingml/2006/main">
            <a:pPr algn="l">
              <a:defRPr sz="1500" b="0">
                <a:solidFill>
                  <a:srgbClr val="111111"/>
                </a:solidFill>
              </a:defRPr>
            </a:pPr>
            <a:r>
              <a:rPr sz="1500" b="0">
                <a:solidFill>
                  <a:srgbClr val="111111"/>
                </a:solidFill>
              </a:rPr>
              <a:t>4. Improve communication among stakeholders;</a:t>
            </a:r>
          </a:p>
          <a:p xmlns:a="http://schemas.openxmlformats.org/drawingml/2006/main">
            <a:pPr algn="l">
              <a:defRPr sz="1500" b="0">
                <a:solidFill>
                  <a:srgbClr val="111111"/>
                </a:solidFill>
              </a:defRPr>
            </a:pPr>
            <a:r>
              <a:rPr sz="1500" b="0">
                <a:solidFill>
                  <a:srgbClr val="111111"/>
                </a:solidFill>
              </a:rPr>
              <a:t>5. Improve information reliability, effectiveness, and productivity.</a:t>
            </a:r>
          </a:p>
        </p:txBody>
      </p:sp>
    </p:spTree>
    <p:extLst>
      <p:ext uri="{BB962C8B-B14F-4D97-AF65-F5344CB8AC3E}">
        <p14:creationId xmlns:p14="http://schemas.microsoft.com/office/powerpoint/2010/main" val="52290112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7fcf637f35a477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DC6C2E-85BD-4ECA-9ED2-759A7B37BC18}"/>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7D6330-7BCC-4107-B28F-7DE8FB217BF4}"/>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B5FBAE9F-A862-41FE-A061-2E6B5BA38690}"/>
              </a:ext>
            </a:extLst>
          </p:cNvPr>
          <p:cNvSpPr>
            <a:spLocks xmlns:a="http://schemas.openxmlformats.org/drawingml/2006/main" noGrp="1"/>
          </p:cNvSpPr>
          <p:nvPr/>
        </p:nvSpPr>
        <p:spPr>
          <a:xfrm xmlns:a="http://schemas.openxmlformats.org/drawingml/2006/main">
            <a:off x="834390" y="1846580"/>
            <a:ext cx="10499090" cy="2167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682824-BCB0-4873-A4FD-4613E0B92ECB}"/>
              </a:ext>
            </a:extLst>
          </p:cNvPr>
          <p:cNvSpPr>
            <a:spLocks xmlns:a="http://schemas.openxmlformats.org/drawingml/2006/main" noGrp="1"/>
          </p:cNvSpPr>
          <p:nvPr/>
        </p:nvSpPr>
        <p:spPr>
          <a:xfrm xmlns:a="http://schemas.openxmlformats.org/drawingml/2006/main">
            <a:off x="834390" y="1846580"/>
            <a:ext cx="10499090" cy="2167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Food safety is a global concern because of recurring safety incidents.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African swine fever, avian influenza, bovine spongiform encephalopathy, foot-and-mouth disease, and microorganisms such as Salmonella have increased public and private attention to food attributes.</a:t>
            </a:r>
          </a:p>
        </p:txBody>
      </p:sp>
    </p:spTree>
    <p:extLst>
      <p:ext uri="{BB962C8B-B14F-4D97-AF65-F5344CB8AC3E}">
        <p14:creationId xmlns:p14="http://schemas.microsoft.com/office/powerpoint/2010/main" val="147299764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672a2ec45fd420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B0B06E6-3D91-4AA9-AE47-E630CA8717E9}"/>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5BAC632-BD04-4721-AB0D-04FDE5FAE400}"/>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C5BE249A-B6F4-4087-813D-095E8B7580DC}"/>
              </a:ext>
            </a:extLst>
          </p:cNvPr>
          <p:cNvSpPr>
            <a:spLocks xmlns:a="http://schemas.openxmlformats.org/drawingml/2006/main" noGrp="1"/>
          </p:cNvSpPr>
          <p:nvPr/>
        </p:nvSpPr>
        <p:spPr>
          <a:xfrm xmlns:a="http://schemas.openxmlformats.org/drawingml/2006/main">
            <a:off x="834390" y="1846580"/>
            <a:ext cx="10467340" cy="14338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31ADBD0-6BED-415D-91A0-A5F6AED92E9B}"/>
              </a:ext>
            </a:extLst>
          </p:cNvPr>
          <p:cNvSpPr>
            <a:spLocks xmlns:a="http://schemas.openxmlformats.org/drawingml/2006/main" noGrp="1"/>
          </p:cNvSpPr>
          <p:nvPr/>
        </p:nvSpPr>
        <p:spPr>
          <a:xfrm xmlns:a="http://schemas.openxmlformats.org/drawingml/2006/main">
            <a:off x="834390" y="1846580"/>
            <a:ext cx="10467340" cy="1433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Effective traceability systems significantly reduce response time during animal- or plant-disease outbreaks by providing rapid access to reliable information about the source and location of affected products.</a:t>
            </a:r>
          </a:p>
        </p:txBody>
      </p:sp>
    </p:spTree>
    <p:extLst>
      <p:ext uri="{BB962C8B-B14F-4D97-AF65-F5344CB8AC3E}">
        <p14:creationId xmlns:p14="http://schemas.microsoft.com/office/powerpoint/2010/main" val="75622471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4f00aae92df400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8883B0-F436-452D-90FA-C57D951CBC07}"/>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76B6861-E11C-4895-A022-9D238D090D73}"/>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7C62C59C-3CF3-410D-A1BE-A1E65DBC3348}"/>
              </a:ext>
            </a:extLst>
          </p:cNvPr>
          <p:cNvSpPr>
            <a:spLocks xmlns:a="http://schemas.openxmlformats.org/drawingml/2006/main" noGrp="1"/>
          </p:cNvSpPr>
          <p:nvPr/>
        </p:nvSpPr>
        <p:spPr>
          <a:xfrm xmlns:a="http://schemas.openxmlformats.org/drawingml/2006/main">
            <a:off x="834390" y="1846580"/>
            <a:ext cx="10270490" cy="25882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C6D8162-B519-47B3-9212-6EB825DAC887}"/>
              </a:ext>
            </a:extLst>
          </p:cNvPr>
          <p:cNvSpPr>
            <a:spLocks xmlns:a="http://schemas.openxmlformats.org/drawingml/2006/main" noGrp="1"/>
          </p:cNvSpPr>
          <p:nvPr/>
        </p:nvSpPr>
        <p:spPr>
          <a:xfrm xmlns:a="http://schemas.openxmlformats.org/drawingml/2006/main">
            <a:off x="834390" y="1846580"/>
            <a:ext cx="10270490" cy="2588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Traceability strengthens prevention instead of relying only on reaction to food-safety violations.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Supported by ICT, traceability systems help companies monitor and manage risks in real time.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Better information also supports management decisions, market access, and lower operating costs.</a:t>
            </a:r>
          </a:p>
        </p:txBody>
      </p:sp>
    </p:spTree>
    <p:extLst>
      <p:ext uri="{BB962C8B-B14F-4D97-AF65-F5344CB8AC3E}">
        <p14:creationId xmlns:p14="http://schemas.microsoft.com/office/powerpoint/2010/main" val="154592212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72eb18809ee465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A25A16-2F07-4E0C-B958-8875541A083F}"/>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F3027C-E79B-4DF5-84E7-5A4EDC425E7B}"/>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63DE6FF5-80A4-47FE-BDAF-BA97109FBD5B}"/>
              </a:ext>
            </a:extLst>
          </p:cNvPr>
          <p:cNvSpPr>
            <a:spLocks xmlns:a="http://schemas.openxmlformats.org/drawingml/2006/main" noGrp="1"/>
          </p:cNvSpPr>
          <p:nvPr/>
        </p:nvSpPr>
        <p:spPr>
          <a:xfrm xmlns:a="http://schemas.openxmlformats.org/drawingml/2006/main">
            <a:off x="834390" y="1846580"/>
            <a:ext cx="10576560" cy="24599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9376E1-3998-4776-9169-18A73C629197}"/>
              </a:ext>
            </a:extLst>
          </p:cNvPr>
          <p:cNvSpPr>
            <a:spLocks xmlns:a="http://schemas.openxmlformats.org/drawingml/2006/main" noGrp="1"/>
          </p:cNvSpPr>
          <p:nvPr/>
        </p:nvSpPr>
        <p:spPr>
          <a:xfrm xmlns:a="http://schemas.openxmlformats.org/drawingml/2006/main">
            <a:off x="834390" y="1846580"/>
            <a:ext cx="10576560" cy="24599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Traceability visibility helps companies use resources and processes more effectively, improving long-term profitability.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Proper implementation can reduce obsolete-product losses and inventory levels, accelerate the identification of supplier or process problems, and improve logistics and distribution.</a:t>
            </a:r>
          </a:p>
        </p:txBody>
      </p:sp>
    </p:spTree>
    <p:extLst>
      <p:ext uri="{BB962C8B-B14F-4D97-AF65-F5344CB8AC3E}">
        <p14:creationId xmlns:p14="http://schemas.microsoft.com/office/powerpoint/2010/main" val="67550302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063091bd96e4b4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8E4281-0F14-4D0A-9775-30041FC5C541}"/>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0BE2C0-C69F-4069-8F1D-09226C63FD6C}"/>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9EA64BDC-56BB-44F2-8207-05FA631D7E45}"/>
              </a:ext>
            </a:extLst>
          </p:cNvPr>
          <p:cNvSpPr>
            <a:spLocks xmlns:a="http://schemas.openxmlformats.org/drawingml/2006/main" noGrp="1"/>
          </p:cNvSpPr>
          <p:nvPr/>
        </p:nvSpPr>
        <p:spPr>
          <a:xfrm xmlns:a="http://schemas.openxmlformats.org/drawingml/2006/main">
            <a:off x="834390" y="1846580"/>
            <a:ext cx="10519410" cy="24599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34014AB-63F4-46D7-A662-B3B25F791D18}"/>
              </a:ext>
            </a:extLst>
          </p:cNvPr>
          <p:cNvSpPr>
            <a:spLocks xmlns:a="http://schemas.openxmlformats.org/drawingml/2006/main" noGrp="1"/>
          </p:cNvSpPr>
          <p:nvPr/>
        </p:nvSpPr>
        <p:spPr>
          <a:xfrm xmlns:a="http://schemas.openxmlformats.org/drawingml/2006/main">
            <a:off x="834390" y="1846580"/>
            <a:ext cx="10519410" cy="24599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Greater customer confidence strengthens brands and brand value.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For premium products such as saffron, vanilla, cloves, cocoa, and other spices, traceability prevents contamination or mixing with lower-value goods and helps guarantee authenticity.</a:t>
            </a:r>
          </a:p>
        </p:txBody>
      </p:sp>
    </p:spTree>
    <p:extLst>
      <p:ext uri="{BB962C8B-B14F-4D97-AF65-F5344CB8AC3E}">
        <p14:creationId xmlns:p14="http://schemas.microsoft.com/office/powerpoint/2010/main" val="135366509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f885f631b9b422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5708BB-5598-48A8-8EB2-A8E1E501C1EB}"/>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E1C00EF-07B1-4EFD-9DB4-1B2F9548B815}"/>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37529E65-7CE3-4C3D-86A3-CBA8C9759789}"/>
              </a:ext>
            </a:extLst>
          </p:cNvPr>
          <p:cNvSpPr>
            <a:spLocks xmlns:a="http://schemas.openxmlformats.org/drawingml/2006/main" noGrp="1"/>
          </p:cNvSpPr>
          <p:nvPr/>
        </p:nvSpPr>
        <p:spPr>
          <a:xfrm xmlns:a="http://schemas.openxmlformats.org/drawingml/2006/main">
            <a:off x="834390" y="1846580"/>
            <a:ext cx="10099040" cy="27165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0E9118C-D34E-4668-A857-1939F8BCDCC8}"/>
              </a:ext>
            </a:extLst>
          </p:cNvPr>
          <p:cNvSpPr>
            <a:spLocks xmlns:a="http://schemas.openxmlformats.org/drawingml/2006/main" noGrp="1"/>
          </p:cNvSpPr>
          <p:nvPr/>
        </p:nvSpPr>
        <p:spPr>
          <a:xfrm xmlns:a="http://schemas.openxmlformats.org/drawingml/2006/main">
            <a:off x="834390" y="1846580"/>
            <a:ext cx="10099040" cy="2716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Basic characteristics of traceability systems: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Identification of units and batches for every ingredient and product;</a:t>
            </a:r>
          </a:p>
          <a:p xmlns:a="http://schemas.openxmlformats.org/drawingml/2006/main">
            <a:pPr algn="l">
              <a:defRPr sz="1650" b="0">
                <a:solidFill>
                  <a:srgbClr val="111111"/>
                </a:solidFill>
              </a:defRPr>
            </a:pPr>
            <a:r>
              <a:rPr sz="1650" b="0">
                <a:solidFill>
                  <a:srgbClr val="111111"/>
                </a:solidFill>
              </a:rPr>
              <a:t>• Records of when and where units or batches move or are transformed;</a:t>
            </a:r>
          </a:p>
          <a:p xmlns:a="http://schemas.openxmlformats.org/drawingml/2006/main">
            <a:pPr algn="l">
              <a:defRPr sz="1650" b="0">
                <a:solidFill>
                  <a:srgbClr val="111111"/>
                </a:solidFill>
              </a:defRPr>
            </a:pPr>
            <a:r>
              <a:rPr sz="1650" b="0">
                <a:solidFill>
                  <a:srgbClr val="111111"/>
                </a:solidFill>
              </a:rPr>
              <a:t>• A system that links these records and transfers relevant traceability data with the product to the next processing stage.</a:t>
            </a:r>
          </a:p>
        </p:txBody>
      </p:sp>
    </p:spTree>
    <p:extLst>
      <p:ext uri="{BB962C8B-B14F-4D97-AF65-F5344CB8AC3E}">
        <p14:creationId xmlns:p14="http://schemas.microsoft.com/office/powerpoint/2010/main" val="59989829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a2750ae98d3487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5F9201-75D3-4413-AA75-B10F37329154}"/>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8675AB-058A-4367-852B-83BDED2513B6}"/>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652EDDA9-5FA5-4898-A270-7F82AAE67696}"/>
              </a:ext>
            </a:extLst>
          </p:cNvPr>
          <p:cNvSpPr>
            <a:spLocks xmlns:a="http://schemas.openxmlformats.org/drawingml/2006/main" noGrp="1"/>
          </p:cNvSpPr>
          <p:nvPr/>
        </p:nvSpPr>
        <p:spPr>
          <a:xfrm xmlns:a="http://schemas.openxmlformats.org/drawingml/2006/main">
            <a:off x="834390" y="1846580"/>
            <a:ext cx="10548620" cy="37071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657780-E491-46BF-BC10-20E44BE39317}"/>
              </a:ext>
            </a:extLst>
          </p:cNvPr>
          <p:cNvSpPr>
            <a:spLocks xmlns:a="http://schemas.openxmlformats.org/drawingml/2006/main" noGrp="1"/>
          </p:cNvSpPr>
          <p:nvPr/>
        </p:nvSpPr>
        <p:spPr>
          <a:xfrm xmlns:a="http://schemas.openxmlformats.org/drawingml/2006/main">
            <a:off x="834390" y="1846580"/>
            <a:ext cx="10548620" cy="37071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Main factors affecting traceability effectiveness: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Supply-chain structure and organization;</a:t>
            </a:r>
          </a:p>
          <a:p xmlns:a="http://schemas.openxmlformats.org/drawingml/2006/main">
            <a:pPr algn="l">
              <a:defRPr sz="1650" b="0">
                <a:solidFill>
                  <a:srgbClr val="111111"/>
                </a:solidFill>
              </a:defRPr>
            </a:pPr>
            <a:r>
              <a:rPr sz="1650" b="0">
                <a:solidFill>
                  <a:srgbClr val="111111"/>
                </a:solidFill>
              </a:rPr>
              <a:t>• Collaboration among supply-chain actors;</a:t>
            </a:r>
          </a:p>
          <a:p xmlns:a="http://schemas.openxmlformats.org/drawingml/2006/main">
            <a:pPr algn="l">
              <a:defRPr sz="1650" b="0">
                <a:solidFill>
                  <a:srgbClr val="111111"/>
                </a:solidFill>
              </a:defRPr>
            </a:pPr>
            <a:r>
              <a:rPr sz="1650" b="0">
                <a:solidFill>
                  <a:srgbClr val="111111"/>
                </a:solidFill>
              </a:rPr>
              <a:t>• Number of actors with internal and external traceability;</a:t>
            </a:r>
          </a:p>
          <a:p xmlns:a="http://schemas.openxmlformats.org/drawingml/2006/main">
            <a:pPr algn="l">
              <a:defRPr sz="1650" b="0">
                <a:solidFill>
                  <a:srgbClr val="111111"/>
                </a:solidFill>
              </a:defRPr>
            </a:pPr>
            <a:r>
              <a:rPr sz="1650" b="0">
                <a:solidFill>
                  <a:srgbClr val="111111"/>
                </a:solidFill>
              </a:rPr>
              <a:t>• Ability to identify product origin;</a:t>
            </a:r>
          </a:p>
          <a:p xmlns:a="http://schemas.openxmlformats.org/drawingml/2006/main">
            <a:pPr algn="l">
              <a:defRPr sz="1650" b="0">
                <a:solidFill>
                  <a:srgbClr val="111111"/>
                </a:solidFill>
              </a:defRPr>
            </a:pPr>
            <a:r>
              <a:rPr sz="1650" b="0">
                <a:solidFill>
                  <a:srgbClr val="111111"/>
                </a:solidFill>
              </a:rPr>
              <a:t>• Ability to manage traceability systems;</a:t>
            </a:r>
          </a:p>
          <a:p xmlns:a="http://schemas.openxmlformats.org/drawingml/2006/main">
            <a:pPr algn="l">
              <a:defRPr sz="1650" b="0">
                <a:solidFill>
                  <a:srgbClr val="111111"/>
                </a:solidFill>
              </a:defRPr>
            </a:pPr>
            <a:r>
              <a:rPr sz="1650" b="0">
                <a:solidFill>
                  <a:srgbClr val="111111"/>
                </a:solidFill>
              </a:rPr>
              <a:t>• Compatibility among participants.</a:t>
            </a:r>
          </a:p>
        </p:txBody>
      </p:sp>
    </p:spTree>
    <p:extLst>
      <p:ext uri="{BB962C8B-B14F-4D97-AF65-F5344CB8AC3E}">
        <p14:creationId xmlns:p14="http://schemas.microsoft.com/office/powerpoint/2010/main" val="6568880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2546e49bafb405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2BE4FC-D3E6-4EC2-8317-77C0B0ECFDD4}"/>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B91D75-9473-4C32-ADCA-2C33E48EBEA3}"/>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5FBEBE0D-0E7F-471D-9581-BADFD7045A3C}"/>
              </a:ext>
            </a:extLst>
          </p:cNvPr>
          <p:cNvSpPr>
            <a:spLocks xmlns:a="http://schemas.openxmlformats.org/drawingml/2006/main" noGrp="1"/>
          </p:cNvSpPr>
          <p:nvPr/>
        </p:nvSpPr>
        <p:spPr>
          <a:xfrm xmlns:a="http://schemas.openxmlformats.org/drawingml/2006/main">
            <a:off x="834390" y="1846580"/>
            <a:ext cx="9952990" cy="2244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7113A6-8F73-40FB-BBAF-13F0E79836D5}"/>
              </a:ext>
            </a:extLst>
          </p:cNvPr>
          <p:cNvSpPr>
            <a:spLocks xmlns:a="http://schemas.openxmlformats.org/drawingml/2006/main" noGrp="1"/>
          </p:cNvSpPr>
          <p:nvPr/>
        </p:nvSpPr>
        <p:spPr>
          <a:xfrm xmlns:a="http://schemas.openxmlformats.org/drawingml/2006/main">
            <a:off x="834390" y="1846580"/>
            <a:ext cx="9952990" cy="2244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Main factors affecting traceability effectiveness: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Product destination;</a:t>
            </a:r>
          </a:p>
          <a:p xmlns:a="http://schemas.openxmlformats.org/drawingml/2006/main">
            <a:pPr algn="l">
              <a:defRPr sz="1650" b="0">
                <a:solidFill>
                  <a:srgbClr val="111111"/>
                </a:solidFill>
              </a:defRPr>
            </a:pPr>
            <a:r>
              <a:rPr sz="1650" b="0">
                <a:solidFill>
                  <a:srgbClr val="111111"/>
                </a:solidFill>
              </a:rPr>
              <a:t>• Identification of the traceable batch unit;</a:t>
            </a:r>
          </a:p>
          <a:p xmlns:a="http://schemas.openxmlformats.org/drawingml/2006/main">
            <a:pPr algn="l">
              <a:defRPr sz="1650" b="0">
                <a:solidFill>
                  <a:srgbClr val="111111"/>
                </a:solidFill>
              </a:defRPr>
            </a:pPr>
            <a:r>
              <a:rPr sz="1650" b="0">
                <a:solidFill>
                  <a:srgbClr val="111111"/>
                </a:solidFill>
              </a:rPr>
              <a:t>• Time required to trace a product;</a:t>
            </a:r>
          </a:p>
          <a:p xmlns:a="http://schemas.openxmlformats.org/drawingml/2006/main">
            <a:pPr algn="l">
              <a:defRPr sz="1650" b="0">
                <a:solidFill>
                  <a:srgbClr val="111111"/>
                </a:solidFill>
              </a:defRPr>
            </a:pPr>
            <a:r>
              <a:rPr sz="1650" b="0">
                <a:solidFill>
                  <a:srgbClr val="111111"/>
                </a:solidFill>
              </a:rPr>
              <a:t>• Credibility of the traceability method.</a:t>
            </a:r>
          </a:p>
        </p:txBody>
      </p:sp>
    </p:spTree>
    <p:extLst>
      <p:ext uri="{BB962C8B-B14F-4D97-AF65-F5344CB8AC3E}">
        <p14:creationId xmlns:p14="http://schemas.microsoft.com/office/powerpoint/2010/main" val="112200416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00f7b6ffed7408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4823CA-5392-4C4E-8A3A-8B1580E3DEE3}"/>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1998D9F-A089-447F-B56C-A6E0200E4A74}"/>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1A893D1B-20F8-483B-A3AF-42525CA97C78}"/>
              </a:ext>
            </a:extLst>
          </p:cNvPr>
          <p:cNvSpPr>
            <a:spLocks xmlns:a="http://schemas.openxmlformats.org/drawingml/2006/main" noGrp="1"/>
          </p:cNvSpPr>
          <p:nvPr/>
        </p:nvSpPr>
        <p:spPr>
          <a:xfrm xmlns:a="http://schemas.openxmlformats.org/drawingml/2006/main">
            <a:off x="834390" y="1846580"/>
            <a:ext cx="10515600" cy="24244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BE50DB9-95A4-43AE-917A-80B8DAA954E9}"/>
              </a:ext>
            </a:extLst>
          </p:cNvPr>
          <p:cNvSpPr>
            <a:spLocks xmlns:a="http://schemas.openxmlformats.org/drawingml/2006/main" noGrp="1"/>
          </p:cNvSpPr>
          <p:nvPr/>
        </p:nvSpPr>
        <p:spPr>
          <a:xfrm xmlns:a="http://schemas.openxmlformats.org/drawingml/2006/main">
            <a:off x="834390" y="1846580"/>
            <a:ext cx="10515600" cy="24244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Main factors affecting traceability effectiveness: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Data-identification methods and data standards;</a:t>
            </a:r>
          </a:p>
          <a:p xmlns:a="http://schemas.openxmlformats.org/drawingml/2006/main">
            <a:pPr algn="l">
              <a:defRPr sz="1650" b="0">
                <a:solidFill>
                  <a:srgbClr val="111111"/>
                </a:solidFill>
              </a:defRPr>
            </a:pPr>
            <a:r>
              <a:rPr sz="1650" b="0">
                <a:solidFill>
                  <a:srgbClr val="111111"/>
                </a:solidFill>
              </a:rPr>
              <a:t>• Integration with existing information-management and quality- or safety-assurance systems;</a:t>
            </a:r>
          </a:p>
          <a:p xmlns:a="http://schemas.openxmlformats.org/drawingml/2006/main">
            <a:pPr algn="l">
              <a:defRPr sz="1650" b="0">
                <a:solidFill>
                  <a:srgbClr val="111111"/>
                </a:solidFill>
              </a:defRPr>
            </a:pPr>
            <a:r>
              <a:rPr sz="1650" b="0">
                <a:solidFill>
                  <a:srgbClr val="111111"/>
                </a:solidFill>
              </a:rPr>
              <a:t>• Traceability legislation.</a:t>
            </a:r>
          </a:p>
        </p:txBody>
      </p:sp>
    </p:spTree>
    <p:extLst>
      <p:ext uri="{BB962C8B-B14F-4D97-AF65-F5344CB8AC3E}">
        <p14:creationId xmlns:p14="http://schemas.microsoft.com/office/powerpoint/2010/main" val="167392621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d18efa2ba42443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994E45-AA52-4949-A688-6E125E904280}"/>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042A8AD-3882-4234-920E-54C7FE9BAFA8}"/>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58651ECD-6522-46AA-98CB-BBAFD00C59E7}"/>
              </a:ext>
            </a:extLst>
          </p:cNvPr>
          <p:cNvSpPr>
            <a:spLocks xmlns:a="http://schemas.openxmlformats.org/drawingml/2006/main" noGrp="1"/>
          </p:cNvSpPr>
          <p:nvPr/>
        </p:nvSpPr>
        <p:spPr>
          <a:xfrm xmlns:a="http://schemas.openxmlformats.org/drawingml/2006/main">
            <a:off x="568960" y="1985010"/>
            <a:ext cx="6506210" cy="42443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492892C-2C3A-4E01-B64D-F1BC50EFD0F3}"/>
              </a:ext>
            </a:extLst>
          </p:cNvPr>
          <p:cNvSpPr>
            <a:spLocks xmlns:a="http://schemas.openxmlformats.org/drawingml/2006/main" noGrp="1"/>
          </p:cNvSpPr>
          <p:nvPr/>
        </p:nvSpPr>
        <p:spPr>
          <a:xfrm xmlns:a="http://schemas.openxmlformats.org/drawingml/2006/main">
            <a:off x="568960" y="1985010"/>
            <a:ext cx="6506210" cy="42443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Key components: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Data collection and management using sensors and IoT devices.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Source: https://maritima.com/en/perishable-goods/</a:t>
            </a:r>
          </a:p>
        </p:txBody>
      </p:sp>
    </p:spTree>
    <p:extLst>
      <p:ext uri="{BB962C8B-B14F-4D97-AF65-F5344CB8AC3E}">
        <p14:creationId xmlns:p14="http://schemas.microsoft.com/office/powerpoint/2010/main" val="20983634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e4775a75dbb489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A0BADB-0F8E-4D5C-A31F-CF29542F00EE}"/>
              </a:ext>
            </a:extLst>
          </p:cNvPr>
          <p:cNvSpPr>
            <a:spLocks xmlns:a="http://schemas.openxmlformats.org/drawingml/2006/main" noGrp="1"/>
          </p:cNvSpPr>
          <p:nvPr/>
        </p:nvSpPr>
        <p:spPr>
          <a:xfrm xmlns:a="http://schemas.openxmlformats.org/drawingml/2006/main">
            <a:off x="862965" y="611505"/>
            <a:ext cx="8484870" cy="939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439A1F0-C7F2-41EB-B9D3-B6A7A3557BCB}"/>
              </a:ext>
            </a:extLst>
          </p:cNvPr>
          <p:cNvSpPr>
            <a:spLocks xmlns:a="http://schemas.openxmlformats.org/drawingml/2006/main" noGrp="1"/>
          </p:cNvSpPr>
          <p:nvPr/>
        </p:nvSpPr>
        <p:spPr>
          <a:xfrm xmlns:a="http://schemas.openxmlformats.org/drawingml/2006/main">
            <a:off x="862965" y="611505"/>
            <a:ext cx="8484870" cy="93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6346081F-8AF2-4789-8DDC-095F257E7FF8}"/>
              </a:ext>
            </a:extLst>
          </p:cNvPr>
          <p:cNvSpPr>
            <a:spLocks xmlns:a="http://schemas.openxmlformats.org/drawingml/2006/main" noGrp="1"/>
          </p:cNvSpPr>
          <p:nvPr/>
        </p:nvSpPr>
        <p:spPr>
          <a:xfrm xmlns:a="http://schemas.openxmlformats.org/drawingml/2006/main">
            <a:off x="2376805" y="1942465"/>
            <a:ext cx="8718550" cy="969010"/>
          </a:xfrm>
          <a:prstGeom xmlns:a="http://schemas.openxmlformats.org/drawingml/2006/main" prst="rect">
            <a:avLst/>
          </a:prstGeom>
          <a:solidFill xmlns:a="http://schemas.openxmlformats.org/drawingml/2006/main">
            <a:srgbClr val="146F2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37F7C09-38BD-47FD-975F-1CB498669E94}"/>
              </a:ext>
            </a:extLst>
          </p:cNvPr>
          <p:cNvSpPr>
            <a:spLocks xmlns:a="http://schemas.openxmlformats.org/drawingml/2006/main" noGrp="1"/>
          </p:cNvSpPr>
          <p:nvPr/>
        </p:nvSpPr>
        <p:spPr>
          <a:xfrm xmlns:a="http://schemas.openxmlformats.org/drawingml/2006/main">
            <a:off x="2376805" y="1942465"/>
            <a:ext cx="8718550" cy="9690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350" b="0">
                <a:solidFill>
                  <a:srgbClr val="FFFFFF"/>
                </a:solidFill>
              </a:defRPr>
            </a:pPr>
            <a:r>
              <a:rPr sz="1350" b="0">
                <a:solidFill>
                  <a:srgbClr val="FFFFFF"/>
                </a:solidFill>
              </a:rPr>
              <a:t>Temperature sensors monitor conditions inside the food truck and ensure perishable items remain at safe temperatures.</a:t>
            </a:r>
          </a:p>
        </p:txBody>
      </p:sp>
      <p:sp>
        <p:nvSpPr>
          <p:cNvPr id="6" name="">
            <a:extLst xmlns:a="http://schemas.openxmlformats.org/drawingml/2006/main">
              <a:ext uri="{FF2B5EF4-FFF2-40B4-BE49-F238E27FC236}">
                <a16:creationId xmlns:a16="http://schemas.microsoft.com/office/drawing/2014/main" id="{DF74104C-6F9B-4FED-AB40-007ED827F019}"/>
              </a:ext>
            </a:extLst>
          </p:cNvPr>
          <p:cNvSpPr>
            <a:spLocks xmlns:a="http://schemas.openxmlformats.org/drawingml/2006/main" noGrp="1"/>
          </p:cNvSpPr>
          <p:nvPr/>
        </p:nvSpPr>
        <p:spPr>
          <a:xfrm xmlns:a="http://schemas.openxmlformats.org/drawingml/2006/main">
            <a:off x="2376805" y="3496945"/>
            <a:ext cx="8746490" cy="969010"/>
          </a:xfrm>
          <a:prstGeom xmlns:a="http://schemas.openxmlformats.org/drawingml/2006/main" prst="rect">
            <a:avLst/>
          </a:prstGeom>
          <a:solidFill xmlns:a="http://schemas.openxmlformats.org/drawingml/2006/main">
            <a:srgbClr val="146F2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D21C7F-D663-443E-B839-C397B2867C49}"/>
              </a:ext>
            </a:extLst>
          </p:cNvPr>
          <p:cNvSpPr>
            <a:spLocks xmlns:a="http://schemas.openxmlformats.org/drawingml/2006/main" noGrp="1"/>
          </p:cNvSpPr>
          <p:nvPr/>
        </p:nvSpPr>
        <p:spPr>
          <a:xfrm xmlns:a="http://schemas.openxmlformats.org/drawingml/2006/main">
            <a:off x="2376805" y="3496945"/>
            <a:ext cx="8746490" cy="9690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350" b="0">
                <a:solidFill>
                  <a:srgbClr val="FFFFFF"/>
                </a:solidFill>
              </a:defRPr>
            </a:pPr>
            <a:r>
              <a:rPr sz="1350" b="0">
                <a:solidFill>
                  <a:srgbClr val="FFFFFF"/>
                </a:solidFill>
              </a:rPr>
              <a:t>Proximity sensors detect nearby objects or people and can prevent door collisions or activate lighting.</a:t>
            </a:r>
          </a:p>
        </p:txBody>
      </p:sp>
      <p:sp>
        <p:nvSpPr>
          <p:cNvPr id="8" name="">
            <a:extLst xmlns:a="http://schemas.openxmlformats.org/drawingml/2006/main">
              <a:ext uri="{FF2B5EF4-FFF2-40B4-BE49-F238E27FC236}">
                <a16:creationId xmlns:a16="http://schemas.microsoft.com/office/drawing/2014/main" id="{46197B8C-CE5A-4E58-98BA-7EAB5344AF8A}"/>
              </a:ext>
            </a:extLst>
          </p:cNvPr>
          <p:cNvSpPr>
            <a:spLocks xmlns:a="http://schemas.openxmlformats.org/drawingml/2006/main" noGrp="1"/>
          </p:cNvSpPr>
          <p:nvPr/>
        </p:nvSpPr>
        <p:spPr>
          <a:xfrm xmlns:a="http://schemas.openxmlformats.org/drawingml/2006/main">
            <a:off x="2376805" y="5051425"/>
            <a:ext cx="8839200" cy="969010"/>
          </a:xfrm>
          <a:prstGeom xmlns:a="http://schemas.openxmlformats.org/drawingml/2006/main" prst="rect">
            <a:avLst/>
          </a:prstGeom>
          <a:solidFill xmlns:a="http://schemas.openxmlformats.org/drawingml/2006/main">
            <a:srgbClr val="146F2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4FDD426-1B74-4810-9370-111E346A5B1D}"/>
              </a:ext>
            </a:extLst>
          </p:cNvPr>
          <p:cNvSpPr>
            <a:spLocks xmlns:a="http://schemas.openxmlformats.org/drawingml/2006/main" noGrp="1"/>
          </p:cNvSpPr>
          <p:nvPr/>
        </p:nvSpPr>
        <p:spPr>
          <a:xfrm xmlns:a="http://schemas.openxmlformats.org/drawingml/2006/main">
            <a:off x="2376805" y="5051425"/>
            <a:ext cx="8839200" cy="9690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350" b="0">
                <a:solidFill>
                  <a:srgbClr val="FFFFFF"/>
                </a:solidFill>
              </a:defRPr>
            </a:pPr>
            <a:r>
              <a:rPr sz="1350" b="0">
                <a:solidFill>
                  <a:srgbClr val="FFFFFF"/>
                </a:solidFill>
              </a:rPr>
              <a:t>Gas sensors detect hazardous gases such as propane or carbon monoxide; ventilation and leak detection are essential for safety.</a:t>
            </a:r>
          </a:p>
        </p:txBody>
      </p:sp>
    </p:spTree>
    <p:extLst>
      <p:ext uri="{BB962C8B-B14F-4D97-AF65-F5344CB8AC3E}">
        <p14:creationId xmlns:p14="http://schemas.microsoft.com/office/powerpoint/2010/main" val="146255652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29576c1404d40c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6CE5E1-73E5-4D1D-9328-4E8EC45D58CD}"/>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99A2E5-035F-44BB-8901-CC54D96A3E87}"/>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7C59DDE1-1C1F-42B8-BCB8-552BC7FD023F}"/>
              </a:ext>
            </a:extLst>
          </p:cNvPr>
          <p:cNvSpPr>
            <a:spLocks xmlns:a="http://schemas.openxmlformats.org/drawingml/2006/main" noGrp="1"/>
          </p:cNvSpPr>
          <p:nvPr/>
        </p:nvSpPr>
        <p:spPr>
          <a:xfrm xmlns:a="http://schemas.openxmlformats.org/drawingml/2006/main">
            <a:off x="834390" y="1846580"/>
            <a:ext cx="10528300" cy="2167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5D83E57-8346-412C-BF0B-DFAFB2CE8AE3}"/>
              </a:ext>
            </a:extLst>
          </p:cNvPr>
          <p:cNvSpPr>
            <a:spLocks xmlns:a="http://schemas.openxmlformats.org/drawingml/2006/main" noGrp="1"/>
          </p:cNvSpPr>
          <p:nvPr/>
        </p:nvSpPr>
        <p:spPr>
          <a:xfrm xmlns:a="http://schemas.openxmlformats.org/drawingml/2006/main">
            <a:off x="834390" y="1846580"/>
            <a:ext cx="10528300" cy="2167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Motion sensors detect movement for security, such as unauthorized entry, or to activate lights when someone enters the truck.</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Smoke detectors identify smoke particles and trigger alarms, helping prevent fires and protect occupants and the vehicle.</a:t>
            </a:r>
          </a:p>
        </p:txBody>
      </p:sp>
    </p:spTree>
    <p:extLst>
      <p:ext uri="{BB962C8B-B14F-4D97-AF65-F5344CB8AC3E}">
        <p14:creationId xmlns:p14="http://schemas.microsoft.com/office/powerpoint/2010/main" val="51274663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16b45574c80489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AFAA697-838A-4CD6-9707-84EB296D0E8E}"/>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DB372D-D4A0-4000-AF62-557CEE693288}"/>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5026FF4C-250E-4C8A-B02E-16EC1C1878DE}"/>
              </a:ext>
            </a:extLst>
          </p:cNvPr>
          <p:cNvSpPr>
            <a:spLocks xmlns:a="http://schemas.openxmlformats.org/drawingml/2006/main" noGrp="1"/>
          </p:cNvSpPr>
          <p:nvPr/>
        </p:nvSpPr>
        <p:spPr>
          <a:xfrm xmlns:a="http://schemas.openxmlformats.org/drawingml/2006/main">
            <a:off x="834390" y="1846580"/>
            <a:ext cx="10452100" cy="2167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0E490E-442C-41F4-8EC5-EE3E751D40C2}"/>
              </a:ext>
            </a:extLst>
          </p:cNvPr>
          <p:cNvSpPr>
            <a:spLocks xmlns:a="http://schemas.openxmlformats.org/drawingml/2006/main" noGrp="1"/>
          </p:cNvSpPr>
          <p:nvPr/>
        </p:nvSpPr>
        <p:spPr>
          <a:xfrm xmlns:a="http://schemas.openxmlformats.org/drawingml/2006/main">
            <a:off x="834390" y="1846580"/>
            <a:ext cx="10452100" cy="2167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Light sensors adjust illumination according to ambient conditions, saving energy by activating lights only when needed.</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Door and window sensors report whether openings are closed. They support security and climate control, such as switching off air conditioning when a door is open.</a:t>
            </a:r>
          </a:p>
        </p:txBody>
      </p:sp>
    </p:spTree>
    <p:extLst>
      <p:ext uri="{BB962C8B-B14F-4D97-AF65-F5344CB8AC3E}">
        <p14:creationId xmlns:p14="http://schemas.microsoft.com/office/powerpoint/2010/main" val="3924827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466faf312e445a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11755B-5B43-4E4A-B0E5-729F847BC925}"/>
              </a:ext>
            </a:extLst>
          </p:cNvPr>
          <p:cNvSpPr>
            <a:spLocks xmlns:a="http://schemas.openxmlformats.org/drawingml/2006/main" noGrp="1"/>
          </p:cNvSpPr>
          <p:nvPr/>
        </p:nvSpPr>
        <p:spPr>
          <a:xfrm xmlns:a="http://schemas.openxmlformats.org/drawingml/2006/main">
            <a:off x="664845" y="429895"/>
            <a:ext cx="4469130" cy="17043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B51D887-0791-4ED5-9C3B-737D3952051A}"/>
              </a:ext>
            </a:extLst>
          </p:cNvPr>
          <p:cNvSpPr>
            <a:spLocks xmlns:a="http://schemas.openxmlformats.org/drawingml/2006/main" noGrp="1"/>
          </p:cNvSpPr>
          <p:nvPr/>
        </p:nvSpPr>
        <p:spPr>
          <a:xfrm xmlns:a="http://schemas.openxmlformats.org/drawingml/2006/main">
            <a:off x="664845" y="429895"/>
            <a:ext cx="4469130" cy="17043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EBCB1145-181E-49BA-AF72-495B2BFB3C02}"/>
              </a:ext>
            </a:extLst>
          </p:cNvPr>
          <p:cNvSpPr>
            <a:spLocks xmlns:a="http://schemas.openxmlformats.org/drawingml/2006/main" noGrp="1"/>
          </p:cNvSpPr>
          <p:nvPr/>
        </p:nvSpPr>
        <p:spPr>
          <a:xfrm xmlns:a="http://schemas.openxmlformats.org/drawingml/2006/main">
            <a:off x="636270" y="2623820"/>
            <a:ext cx="6758940" cy="12534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3CF871C-10F1-458F-867E-9F68C385DA5F}"/>
              </a:ext>
            </a:extLst>
          </p:cNvPr>
          <p:cNvSpPr>
            <a:spLocks xmlns:a="http://schemas.openxmlformats.org/drawingml/2006/main" noGrp="1"/>
          </p:cNvSpPr>
          <p:nvPr/>
        </p:nvSpPr>
        <p:spPr>
          <a:xfrm xmlns:a="http://schemas.openxmlformats.org/drawingml/2006/main">
            <a:off x="636270" y="2623820"/>
            <a:ext cx="6758940" cy="12534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Key components: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Unique identification using barcodes, QR codes, and RFID tags.</a:t>
            </a:r>
          </a:p>
        </p:txBody>
      </p:sp>
    </p:spTree>
    <p:extLst>
      <p:ext uri="{BB962C8B-B14F-4D97-AF65-F5344CB8AC3E}">
        <p14:creationId xmlns:p14="http://schemas.microsoft.com/office/powerpoint/2010/main" val="143695733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32b441c4d6d4af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DBBC47B-70AC-4CB0-AEBB-81D62D6A7975}"/>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F6CAAF2-049B-4704-B014-165C4B702086}"/>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E22646FC-8878-4A14-A99E-CD684376CC7D}"/>
              </a:ext>
            </a:extLst>
          </p:cNvPr>
          <p:cNvSpPr>
            <a:spLocks xmlns:a="http://schemas.openxmlformats.org/drawingml/2006/main" noGrp="1"/>
          </p:cNvSpPr>
          <p:nvPr/>
        </p:nvSpPr>
        <p:spPr>
          <a:xfrm xmlns:a="http://schemas.openxmlformats.org/drawingml/2006/main">
            <a:off x="568960" y="1988820"/>
            <a:ext cx="6122670" cy="19926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7EEE0B-827E-4CCD-B409-099C0F918F63}"/>
              </a:ext>
            </a:extLst>
          </p:cNvPr>
          <p:cNvSpPr>
            <a:spLocks xmlns:a="http://schemas.openxmlformats.org/drawingml/2006/main" noGrp="1"/>
          </p:cNvSpPr>
          <p:nvPr/>
        </p:nvSpPr>
        <p:spPr>
          <a:xfrm xmlns:a="http://schemas.openxmlformats.org/drawingml/2006/main">
            <a:off x="568960" y="1988820"/>
            <a:ext cx="6122670" cy="1992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Key components: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Digital platforms for data sharing and analysis;</a:t>
            </a:r>
          </a:p>
          <a:p xmlns:a="http://schemas.openxmlformats.org/drawingml/2006/main">
            <a:pPr algn="l">
              <a:defRPr sz="1650" b="0">
                <a:solidFill>
                  <a:srgbClr val="111111"/>
                </a:solidFill>
              </a:defRPr>
            </a:pPr>
            <a:r>
              <a:rPr sz="1650" b="0">
                <a:solidFill>
                  <a:srgbClr val="111111"/>
                </a:solidFill>
              </a:rPr>
              <a:t>• Blockchain technology for stronger security and transparency.</a:t>
            </a:r>
          </a:p>
        </p:txBody>
      </p:sp>
    </p:spTree>
    <p:extLst>
      <p:ext uri="{BB962C8B-B14F-4D97-AF65-F5344CB8AC3E}">
        <p14:creationId xmlns:p14="http://schemas.microsoft.com/office/powerpoint/2010/main" val="68999039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adb43a52c044a2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8FE3F2-5624-486A-81BC-072627003B76}"/>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AF9F891-5A2B-4630-A590-C303C8376D62}"/>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EC812BC7-53BF-40F7-BB22-F8C681A80E25}"/>
              </a:ext>
            </a:extLst>
          </p:cNvPr>
          <p:cNvSpPr>
            <a:spLocks xmlns:a="http://schemas.openxmlformats.org/drawingml/2006/main" noGrp="1"/>
          </p:cNvSpPr>
          <p:nvPr/>
        </p:nvSpPr>
        <p:spPr>
          <a:xfrm xmlns:a="http://schemas.openxmlformats.org/drawingml/2006/main">
            <a:off x="834390" y="1846580"/>
            <a:ext cx="10410190" cy="35788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D621C2A-2464-4D61-93B4-9AB0E4365691}"/>
              </a:ext>
            </a:extLst>
          </p:cNvPr>
          <p:cNvSpPr>
            <a:spLocks xmlns:a="http://schemas.openxmlformats.org/drawingml/2006/main" noGrp="1"/>
          </p:cNvSpPr>
          <p:nvPr/>
        </p:nvSpPr>
        <p:spPr>
          <a:xfrm xmlns:a="http://schemas.openxmlformats.org/drawingml/2006/main">
            <a:off x="834390" y="1846580"/>
            <a:ext cx="10410190" cy="35788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Challenges and considerations: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Implementation cost may be a barrier for small producers;</a:t>
            </a:r>
          </a:p>
          <a:p xmlns:a="http://schemas.openxmlformats.org/drawingml/2006/main">
            <a:pPr algn="l">
              <a:defRPr sz="1650" b="0">
                <a:solidFill>
                  <a:srgbClr val="111111"/>
                </a:solidFill>
              </a:defRPr>
            </a:pPr>
            <a:r>
              <a:rPr sz="1650" b="0">
                <a:solidFill>
                  <a:srgbClr val="111111"/>
                </a:solidFill>
              </a:rPr>
              <a:t>• Data privacy and security are critical;</a:t>
            </a:r>
          </a:p>
          <a:p xmlns:a="http://schemas.openxmlformats.org/drawingml/2006/main">
            <a:pPr algn="l">
              <a:defRPr sz="1650" b="0">
                <a:solidFill>
                  <a:srgbClr val="111111"/>
                </a:solidFill>
              </a:defRPr>
            </a:pPr>
            <a:r>
              <a:rPr sz="1650" b="0">
                <a:solidFill>
                  <a:srgbClr val="111111"/>
                </a:solidFill>
              </a:rPr>
              <a:t>• Common standards are needed for data collection and sharing;</a:t>
            </a:r>
          </a:p>
          <a:p xmlns:a="http://schemas.openxmlformats.org/drawingml/2006/main">
            <a:pPr algn="l">
              <a:defRPr sz="1650" b="0">
                <a:solidFill>
                  <a:srgbClr val="111111"/>
                </a:solidFill>
              </a:defRPr>
            </a:pPr>
            <a:r>
              <a:rPr sz="1650" b="0">
                <a:solidFill>
                  <a:srgbClr val="111111"/>
                </a:solidFill>
              </a:rPr>
              <a:t>• Limited rural connectivity can hinder digital traceability solutions.</a:t>
            </a:r>
          </a:p>
        </p:txBody>
      </p:sp>
    </p:spTree>
    <p:extLst>
      <p:ext uri="{BB962C8B-B14F-4D97-AF65-F5344CB8AC3E}">
        <p14:creationId xmlns:p14="http://schemas.microsoft.com/office/powerpoint/2010/main" val="213418829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a22f662e49b4a2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783883-D391-4005-AA16-F4C0AB961574}"/>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DA69432-4FAF-461F-8A84-43C72763A58D}"/>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D4A8E33A-466B-497C-B949-C98B5BB61103}"/>
              </a:ext>
            </a:extLst>
          </p:cNvPr>
          <p:cNvSpPr>
            <a:spLocks xmlns:a="http://schemas.openxmlformats.org/drawingml/2006/main" noGrp="1"/>
          </p:cNvSpPr>
          <p:nvPr/>
        </p:nvSpPr>
        <p:spPr>
          <a:xfrm xmlns:a="http://schemas.openxmlformats.org/drawingml/2006/main">
            <a:off x="834390" y="1846580"/>
            <a:ext cx="10288270" cy="27165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6E7E91B-513E-4C23-A14F-2BEAE45300C8}"/>
              </a:ext>
            </a:extLst>
          </p:cNvPr>
          <p:cNvSpPr>
            <a:spLocks xmlns:a="http://schemas.openxmlformats.org/drawingml/2006/main" noGrp="1"/>
          </p:cNvSpPr>
          <p:nvPr/>
        </p:nvSpPr>
        <p:spPr>
          <a:xfrm xmlns:a="http://schemas.openxmlformats.org/drawingml/2006/main">
            <a:off x="834390" y="1846580"/>
            <a:ext cx="10288270" cy="2716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Traceability is a major enabler of Agriculture 4.0.</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Producers can increase efficiency, ensure food safety, and gain a competitive advantage.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Consumers gain transparency and can make informed food choices.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Traceability supports a more sustainable and transparent food system.</a:t>
            </a:r>
          </a:p>
        </p:txBody>
      </p:sp>
    </p:spTree>
    <p:extLst>
      <p:ext uri="{BB962C8B-B14F-4D97-AF65-F5344CB8AC3E}">
        <p14:creationId xmlns:p14="http://schemas.microsoft.com/office/powerpoint/2010/main" val="155380379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33e7e51c81648c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C49F2D8-9074-4986-BF6B-65D58B9D5D4D}"/>
              </a:ext>
            </a:extLst>
          </p:cNvPr>
          <p:cNvSpPr>
            <a:spLocks xmlns:a="http://schemas.openxmlformats.org/drawingml/2006/main" noGrp="1"/>
          </p:cNvSpPr>
          <p:nvPr/>
        </p:nvSpPr>
        <p:spPr>
          <a:xfrm xmlns:a="http://schemas.openxmlformats.org/drawingml/2006/main">
            <a:off x="663575" y="2901315"/>
            <a:ext cx="3429000" cy="13296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A53FA38-D2D1-492A-9FA5-D0251DECA5A2}"/>
              </a:ext>
            </a:extLst>
          </p:cNvPr>
          <p:cNvSpPr>
            <a:spLocks xmlns:a="http://schemas.openxmlformats.org/drawingml/2006/main" noGrp="1"/>
          </p:cNvSpPr>
          <p:nvPr/>
        </p:nvSpPr>
        <p:spPr>
          <a:xfrm xmlns:a="http://schemas.openxmlformats.org/drawingml/2006/main">
            <a:off x="663575" y="2901315"/>
            <a:ext cx="3429000" cy="13296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2C5340FD-FADA-4182-81CE-642CAC03912F}"/>
              </a:ext>
            </a:extLst>
          </p:cNvPr>
          <p:cNvSpPr>
            <a:spLocks xmlns:a="http://schemas.openxmlformats.org/drawingml/2006/main" noGrp="1"/>
          </p:cNvSpPr>
          <p:nvPr/>
        </p:nvSpPr>
        <p:spPr>
          <a:xfrm xmlns:a="http://schemas.openxmlformats.org/drawingml/2006/main">
            <a:off x="635000" y="4546600"/>
            <a:ext cx="3623310" cy="14338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3DB883-08A2-4A4F-86FA-990DD997C906}"/>
              </a:ext>
            </a:extLst>
          </p:cNvPr>
          <p:cNvSpPr>
            <a:spLocks xmlns:a="http://schemas.openxmlformats.org/drawingml/2006/main" noGrp="1"/>
          </p:cNvSpPr>
          <p:nvPr/>
        </p:nvSpPr>
        <p:spPr>
          <a:xfrm xmlns:a="http://schemas.openxmlformats.org/drawingml/2006/main">
            <a:off x="635000" y="4546600"/>
            <a:ext cx="3623310" cy="1433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In agriculture, blockchain creates an immutable record of every stage in the supply chain.</a:t>
            </a:r>
          </a:p>
        </p:txBody>
      </p:sp>
    </p:spTree>
    <p:extLst>
      <p:ext uri="{BB962C8B-B14F-4D97-AF65-F5344CB8AC3E}">
        <p14:creationId xmlns:p14="http://schemas.microsoft.com/office/powerpoint/2010/main" val="74057679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ae1c6e41099473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09281C-4792-407A-8B57-FD3214E6AC75}"/>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367FCE-A771-461C-8AB6-9A132A9CF573}"/>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E066CB4A-21D5-4EFD-A5D2-768F3EDE9560}"/>
              </a:ext>
            </a:extLst>
          </p:cNvPr>
          <p:cNvSpPr>
            <a:spLocks xmlns:a="http://schemas.openxmlformats.org/drawingml/2006/main" noGrp="1"/>
          </p:cNvSpPr>
          <p:nvPr/>
        </p:nvSpPr>
        <p:spPr>
          <a:xfrm xmlns:a="http://schemas.openxmlformats.org/drawingml/2006/main">
            <a:off x="834390" y="1846580"/>
            <a:ext cx="10134600" cy="30213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2A98A44-5286-41CF-8DF3-68EF55DA9ED6}"/>
              </a:ext>
            </a:extLst>
          </p:cNvPr>
          <p:cNvSpPr>
            <a:spLocks xmlns:a="http://schemas.openxmlformats.org/drawingml/2006/main" noGrp="1"/>
          </p:cNvSpPr>
          <p:nvPr/>
        </p:nvSpPr>
        <p:spPr>
          <a:xfrm xmlns:a="http://schemas.openxmlformats.org/drawingml/2006/main">
            <a:off x="834390" y="1846580"/>
            <a:ext cx="10134600" cy="30213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How blockchain improves traceability in Agriculture 4.0:</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Immutable records: planting, harvesting, processing, transportation, and sales are recorded as tamper-resistant blocks that cannot be erased or changed.</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Transparency: authorized participants access the same information, increasing visibility and trust.</a:t>
            </a:r>
          </a:p>
        </p:txBody>
      </p:sp>
    </p:spTree>
    <p:extLst>
      <p:ext uri="{BB962C8B-B14F-4D97-AF65-F5344CB8AC3E}">
        <p14:creationId xmlns:p14="http://schemas.microsoft.com/office/powerpoint/2010/main" val="26897529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b9d418791b5431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ED01B0-08CC-422D-A9D6-F52369A5DC80}"/>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D51F8C-D3E2-4175-A585-91CF96837938}"/>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9BD5F8BF-D154-4C65-943F-FCF8AB306424}"/>
              </a:ext>
            </a:extLst>
          </p:cNvPr>
          <p:cNvSpPr>
            <a:spLocks xmlns:a="http://schemas.openxmlformats.org/drawingml/2006/main" noGrp="1"/>
          </p:cNvSpPr>
          <p:nvPr/>
        </p:nvSpPr>
        <p:spPr>
          <a:xfrm xmlns:a="http://schemas.openxmlformats.org/drawingml/2006/main">
            <a:off x="834390" y="1846580"/>
            <a:ext cx="10574020" cy="30213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26A68F6-73EA-4EF0-8365-F8D5AF2923A3}"/>
              </a:ext>
            </a:extLst>
          </p:cNvPr>
          <p:cNvSpPr>
            <a:spLocks xmlns:a="http://schemas.openxmlformats.org/drawingml/2006/main" noGrp="1"/>
          </p:cNvSpPr>
          <p:nvPr/>
        </p:nvSpPr>
        <p:spPr>
          <a:xfrm xmlns:a="http://schemas.openxmlformats.org/drawingml/2006/main">
            <a:off x="834390" y="1846580"/>
            <a:ext cx="10574020" cy="30213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How blockchain improves traceability in Agriculture 4.0:</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Improved food safety: contamination or quality issues can be traced rapidly, enabling targeted recalls and lower risk.</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Efficiency and cost reduction: blockchain reduces intermediaries and manual data entry, streamlining processes across the supply chain.</a:t>
            </a:r>
          </a:p>
        </p:txBody>
      </p:sp>
    </p:spTree>
    <p:extLst>
      <p:ext uri="{BB962C8B-B14F-4D97-AF65-F5344CB8AC3E}">
        <p14:creationId xmlns:p14="http://schemas.microsoft.com/office/powerpoint/2010/main" val="91604891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e5fe018c22d444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67AFEF-86C0-417A-B9C9-43A94665CB7A}"/>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36F95A-B9F6-4A1C-B8E2-DD85D4C119C3}"/>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0A1EC29C-D3AD-4A49-89B3-02698054E846}"/>
              </a:ext>
            </a:extLst>
          </p:cNvPr>
          <p:cNvSpPr>
            <a:spLocks xmlns:a="http://schemas.openxmlformats.org/drawingml/2006/main" noGrp="1"/>
          </p:cNvSpPr>
          <p:nvPr/>
        </p:nvSpPr>
        <p:spPr>
          <a:xfrm xmlns:a="http://schemas.openxmlformats.org/drawingml/2006/main">
            <a:off x="834390" y="1846580"/>
            <a:ext cx="10379710" cy="2167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D62B1C9-6592-41F4-B0A6-5CFD844A4328}"/>
              </a:ext>
            </a:extLst>
          </p:cNvPr>
          <p:cNvSpPr>
            <a:spLocks xmlns:a="http://schemas.openxmlformats.org/drawingml/2006/main" noGrp="1"/>
          </p:cNvSpPr>
          <p:nvPr/>
        </p:nvSpPr>
        <p:spPr>
          <a:xfrm xmlns:a="http://schemas.openxmlformats.org/drawingml/2006/main">
            <a:off x="834390" y="1846580"/>
            <a:ext cx="10379710" cy="2167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Proof of origin and authenticity: consumers can verify where products came from, supporting fair trade and ethical producers.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Sustainability and compliance: blockchain can track sustainable practices, certifications, and regulatory compliance, promoting responsible agriculture.</a:t>
            </a:r>
          </a:p>
        </p:txBody>
      </p:sp>
    </p:spTree>
    <p:extLst>
      <p:ext uri="{BB962C8B-B14F-4D97-AF65-F5344CB8AC3E}">
        <p14:creationId xmlns:p14="http://schemas.microsoft.com/office/powerpoint/2010/main" val="64353024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c1f8f7e36a5459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228F3A-E0F2-48A9-AD7A-B39738BB139F}"/>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C09A535-A359-4B0D-9C43-E4328BED4C1D}"/>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92C06937-DA92-4629-8ADC-18D7C9F46B7E}"/>
              </a:ext>
            </a:extLst>
          </p:cNvPr>
          <p:cNvSpPr>
            <a:spLocks xmlns:a="http://schemas.openxmlformats.org/drawingml/2006/main" noGrp="1"/>
          </p:cNvSpPr>
          <p:nvPr/>
        </p:nvSpPr>
        <p:spPr>
          <a:xfrm xmlns:a="http://schemas.openxmlformats.org/drawingml/2006/main">
            <a:off x="834390" y="1846580"/>
            <a:ext cx="7795260" cy="26771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F69FD2A-B845-40A1-AFB0-23625592647E}"/>
              </a:ext>
            </a:extLst>
          </p:cNvPr>
          <p:cNvSpPr>
            <a:spLocks xmlns:a="http://schemas.openxmlformats.org/drawingml/2006/main" noGrp="1"/>
          </p:cNvSpPr>
          <p:nvPr/>
        </p:nvSpPr>
        <p:spPr>
          <a:xfrm xmlns:a="http://schemas.openxmlformats.org/drawingml/2006/main">
            <a:off x="834390" y="1846580"/>
            <a:ext cx="7795260" cy="2677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Real-world examples of Agriculture 4.0 traceability: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IBM Food Trust;</a:t>
            </a:r>
          </a:p>
          <a:p xmlns:a="http://schemas.openxmlformats.org/drawingml/2006/main">
            <a:pPr algn="l">
              <a:defRPr sz="1650" b="0">
                <a:solidFill>
                  <a:srgbClr val="111111"/>
                </a:solidFill>
              </a:defRPr>
            </a:pPr>
            <a:r>
              <a:rPr sz="1650" b="0">
                <a:solidFill>
                  <a:srgbClr val="111111"/>
                </a:solidFill>
              </a:rPr>
              <a:t>• AgTrace;</a:t>
            </a:r>
          </a:p>
          <a:p xmlns:a="http://schemas.openxmlformats.org/drawingml/2006/main">
            <a:pPr algn="l">
              <a:defRPr sz="1650" b="0">
                <a:solidFill>
                  <a:srgbClr val="111111"/>
                </a:solidFill>
              </a:defRPr>
            </a:pPr>
            <a:r>
              <a:rPr sz="1650" b="0">
                <a:solidFill>
                  <a:srgbClr val="111111"/>
                </a:solidFill>
              </a:rPr>
              <a:t>• Wholechain;</a:t>
            </a:r>
          </a:p>
          <a:p xmlns:a="http://schemas.openxmlformats.org/drawingml/2006/main">
            <a:pPr algn="l">
              <a:defRPr sz="1650" b="0">
                <a:solidFill>
                  <a:srgbClr val="111111"/>
                </a:solidFill>
              </a:defRPr>
            </a:pPr>
            <a:r>
              <a:rPr sz="1650" b="0">
                <a:solidFill>
                  <a:srgbClr val="111111"/>
                </a:solidFill>
              </a:rPr>
              <a:t>• Brazil's ConectarAGRO initiative.</a:t>
            </a:r>
          </a:p>
        </p:txBody>
      </p:sp>
    </p:spTree>
    <p:extLst>
      <p:ext uri="{BB962C8B-B14F-4D97-AF65-F5344CB8AC3E}">
        <p14:creationId xmlns:p14="http://schemas.microsoft.com/office/powerpoint/2010/main" val="182068632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a918aae972c450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1552B69-51CA-498F-9824-590D229BFAA6}"/>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514E81-F10C-48B6-AF82-95C1239525DC}"/>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F72BAB27-D38E-49A0-BF8E-91B2D941053D}"/>
              </a:ext>
            </a:extLst>
          </p:cNvPr>
          <p:cNvSpPr>
            <a:spLocks xmlns:a="http://schemas.openxmlformats.org/drawingml/2006/main" noGrp="1"/>
          </p:cNvSpPr>
          <p:nvPr/>
        </p:nvSpPr>
        <p:spPr>
          <a:xfrm xmlns:a="http://schemas.openxmlformats.org/drawingml/2006/main">
            <a:off x="568960" y="1988820"/>
            <a:ext cx="6706870" cy="24612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F04EA07-C7FA-44DB-883A-9DEA77A287C4}"/>
              </a:ext>
            </a:extLst>
          </p:cNvPr>
          <p:cNvSpPr>
            <a:spLocks xmlns:a="http://schemas.openxmlformats.org/drawingml/2006/main" noGrp="1"/>
          </p:cNvSpPr>
          <p:nvPr/>
        </p:nvSpPr>
        <p:spPr>
          <a:xfrm xmlns:a="http://schemas.openxmlformats.org/drawingml/2006/main">
            <a:off x="568960" y="1988820"/>
            <a:ext cx="6706870" cy="2461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IBM Food Trust is a blockchain-based platform designed to improve visibility and accountability throughout the food supply chain.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It connects producers, processors, distributors, manufacturers, retailers, and other participants in a collaborative network.</a:t>
            </a:r>
          </a:p>
        </p:txBody>
      </p:sp>
    </p:spTree>
    <p:extLst>
      <p:ext uri="{BB962C8B-B14F-4D97-AF65-F5344CB8AC3E}">
        <p14:creationId xmlns:p14="http://schemas.microsoft.com/office/powerpoint/2010/main" val="1548742956"/>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690b3e4c289472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E7FE77-0245-499B-9A98-FD251B861590}"/>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7D315B2-C42F-40A8-94B1-08F1617E5AF9}"/>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CB27417D-D987-407A-A3D4-20C8FF292A88}"/>
              </a:ext>
            </a:extLst>
          </p:cNvPr>
          <p:cNvSpPr>
            <a:spLocks xmlns:a="http://schemas.openxmlformats.org/drawingml/2006/main" noGrp="1"/>
          </p:cNvSpPr>
          <p:nvPr/>
        </p:nvSpPr>
        <p:spPr>
          <a:xfrm xmlns:a="http://schemas.openxmlformats.org/drawingml/2006/main">
            <a:off x="568960" y="1988820"/>
            <a:ext cx="6734810" cy="22974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4D137CA-9871-4911-9E92-552232DD9921}"/>
              </a:ext>
            </a:extLst>
          </p:cNvPr>
          <p:cNvSpPr>
            <a:spLocks xmlns:a="http://schemas.openxmlformats.org/drawingml/2006/main" noGrp="1"/>
          </p:cNvSpPr>
          <p:nvPr/>
        </p:nvSpPr>
        <p:spPr>
          <a:xfrm xmlns:a="http://schemas.openxmlformats.org/drawingml/2006/main">
            <a:off x="568960" y="1988820"/>
            <a:ext cx="6734810" cy="22974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How it works: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Blockchain technology: IBM Food Trust creates a secure, shared, permissioned record of food-system data.</a:t>
            </a:r>
          </a:p>
        </p:txBody>
      </p:sp>
    </p:spTree>
    <p:extLst>
      <p:ext uri="{BB962C8B-B14F-4D97-AF65-F5344CB8AC3E}">
        <p14:creationId xmlns:p14="http://schemas.microsoft.com/office/powerpoint/2010/main" val="49775241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6902fa1d56f4c7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1BA576-5FAE-4E6E-BFF2-DF5C0995ABB5}"/>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EA4D88-F317-4B2B-B3CA-F9742DAA21CC}"/>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E39DF021-DB74-424D-9337-A38EF4D7E99A}"/>
              </a:ext>
            </a:extLst>
          </p:cNvPr>
          <p:cNvSpPr>
            <a:spLocks xmlns:a="http://schemas.openxmlformats.org/drawingml/2006/main" noGrp="1"/>
          </p:cNvSpPr>
          <p:nvPr/>
        </p:nvSpPr>
        <p:spPr>
          <a:xfrm xmlns:a="http://schemas.openxmlformats.org/drawingml/2006/main">
            <a:off x="568960" y="1988820"/>
            <a:ext cx="6647180" cy="2040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AFF459B-EDEA-4BE0-A49B-A1CBB4EF6BFF}"/>
              </a:ext>
            </a:extLst>
          </p:cNvPr>
          <p:cNvSpPr>
            <a:spLocks xmlns:a="http://schemas.openxmlformats.org/drawingml/2006/main" noGrp="1"/>
          </p:cNvSpPr>
          <p:nvPr/>
        </p:nvSpPr>
        <p:spPr>
          <a:xfrm xmlns:a="http://schemas.openxmlformats.org/drawingml/2006/main">
            <a:off x="568960" y="1988820"/>
            <a:ext cx="6647180" cy="2040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sharing and access: network participants share and access relevant data according to their roles and permissions.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This improves transparency and traceability from farm to plate.</a:t>
            </a:r>
          </a:p>
        </p:txBody>
      </p:sp>
    </p:spTree>
    <p:extLst>
      <p:ext uri="{BB962C8B-B14F-4D97-AF65-F5344CB8AC3E}">
        <p14:creationId xmlns:p14="http://schemas.microsoft.com/office/powerpoint/2010/main" val="171804705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13d3bb7941a4f6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8B0465E-7618-4340-924F-FD995FE505E8}"/>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9FBF7E7-B1FA-4120-8328-2B56892E8E91}"/>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B4734EB1-8639-47C4-B02F-0100100CE941}"/>
              </a:ext>
            </a:extLst>
          </p:cNvPr>
          <p:cNvSpPr>
            <a:spLocks xmlns:a="http://schemas.openxmlformats.org/drawingml/2006/main" noGrp="1"/>
          </p:cNvSpPr>
          <p:nvPr/>
        </p:nvSpPr>
        <p:spPr>
          <a:xfrm xmlns:a="http://schemas.openxmlformats.org/drawingml/2006/main">
            <a:off x="834390" y="1846580"/>
            <a:ext cx="10438130" cy="1863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7EA9BF6-45DD-4619-AAAD-0EE56E8B66E7}"/>
              </a:ext>
            </a:extLst>
          </p:cNvPr>
          <p:cNvSpPr>
            <a:spLocks xmlns:a="http://schemas.openxmlformats.org/drawingml/2006/main" noGrp="1"/>
          </p:cNvSpPr>
          <p:nvPr/>
        </p:nvSpPr>
        <p:spPr>
          <a:xfrm xmlns:a="http://schemas.openxmlformats.org/drawingml/2006/main">
            <a:off x="834390" y="1846580"/>
            <a:ext cx="10438130" cy="1863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How it works: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Improved visibility: IBM Food Trust allows users to trace food journeys rapidly, identifying origins, processing sites, and distribution points. Potential contamination or fraud can therefore be investigated more efficiently.</a:t>
            </a:r>
          </a:p>
        </p:txBody>
      </p:sp>
    </p:spTree>
    <p:extLst>
      <p:ext uri="{BB962C8B-B14F-4D97-AF65-F5344CB8AC3E}">
        <p14:creationId xmlns:p14="http://schemas.microsoft.com/office/powerpoint/2010/main" val="131710858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ee93dbc8a674dd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23AA57B-6995-474D-A2BA-7C1E400A5EED}"/>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6E85649-CB56-4E98-9D31-1B5B545B5E56}"/>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5C70A25A-E699-4489-A825-529FB1346DD8}"/>
              </a:ext>
            </a:extLst>
          </p:cNvPr>
          <p:cNvSpPr>
            <a:spLocks xmlns:a="http://schemas.openxmlformats.org/drawingml/2006/main" noGrp="1"/>
          </p:cNvSpPr>
          <p:nvPr/>
        </p:nvSpPr>
        <p:spPr>
          <a:xfrm xmlns:a="http://schemas.openxmlformats.org/drawingml/2006/main">
            <a:off x="834390" y="1846580"/>
            <a:ext cx="10303510" cy="30213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88AD3C5-4773-45F5-854C-4793EAEAFFC3}"/>
              </a:ext>
            </a:extLst>
          </p:cNvPr>
          <p:cNvSpPr>
            <a:spLocks xmlns:a="http://schemas.openxmlformats.org/drawingml/2006/main" noGrp="1"/>
          </p:cNvSpPr>
          <p:nvPr/>
        </p:nvSpPr>
        <p:spPr>
          <a:xfrm xmlns:a="http://schemas.openxmlformats.org/drawingml/2006/main">
            <a:off x="834390" y="1846580"/>
            <a:ext cx="10303510" cy="30213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Benefits: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Improved food safety: stronger traceability helps identify and address safety risks rapidly.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Reduced food waste: identifying bottlenecks and inefficiencies minimizes waste and improves resource use.</a:t>
            </a:r>
          </a:p>
        </p:txBody>
      </p:sp>
    </p:spTree>
    <p:extLst>
      <p:ext uri="{BB962C8B-B14F-4D97-AF65-F5344CB8AC3E}">
        <p14:creationId xmlns:p14="http://schemas.microsoft.com/office/powerpoint/2010/main" val="104221674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0b8d767a34542f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86EA39-B046-46B4-AF4E-496FB9DCB738}"/>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279E9C-0F6A-4465-8C55-60FFFE00AEFD}"/>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904E0503-31A6-4B0D-A928-A8B9ED38EF43}"/>
              </a:ext>
            </a:extLst>
          </p:cNvPr>
          <p:cNvSpPr>
            <a:spLocks xmlns:a="http://schemas.openxmlformats.org/drawingml/2006/main" noGrp="1"/>
          </p:cNvSpPr>
          <p:nvPr/>
        </p:nvSpPr>
        <p:spPr>
          <a:xfrm xmlns:a="http://schemas.openxmlformats.org/drawingml/2006/main">
            <a:off x="834390" y="1846580"/>
            <a:ext cx="10518140" cy="25882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DF79E2-345A-4E06-92BA-DCE06693B2D4}"/>
              </a:ext>
            </a:extLst>
          </p:cNvPr>
          <p:cNvSpPr>
            <a:spLocks xmlns:a="http://schemas.openxmlformats.org/drawingml/2006/main" noGrp="1"/>
          </p:cNvSpPr>
          <p:nvPr/>
        </p:nvSpPr>
        <p:spPr>
          <a:xfrm xmlns:a="http://schemas.openxmlformats.org/drawingml/2006/main">
            <a:off x="834390" y="1846580"/>
            <a:ext cx="10518140" cy="2588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Benefits: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Greater consumer confidence: transparency about origin and product journeys strengthens trust in the food system.</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Supply-chain optimization: simplified data sharing and better visibility improve efficiency and reduce costs.</a:t>
            </a:r>
          </a:p>
        </p:txBody>
      </p:sp>
    </p:spTree>
    <p:extLst>
      <p:ext uri="{BB962C8B-B14F-4D97-AF65-F5344CB8AC3E}">
        <p14:creationId xmlns:p14="http://schemas.microsoft.com/office/powerpoint/2010/main" val="31948307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9c93050155d419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C85E273-D41B-4EAB-936E-D2CDBBD66661}"/>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3226247-3CDC-4E41-8E97-B0B439A20C49}"/>
              </a:ext>
            </a:extLst>
          </p:cNvPr>
          <p:cNvSpPr>
            <a:spLocks xmlns:a="http://schemas.openxmlformats.org/drawingml/2006/main" noGrp="1"/>
          </p:cNvSpPr>
          <p:nvPr/>
        </p:nvSpPr>
        <p:spPr>
          <a:xfrm xmlns:a="http://schemas.openxmlformats.org/drawingml/2006/main">
            <a:off x="597535" y="7308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B973F2D3-3ACD-48A1-987C-97A702103B62}"/>
              </a:ext>
            </a:extLst>
          </p:cNvPr>
          <p:cNvSpPr>
            <a:spLocks xmlns:a="http://schemas.openxmlformats.org/drawingml/2006/main" noGrp="1"/>
          </p:cNvSpPr>
          <p:nvPr/>
        </p:nvSpPr>
        <p:spPr>
          <a:xfrm xmlns:a="http://schemas.openxmlformats.org/drawingml/2006/main">
            <a:off x="568960" y="1988820"/>
            <a:ext cx="6719570" cy="21691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6C166B-E7E4-43DA-9883-A3B4DCE44705}"/>
              </a:ext>
            </a:extLst>
          </p:cNvPr>
          <p:cNvSpPr>
            <a:spLocks xmlns:a="http://schemas.openxmlformats.org/drawingml/2006/main" noGrp="1"/>
          </p:cNvSpPr>
          <p:nvPr/>
        </p:nvSpPr>
        <p:spPr>
          <a:xfrm xmlns:a="http://schemas.openxmlformats.org/drawingml/2006/main">
            <a:off x="568960" y="1988820"/>
            <a:ext cx="6719570" cy="2169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AgTrace is a traceability solution designed specifically for agriculture, with a focus on livestock.</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It provides a comprehensive system for tracking animals and animal products throughout the supply chain.</a:t>
            </a:r>
          </a:p>
        </p:txBody>
      </p:sp>
    </p:spTree>
    <p:extLst>
      <p:ext uri="{BB962C8B-B14F-4D97-AF65-F5344CB8AC3E}">
        <p14:creationId xmlns:p14="http://schemas.microsoft.com/office/powerpoint/2010/main" val="8256520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519ca4bd2714b2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06A054-3A61-44B1-B48F-DE384B3A6F24}"/>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26B6A1-2CC7-46F2-ABA9-5403E7B7C3D0}"/>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A7F4D1CC-BE87-4DD6-B7DD-AA55997CCD67}"/>
              </a:ext>
            </a:extLst>
          </p:cNvPr>
          <p:cNvSpPr>
            <a:spLocks xmlns:a="http://schemas.openxmlformats.org/drawingml/2006/main" noGrp="1"/>
          </p:cNvSpPr>
          <p:nvPr/>
        </p:nvSpPr>
        <p:spPr>
          <a:xfrm xmlns:a="http://schemas.openxmlformats.org/drawingml/2006/main">
            <a:off x="834390" y="1846580"/>
            <a:ext cx="10491470" cy="3630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CBCDCFA-B44A-4932-A73A-282DDDE18506}"/>
              </a:ext>
            </a:extLst>
          </p:cNvPr>
          <p:cNvSpPr>
            <a:spLocks xmlns:a="http://schemas.openxmlformats.org/drawingml/2006/main" noGrp="1"/>
          </p:cNvSpPr>
          <p:nvPr/>
        </p:nvSpPr>
        <p:spPr>
          <a:xfrm xmlns:a="http://schemas.openxmlformats.org/drawingml/2006/main">
            <a:off x="834390" y="1846580"/>
            <a:ext cx="10491470" cy="3630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AgTrace features and benefits: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End-to-end traceability tracks animals from birth through breeding, transport, processing, and distribution.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RFID tags, barcodes, and sensors collect and manage identification, health, feeding, and other relevant data.</a:t>
            </a:r>
          </a:p>
        </p:txBody>
      </p:sp>
    </p:spTree>
    <p:extLst>
      <p:ext uri="{BB962C8B-B14F-4D97-AF65-F5344CB8AC3E}">
        <p14:creationId xmlns:p14="http://schemas.microsoft.com/office/powerpoint/2010/main" val="197257235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37efc8aacef4f2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36A922-6990-45CB-9089-459DB37DCE50}"/>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1D8A70-0ABE-4E46-B0DD-F37BF8FCADB8}"/>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FC22F25D-EAFD-456A-855A-60401D2B58C1}"/>
              </a:ext>
            </a:extLst>
          </p:cNvPr>
          <p:cNvSpPr>
            <a:spLocks xmlns:a="http://schemas.openxmlformats.org/drawingml/2006/main" noGrp="1"/>
          </p:cNvSpPr>
          <p:nvPr/>
        </p:nvSpPr>
        <p:spPr>
          <a:xfrm xmlns:a="http://schemas.openxmlformats.org/drawingml/2006/main">
            <a:off x="834390" y="1846580"/>
            <a:ext cx="10422890" cy="1863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F70BCFB-0FD9-4C88-A4BD-65895A2CACE4}"/>
              </a:ext>
            </a:extLst>
          </p:cNvPr>
          <p:cNvSpPr>
            <a:spLocks xmlns:a="http://schemas.openxmlformats.org/drawingml/2006/main" noGrp="1"/>
          </p:cNvSpPr>
          <p:nvPr/>
        </p:nvSpPr>
        <p:spPr>
          <a:xfrm xmlns:a="http://schemas.openxmlformats.org/drawingml/2006/main">
            <a:off x="834390" y="1846580"/>
            <a:ext cx="10422890" cy="1863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AgTrace features and benefits: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Real-time monitoring gives stakeholders immediate access to the movement and condition of animals and products across the supply chain, supporting early problem detection and timely action.</a:t>
            </a:r>
          </a:p>
        </p:txBody>
      </p:sp>
    </p:spTree>
    <p:extLst>
      <p:ext uri="{BB962C8B-B14F-4D97-AF65-F5344CB8AC3E}">
        <p14:creationId xmlns:p14="http://schemas.microsoft.com/office/powerpoint/2010/main" val="1844061496"/>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54c50eb7980451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72558E-7DC9-4365-BB7F-496CBEFB5EB3}"/>
              </a:ext>
            </a:extLst>
          </p:cNvPr>
          <p:cNvSpPr>
            <a:spLocks xmlns:a="http://schemas.openxmlformats.org/drawingml/2006/main" noGrp="1"/>
          </p:cNvSpPr>
          <p:nvPr/>
        </p:nvSpPr>
        <p:spPr>
          <a:xfrm xmlns:a="http://schemas.openxmlformats.org/drawingml/2006/main">
            <a:off x="655955" y="556895"/>
            <a:ext cx="4150360" cy="1593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9D48B4-2E1D-4AE1-84C7-99DDC5E26191}"/>
              </a:ext>
            </a:extLst>
          </p:cNvPr>
          <p:cNvSpPr>
            <a:spLocks xmlns:a="http://schemas.openxmlformats.org/drawingml/2006/main" noGrp="1"/>
          </p:cNvSpPr>
          <p:nvPr/>
        </p:nvSpPr>
        <p:spPr>
          <a:xfrm xmlns:a="http://schemas.openxmlformats.org/drawingml/2006/main">
            <a:off x="655955" y="556895"/>
            <a:ext cx="4150360" cy="159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A102AC1C-3093-4EA0-B16E-D859D105D173}"/>
              </a:ext>
            </a:extLst>
          </p:cNvPr>
          <p:cNvSpPr>
            <a:spLocks xmlns:a="http://schemas.openxmlformats.org/drawingml/2006/main" noGrp="1"/>
          </p:cNvSpPr>
          <p:nvPr/>
        </p:nvSpPr>
        <p:spPr>
          <a:xfrm xmlns:a="http://schemas.openxmlformats.org/drawingml/2006/main">
            <a:off x="627380" y="2578100"/>
            <a:ext cx="4766310" cy="36677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ED7F6E5-8772-407A-9997-12066E22BAAC}"/>
              </a:ext>
            </a:extLst>
          </p:cNvPr>
          <p:cNvSpPr>
            <a:spLocks xmlns:a="http://schemas.openxmlformats.org/drawingml/2006/main" noGrp="1"/>
          </p:cNvSpPr>
          <p:nvPr/>
        </p:nvSpPr>
        <p:spPr>
          <a:xfrm xmlns:a="http://schemas.openxmlformats.org/drawingml/2006/main">
            <a:off x="627380" y="2578100"/>
            <a:ext cx="4766310" cy="3667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Wholechain is a blockchain-based traceability platform designed to bring trust, coordination, and transparency to fragmented supply chains.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It tracks products from origin to consumer, supporting visibility and accountability at every stage.</a:t>
            </a:r>
          </a:p>
        </p:txBody>
      </p:sp>
    </p:spTree>
    <p:extLst>
      <p:ext uri="{BB962C8B-B14F-4D97-AF65-F5344CB8AC3E}">
        <p14:creationId xmlns:p14="http://schemas.microsoft.com/office/powerpoint/2010/main" val="894554457"/>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0e6207c2fac4c9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63A7F0-0004-43B0-874E-06DDFF2436CB}"/>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292D2B0-4B09-433C-B81F-6847ED14521A}"/>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B4B9F8A5-FBC7-4F54-88AD-603F18622BF8}"/>
              </a:ext>
            </a:extLst>
          </p:cNvPr>
          <p:cNvSpPr>
            <a:spLocks xmlns:a="http://schemas.openxmlformats.org/drawingml/2006/main" noGrp="1"/>
          </p:cNvSpPr>
          <p:nvPr/>
        </p:nvSpPr>
        <p:spPr>
          <a:xfrm xmlns:a="http://schemas.openxmlformats.org/drawingml/2006/main">
            <a:off x="834390" y="1846580"/>
            <a:ext cx="10312400" cy="27165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2E30911-45B8-47AA-9083-3C9887CD68BE}"/>
              </a:ext>
            </a:extLst>
          </p:cNvPr>
          <p:cNvSpPr>
            <a:spLocks xmlns:a="http://schemas.openxmlformats.org/drawingml/2006/main" noGrp="1"/>
          </p:cNvSpPr>
          <p:nvPr/>
        </p:nvSpPr>
        <p:spPr>
          <a:xfrm xmlns:a="http://schemas.openxmlformats.org/drawingml/2006/main">
            <a:off x="834390" y="1846580"/>
            <a:ext cx="10312400" cy="2716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Use cases: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Food and agriculture: Wholechain tracks origin, processing, and distribution to support safety and sustainable practices.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Seafood: the platform has been used to fight illegal fishing and promote responsible sourcing.</a:t>
            </a:r>
          </a:p>
        </p:txBody>
      </p:sp>
    </p:spTree>
    <p:extLst>
      <p:ext uri="{BB962C8B-B14F-4D97-AF65-F5344CB8AC3E}">
        <p14:creationId xmlns:p14="http://schemas.microsoft.com/office/powerpoint/2010/main" val="179204592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aedf491fac94c6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2B32393-E0AB-46DB-B2E7-72916298DD62}"/>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2E56775-789F-426D-939C-916F4887D2BF}"/>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EE0B3145-D4B9-478B-85BC-181A69A35DAD}"/>
              </a:ext>
            </a:extLst>
          </p:cNvPr>
          <p:cNvSpPr>
            <a:spLocks xmlns:a="http://schemas.openxmlformats.org/drawingml/2006/main" noGrp="1"/>
          </p:cNvSpPr>
          <p:nvPr/>
        </p:nvSpPr>
        <p:spPr>
          <a:xfrm xmlns:a="http://schemas.openxmlformats.org/drawingml/2006/main">
            <a:off x="834390" y="1846580"/>
            <a:ext cx="10468610" cy="25882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D317538-54BB-4D50-B93A-3B6A6679A67E}"/>
              </a:ext>
            </a:extLst>
          </p:cNvPr>
          <p:cNvSpPr>
            <a:spLocks xmlns:a="http://schemas.openxmlformats.org/drawingml/2006/main" noGrp="1"/>
          </p:cNvSpPr>
          <p:nvPr/>
        </p:nvSpPr>
        <p:spPr>
          <a:xfrm xmlns:a="http://schemas.openxmlformats.org/drawingml/2006/main">
            <a:off x="834390" y="1846580"/>
            <a:ext cx="10468610" cy="2588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Use cases: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Cosmetics and apparel: Wholechain verifies sustainability and fair-trade claims, supporting ethical sourcing.</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Manufacturing: the platform tracks raw materials and components, supporting quality control and regulatory compliance.</a:t>
            </a:r>
          </a:p>
        </p:txBody>
      </p:sp>
    </p:spTree>
    <p:extLst>
      <p:ext uri="{BB962C8B-B14F-4D97-AF65-F5344CB8AC3E}">
        <p14:creationId xmlns:p14="http://schemas.microsoft.com/office/powerpoint/2010/main" val="1854765409"/>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2881a351aeb44f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C852EB-4ED6-455B-904A-48B6695A8820}"/>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A50C2A8-AE23-4802-B70F-4CE703D062EB}"/>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89836A67-14CD-47A5-9D59-A3CB8B2013BD}"/>
              </a:ext>
            </a:extLst>
          </p:cNvPr>
          <p:cNvSpPr>
            <a:spLocks xmlns:a="http://schemas.openxmlformats.org/drawingml/2006/main" noGrp="1"/>
          </p:cNvSpPr>
          <p:nvPr/>
        </p:nvSpPr>
        <p:spPr>
          <a:xfrm xmlns:a="http://schemas.openxmlformats.org/drawingml/2006/main">
            <a:off x="834390" y="1846580"/>
            <a:ext cx="10407650" cy="1863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1B7040-03C4-4723-A581-C5514184DDB2}"/>
              </a:ext>
            </a:extLst>
          </p:cNvPr>
          <p:cNvSpPr>
            <a:spLocks xmlns:a="http://schemas.openxmlformats.org/drawingml/2006/main" noGrp="1"/>
          </p:cNvSpPr>
          <p:nvPr/>
        </p:nvSpPr>
        <p:spPr>
          <a:xfrm xmlns:a="http://schemas.openxmlformats.org/drawingml/2006/main">
            <a:off x="834390" y="1846580"/>
            <a:ext cx="10407650" cy="1863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Brazil's ConectarAGRO initiative is a collaborative effort to expand 4G internet coverage in rural areas.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Recognizing that connectivity drives agricultural development, it gives farmers digital tools and resources to improve productivity, sustainability, and economic growth.</a:t>
            </a:r>
          </a:p>
        </p:txBody>
      </p:sp>
    </p:spTree>
    <p:extLst>
      <p:ext uri="{BB962C8B-B14F-4D97-AF65-F5344CB8AC3E}">
        <p14:creationId xmlns:p14="http://schemas.microsoft.com/office/powerpoint/2010/main" val="508302387"/>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d89e59b514546e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50693A2-B43D-4FA7-85C8-3556587E7744}"/>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5EF3A0C-1569-496F-800E-B7C47CDC2E93}"/>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F471FA4B-8319-42EC-B730-46476ADECE4D}"/>
              </a:ext>
            </a:extLst>
          </p:cNvPr>
          <p:cNvSpPr>
            <a:spLocks xmlns:a="http://schemas.openxmlformats.org/drawingml/2006/main" noGrp="1"/>
          </p:cNvSpPr>
          <p:nvPr/>
        </p:nvSpPr>
        <p:spPr>
          <a:xfrm xmlns:a="http://schemas.openxmlformats.org/drawingml/2006/main">
            <a:off x="834390" y="1846580"/>
            <a:ext cx="10568940" cy="30213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2549A9-945E-49A3-BD51-0B5855A6496F}"/>
              </a:ext>
            </a:extLst>
          </p:cNvPr>
          <p:cNvSpPr>
            <a:spLocks xmlns:a="http://schemas.openxmlformats.org/drawingml/2006/main" noGrp="1"/>
          </p:cNvSpPr>
          <p:nvPr/>
        </p:nvSpPr>
        <p:spPr>
          <a:xfrm xmlns:a="http://schemas.openxmlformats.org/drawingml/2006/main">
            <a:off x="834390" y="1846580"/>
            <a:ext cx="10568940" cy="30213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Main objectives: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Provide affordable and practical internet access to farmers and agricultural communities.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Promote precision agriculture by enabling sensors, drones, and data analytics for more efficient resource management and optimized yields.</a:t>
            </a:r>
          </a:p>
        </p:txBody>
      </p:sp>
    </p:spTree>
    <p:extLst>
      <p:ext uri="{BB962C8B-B14F-4D97-AF65-F5344CB8AC3E}">
        <p14:creationId xmlns:p14="http://schemas.microsoft.com/office/powerpoint/2010/main" val="1272509301"/>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1d4cff0933849c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14F2D9-1F91-496E-9986-3F939633F5A6}"/>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4FD78F-896D-4395-A26B-D1FE46094002}"/>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483EEEBA-EF02-4F35-944C-8AFF69477695}"/>
              </a:ext>
            </a:extLst>
          </p:cNvPr>
          <p:cNvSpPr>
            <a:spLocks xmlns:a="http://schemas.openxmlformats.org/drawingml/2006/main" noGrp="1"/>
          </p:cNvSpPr>
          <p:nvPr/>
        </p:nvSpPr>
        <p:spPr>
          <a:xfrm xmlns:a="http://schemas.openxmlformats.org/drawingml/2006/main">
            <a:off x="834390" y="1846580"/>
            <a:ext cx="10349230" cy="39204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5908C3D-48C0-4921-8DF9-57FAE90085EB}"/>
              </a:ext>
            </a:extLst>
          </p:cNvPr>
          <p:cNvSpPr>
            <a:spLocks xmlns:a="http://schemas.openxmlformats.org/drawingml/2006/main" noGrp="1"/>
          </p:cNvSpPr>
          <p:nvPr/>
        </p:nvSpPr>
        <p:spPr>
          <a:xfrm xmlns:a="http://schemas.openxmlformats.org/drawingml/2006/main">
            <a:off x="834390" y="1846580"/>
            <a:ext cx="10349230" cy="39204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Main objectives: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Empower farmers with information, market data, financial services, and educational resources;</a:t>
            </a:r>
          </a:p>
          <a:p xmlns:a="http://schemas.openxmlformats.org/drawingml/2006/main">
            <a:pPr algn="l">
              <a:defRPr sz="1650" b="0">
                <a:solidFill>
                  <a:srgbClr val="111111"/>
                </a:solidFill>
              </a:defRPr>
            </a:pPr>
            <a:r>
              <a:rPr sz="1650" b="0">
                <a:solidFill>
                  <a:srgbClr val="111111"/>
                </a:solidFill>
              </a:rPr>
              <a:t>• Encourage innovation through technologies and services tailored to rural communities;</a:t>
            </a:r>
          </a:p>
          <a:p xmlns:a="http://schemas.openxmlformats.org/drawingml/2006/main">
            <a:pPr algn="l">
              <a:defRPr sz="1650" b="0">
                <a:solidFill>
                  <a:srgbClr val="111111"/>
                </a:solidFill>
              </a:defRPr>
            </a:pPr>
            <a:r>
              <a:rPr sz="1650" b="0">
                <a:solidFill>
                  <a:srgbClr val="111111"/>
                </a:solidFill>
              </a:rPr>
              <a:t>• Support sustainable practices, environmental protection, resource conservation, and climate resilience.</a:t>
            </a:r>
          </a:p>
        </p:txBody>
      </p:sp>
    </p:spTree>
    <p:extLst>
      <p:ext uri="{BB962C8B-B14F-4D97-AF65-F5344CB8AC3E}">
        <p14:creationId xmlns:p14="http://schemas.microsoft.com/office/powerpoint/2010/main" val="161028072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61ec44de9024bc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165637-FAF1-48D9-9DB3-739011979BDB}"/>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CDC6D12-259C-4F94-8F9D-07CD65108E71}"/>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8AFE881C-1E01-4D43-9C81-4F32624B22E2}"/>
              </a:ext>
            </a:extLst>
          </p:cNvPr>
          <p:cNvSpPr>
            <a:spLocks xmlns:a="http://schemas.openxmlformats.org/drawingml/2006/main" noGrp="1"/>
          </p:cNvSpPr>
          <p:nvPr/>
        </p:nvSpPr>
        <p:spPr>
          <a:xfrm xmlns:a="http://schemas.openxmlformats.org/drawingml/2006/main">
            <a:off x="834390" y="1846580"/>
            <a:ext cx="10275570" cy="1863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823BA7-5699-4192-BDB4-09342CC9F850}"/>
              </a:ext>
            </a:extLst>
          </p:cNvPr>
          <p:cNvSpPr>
            <a:spLocks xmlns:a="http://schemas.openxmlformats.org/drawingml/2006/main" noGrp="1"/>
          </p:cNvSpPr>
          <p:nvPr/>
        </p:nvSpPr>
        <p:spPr>
          <a:xfrm xmlns:a="http://schemas.openxmlformats.org/drawingml/2006/main">
            <a:off x="834390" y="1846580"/>
            <a:ext cx="10275570" cy="1863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Main objectives: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Empower farmers by providing access to information, market data, financial services, and educational resources, enabling informed decisions and improved livelihoods.</a:t>
            </a:r>
          </a:p>
        </p:txBody>
      </p:sp>
    </p:spTree>
    <p:extLst>
      <p:ext uri="{BB962C8B-B14F-4D97-AF65-F5344CB8AC3E}">
        <p14:creationId xmlns:p14="http://schemas.microsoft.com/office/powerpoint/2010/main" val="814020168"/>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02bf66171ed48a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D21853-2725-4F81-8B73-D5C7E772E9C1}"/>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8DF7073-7CF2-446D-8323-4DDAD6E8B7D1}"/>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D6639A5F-07AB-400B-AB2D-94227E46976A}"/>
              </a:ext>
            </a:extLst>
          </p:cNvPr>
          <p:cNvSpPr>
            <a:spLocks xmlns:a="http://schemas.openxmlformats.org/drawingml/2006/main" noGrp="1"/>
          </p:cNvSpPr>
          <p:nvPr/>
        </p:nvSpPr>
        <p:spPr>
          <a:xfrm xmlns:a="http://schemas.openxmlformats.org/drawingml/2006/main">
            <a:off x="834390" y="1846580"/>
            <a:ext cx="10349230" cy="15582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7928451-89F1-45D9-B040-B79136838915}"/>
              </a:ext>
            </a:extLst>
          </p:cNvPr>
          <p:cNvSpPr>
            <a:spLocks xmlns:a="http://schemas.openxmlformats.org/drawingml/2006/main" noGrp="1"/>
          </p:cNvSpPr>
          <p:nvPr/>
        </p:nvSpPr>
        <p:spPr>
          <a:xfrm xmlns:a="http://schemas.openxmlformats.org/drawingml/2006/main">
            <a:off x="834390" y="1846580"/>
            <a:ext cx="10349230" cy="1558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Main objectives: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Foster innovation: by creating a connected ecosystem, ConectarAGRO encourages technologies and services tailored to rural communities.</a:t>
            </a:r>
          </a:p>
        </p:txBody>
      </p:sp>
    </p:spTree>
    <p:extLst>
      <p:ext uri="{BB962C8B-B14F-4D97-AF65-F5344CB8AC3E}">
        <p14:creationId xmlns:p14="http://schemas.microsoft.com/office/powerpoint/2010/main" val="2042997036"/>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b3179d86c4e4eb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5A3959B-A5B7-45BA-842A-DCCE0FB47864}"/>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88F053-2D9F-48AB-AAFB-84F722603175}"/>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7D1C97D3-088B-4CF0-8AF1-124382BEB724}"/>
              </a:ext>
            </a:extLst>
          </p:cNvPr>
          <p:cNvSpPr>
            <a:spLocks xmlns:a="http://schemas.openxmlformats.org/drawingml/2006/main" noGrp="1"/>
          </p:cNvSpPr>
          <p:nvPr/>
        </p:nvSpPr>
        <p:spPr>
          <a:xfrm xmlns:a="http://schemas.openxmlformats.org/drawingml/2006/main">
            <a:off x="834390" y="1846580"/>
            <a:ext cx="10099040" cy="3145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5CAF159-85D3-4086-BD5B-7AD4B1211216}"/>
              </a:ext>
            </a:extLst>
          </p:cNvPr>
          <p:cNvSpPr>
            <a:spLocks xmlns:a="http://schemas.openxmlformats.org/drawingml/2006/main" noGrp="1"/>
          </p:cNvSpPr>
          <p:nvPr/>
        </p:nvSpPr>
        <p:spPr>
          <a:xfrm xmlns:a="http://schemas.openxmlformats.org/drawingml/2006/main">
            <a:off x="834390" y="1846580"/>
            <a:ext cx="10099040" cy="31457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Expected impact:</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Reliable internet access can transform Brazilian agriculture by enabling precision technologies and data-driven decisions that increase productivity and efficiency.</a:t>
            </a:r>
          </a:p>
        </p:txBody>
      </p:sp>
    </p:spTree>
    <p:extLst>
      <p:ext uri="{BB962C8B-B14F-4D97-AF65-F5344CB8AC3E}">
        <p14:creationId xmlns:p14="http://schemas.microsoft.com/office/powerpoint/2010/main" val="526909356"/>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4d98105cc1d4e0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EA56FE-A4DF-4C9C-8C56-44E1A80A6591}"/>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34B31B2-92CA-480F-BE56-B52504844809}"/>
              </a:ext>
            </a:extLst>
          </p:cNvPr>
          <p:cNvSpPr>
            <a:spLocks xmlns:a="http://schemas.openxmlformats.org/drawingml/2006/main" noGrp="1"/>
          </p:cNvSpPr>
          <p:nvPr/>
        </p:nvSpPr>
        <p:spPr>
          <a:xfrm xmlns:a="http://schemas.openxmlformats.org/drawingml/2006/main">
            <a:off x="862965" y="502285"/>
            <a:ext cx="8796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Traceability</a:t>
            </a:r>
          </a:p>
        </p:txBody>
      </p:sp>
      <p:sp>
        <p:nvSpPr>
          <p:cNvPr id="4" name="">
            <a:extLst xmlns:a="http://schemas.openxmlformats.org/drawingml/2006/main">
              <a:ext uri="{FF2B5EF4-FFF2-40B4-BE49-F238E27FC236}">
                <a16:creationId xmlns:a16="http://schemas.microsoft.com/office/drawing/2014/main" id="{C72FE8E5-92A8-4A5F-B089-6FFCCD8A924D}"/>
              </a:ext>
            </a:extLst>
          </p:cNvPr>
          <p:cNvSpPr>
            <a:spLocks xmlns:a="http://schemas.openxmlformats.org/drawingml/2006/main" noGrp="1"/>
          </p:cNvSpPr>
          <p:nvPr/>
        </p:nvSpPr>
        <p:spPr>
          <a:xfrm xmlns:a="http://schemas.openxmlformats.org/drawingml/2006/main">
            <a:off x="834390" y="1846580"/>
            <a:ext cx="10350500" cy="1863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7DEBE8B-090D-4565-94A9-DB677AEA3FAA}"/>
              </a:ext>
            </a:extLst>
          </p:cNvPr>
          <p:cNvSpPr>
            <a:spLocks xmlns:a="http://schemas.openxmlformats.org/drawingml/2006/main" noGrp="1"/>
          </p:cNvSpPr>
          <p:nvPr/>
        </p:nvSpPr>
        <p:spPr>
          <a:xfrm xmlns:a="http://schemas.openxmlformats.org/drawingml/2006/main">
            <a:off x="834390" y="1846580"/>
            <a:ext cx="10350500" cy="1863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ConectarAGRO is a significant step toward a connected and digitally enabled Brazilian agricultural sector.</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By narrowing the digital divide, it can unlock greater productivity, sustainability, and economic growth nationwide.</a:t>
            </a:r>
          </a:p>
        </p:txBody>
      </p:sp>
    </p:spTree>
    <p:extLst>
      <p:ext uri="{BB962C8B-B14F-4D97-AF65-F5344CB8AC3E}">
        <p14:creationId xmlns:p14="http://schemas.microsoft.com/office/powerpoint/2010/main" val="1461292130"/>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1247422a81c45c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D6C0DE8-A3C0-4976-81C6-EA1749EAD094}"/>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83EF06-8580-42DB-95EB-03660E012D40}"/>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F6870B15-4555-4AA7-9856-78B1EA57812A}"/>
              </a:ext>
            </a:extLst>
          </p:cNvPr>
          <p:cNvSpPr>
            <a:spLocks xmlns:a="http://schemas.openxmlformats.org/drawingml/2006/main" noGrp="1"/>
          </p:cNvSpPr>
          <p:nvPr/>
        </p:nvSpPr>
        <p:spPr>
          <a:xfrm xmlns:a="http://schemas.openxmlformats.org/drawingml/2006/main">
            <a:off x="568960" y="1988820"/>
            <a:ext cx="6654800" cy="25895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31C98A7-5876-4B14-91EC-CE0D1FD3C2D7}"/>
              </a:ext>
            </a:extLst>
          </p:cNvPr>
          <p:cNvSpPr>
            <a:spLocks xmlns:a="http://schemas.openxmlformats.org/drawingml/2006/main" noGrp="1"/>
          </p:cNvSpPr>
          <p:nvPr/>
        </p:nvSpPr>
        <p:spPr>
          <a:xfrm xmlns:a="http://schemas.openxmlformats.org/drawingml/2006/main">
            <a:off x="568960" y="1988820"/>
            <a:ext cx="6654800" cy="2589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IBM Food Trust and Walmart:</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Walmart partnered with IBM to use the IBM Food Trust blockchain platform to track food from farm to shelf.</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The traceability system is based on Hyperledger Fabric.</a:t>
            </a:r>
          </a:p>
        </p:txBody>
      </p:sp>
    </p:spTree>
    <p:extLst>
      <p:ext uri="{BB962C8B-B14F-4D97-AF65-F5344CB8AC3E}">
        <p14:creationId xmlns:p14="http://schemas.microsoft.com/office/powerpoint/2010/main" val="658838238"/>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6ec6f8e60ca40c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433A30-1A34-4EEA-A9EA-D129E0F1F7B0}"/>
              </a:ext>
            </a:extLst>
          </p:cNvPr>
          <p:cNvSpPr>
            <a:spLocks xmlns:a="http://schemas.openxmlformats.org/drawingml/2006/main" noGrp="1"/>
          </p:cNvSpPr>
          <p:nvPr/>
        </p:nvSpPr>
        <p:spPr>
          <a:xfrm xmlns:a="http://schemas.openxmlformats.org/drawingml/2006/main">
            <a:off x="862965" y="5022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061096-B8AC-48DD-87EF-30902B0303A9}"/>
              </a:ext>
            </a:extLst>
          </p:cNvPr>
          <p:cNvSpPr>
            <a:spLocks xmlns:a="http://schemas.openxmlformats.org/drawingml/2006/main" noGrp="1"/>
          </p:cNvSpPr>
          <p:nvPr/>
        </p:nvSpPr>
        <p:spPr>
          <a:xfrm xmlns:a="http://schemas.openxmlformats.org/drawingml/2006/main">
            <a:off x="862965" y="5022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F11D89C8-5CD6-4067-ADC0-2E97C6843349}"/>
              </a:ext>
            </a:extLst>
          </p:cNvPr>
          <p:cNvSpPr>
            <a:spLocks xmlns:a="http://schemas.openxmlformats.org/drawingml/2006/main" noGrp="1"/>
          </p:cNvSpPr>
          <p:nvPr/>
        </p:nvSpPr>
        <p:spPr>
          <a:xfrm xmlns:a="http://schemas.openxmlformats.org/drawingml/2006/main">
            <a:off x="834390" y="1846580"/>
            <a:ext cx="10307320" cy="30213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F0036F1-0020-4291-B9BC-D75148029DD2}"/>
              </a:ext>
            </a:extLst>
          </p:cNvPr>
          <p:cNvSpPr>
            <a:spLocks xmlns:a="http://schemas.openxmlformats.org/drawingml/2006/main" noGrp="1"/>
          </p:cNvSpPr>
          <p:nvPr/>
        </p:nvSpPr>
        <p:spPr>
          <a:xfrm xmlns:a="http://schemas.openxmlformats.org/drawingml/2006/main">
            <a:off x="834390" y="1846580"/>
            <a:ext cx="10307320" cy="30213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IBM Food Trust and Walmart:</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One pilot traced mangoes sold in U.S. stores; another traced pork sold in China.</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For Chinese pork, authenticity certificates were uploaded to the blockchain.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For U.S. mangoes, origin-tracing time fell from seven days to 2.2 seconds.</a:t>
            </a:r>
          </a:p>
        </p:txBody>
      </p:sp>
    </p:spTree>
    <p:extLst>
      <p:ext uri="{BB962C8B-B14F-4D97-AF65-F5344CB8AC3E}">
        <p14:creationId xmlns:p14="http://schemas.microsoft.com/office/powerpoint/2010/main" val="118746862"/>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fef24578e304a6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971502-9C74-43F8-BEC0-C717E131CFB7}"/>
              </a:ext>
            </a:extLst>
          </p:cNvPr>
          <p:cNvSpPr>
            <a:spLocks xmlns:a="http://schemas.openxmlformats.org/drawingml/2006/main" noGrp="1"/>
          </p:cNvSpPr>
          <p:nvPr/>
        </p:nvSpPr>
        <p:spPr>
          <a:xfrm xmlns:a="http://schemas.openxmlformats.org/drawingml/2006/main">
            <a:off x="862965" y="5022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6D94C0-7D24-432E-9B25-9A54AFA4CEA2}"/>
              </a:ext>
            </a:extLst>
          </p:cNvPr>
          <p:cNvSpPr>
            <a:spLocks xmlns:a="http://schemas.openxmlformats.org/drawingml/2006/main" noGrp="1"/>
          </p:cNvSpPr>
          <p:nvPr/>
        </p:nvSpPr>
        <p:spPr>
          <a:xfrm xmlns:a="http://schemas.openxmlformats.org/drawingml/2006/main">
            <a:off x="862965" y="5022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2D7EFEB7-153C-4FAC-BA12-955D0C27FA6C}"/>
              </a:ext>
            </a:extLst>
          </p:cNvPr>
          <p:cNvSpPr>
            <a:spLocks xmlns:a="http://schemas.openxmlformats.org/drawingml/2006/main" noGrp="1"/>
          </p:cNvSpPr>
          <p:nvPr/>
        </p:nvSpPr>
        <p:spPr>
          <a:xfrm xmlns:a="http://schemas.openxmlformats.org/drawingml/2006/main">
            <a:off x="834390" y="1846580"/>
            <a:ext cx="10377170" cy="1991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26E07F3-DDA9-4D2E-99D8-462CFE726FFF}"/>
              </a:ext>
            </a:extLst>
          </p:cNvPr>
          <p:cNvSpPr>
            <a:spLocks xmlns:a="http://schemas.openxmlformats.org/drawingml/2006/main" noGrp="1"/>
          </p:cNvSpPr>
          <p:nvPr/>
        </p:nvSpPr>
        <p:spPr>
          <a:xfrm xmlns:a="http://schemas.openxmlformats.org/drawingml/2006/main">
            <a:off x="834390" y="1846580"/>
            <a:ext cx="10377170" cy="1991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IBM Food Trust and Walmart:</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Walmart can track the origin of more than 25 products from five suppliers using Hyperledger Fabric.</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Fresh leafy-green suppliers are required to trace products such as lettuce and spinach through the system.</a:t>
            </a:r>
          </a:p>
        </p:txBody>
      </p:sp>
    </p:spTree>
    <p:extLst>
      <p:ext uri="{BB962C8B-B14F-4D97-AF65-F5344CB8AC3E}">
        <p14:creationId xmlns:p14="http://schemas.microsoft.com/office/powerpoint/2010/main" val="78970729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a0f309fdd7b4cf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6E0130-E9D1-4361-BF7D-C07E9026BA36}"/>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46BBB1-0ACD-4467-8A8A-4C3CC201602D}"/>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03C5B519-981D-4471-BE9F-402143017CA5}"/>
              </a:ext>
            </a:extLst>
          </p:cNvPr>
          <p:cNvSpPr>
            <a:spLocks xmlns:a="http://schemas.openxmlformats.org/drawingml/2006/main" noGrp="1"/>
          </p:cNvSpPr>
          <p:nvPr/>
        </p:nvSpPr>
        <p:spPr>
          <a:xfrm xmlns:a="http://schemas.openxmlformats.org/drawingml/2006/main">
            <a:off x="568960" y="1988820"/>
            <a:ext cx="6722110" cy="25895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9C127D-4ED5-4A8A-8553-61A694C483B9}"/>
              </a:ext>
            </a:extLst>
          </p:cNvPr>
          <p:cNvSpPr>
            <a:spLocks xmlns:a="http://schemas.openxmlformats.org/drawingml/2006/main" noGrp="1"/>
          </p:cNvSpPr>
          <p:nvPr/>
        </p:nvSpPr>
        <p:spPr>
          <a:xfrm xmlns:a="http://schemas.openxmlformats.org/drawingml/2006/main">
            <a:off x="568960" y="1988820"/>
            <a:ext cx="6722110" cy="2589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Provenance: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Provenance uses blockchain to track the origin and journey of food products.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Indonesia is the world's largest tuna-producing country, and tuna fishing is an important source of employment and foreign income.</a:t>
            </a:r>
          </a:p>
        </p:txBody>
      </p:sp>
    </p:spTree>
    <p:extLst>
      <p:ext uri="{BB962C8B-B14F-4D97-AF65-F5344CB8AC3E}">
        <p14:creationId xmlns:p14="http://schemas.microsoft.com/office/powerpoint/2010/main" val="376692604"/>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d73cef427034a7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DAD0F4-1DF8-4EFB-A5CD-D6258F1BDF8C}"/>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055248B-A1AB-4A5C-B879-EE1536664F70}"/>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3969DB5B-16D9-4065-8B06-7EC5E784EDE3}"/>
              </a:ext>
            </a:extLst>
          </p:cNvPr>
          <p:cNvSpPr>
            <a:spLocks xmlns:a="http://schemas.openxmlformats.org/drawingml/2006/main" noGrp="1"/>
          </p:cNvSpPr>
          <p:nvPr/>
        </p:nvSpPr>
        <p:spPr>
          <a:xfrm xmlns:a="http://schemas.openxmlformats.org/drawingml/2006/main">
            <a:off x="568960" y="1988820"/>
            <a:ext cx="6678930" cy="27660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5428C1-A481-48A9-9133-E8B8277D89D2}"/>
              </a:ext>
            </a:extLst>
          </p:cNvPr>
          <p:cNvSpPr>
            <a:spLocks xmlns:a="http://schemas.openxmlformats.org/drawingml/2006/main" noGrp="1"/>
          </p:cNvSpPr>
          <p:nvPr/>
        </p:nvSpPr>
        <p:spPr>
          <a:xfrm xmlns:a="http://schemas.openxmlformats.org/drawingml/2006/main">
            <a:off x="568960" y="1988820"/>
            <a:ext cx="6678930" cy="2766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The tuna industry faces overfishing, human-rights abuses, fraud, and illegal, unreported, and unregulated fishing.</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Provenance tracks tuna from Indonesian waters to the final consumer, helping confirm sustainable harvesting and processing.</a:t>
            </a:r>
          </a:p>
        </p:txBody>
      </p:sp>
    </p:spTree>
    <p:extLst>
      <p:ext uri="{BB962C8B-B14F-4D97-AF65-F5344CB8AC3E}">
        <p14:creationId xmlns:p14="http://schemas.microsoft.com/office/powerpoint/2010/main" val="958062080"/>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11f9fa7560948c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EAEF22-B110-4077-8B65-696DA7DF1924}"/>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3802633-7315-4BB7-AB7F-EF3CF2E2D0F5}"/>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1BF3A021-C5EB-421A-9A38-4929D4ED89DD}"/>
              </a:ext>
            </a:extLst>
          </p:cNvPr>
          <p:cNvSpPr>
            <a:spLocks xmlns:a="http://schemas.openxmlformats.org/drawingml/2006/main" noGrp="1"/>
          </p:cNvSpPr>
          <p:nvPr/>
        </p:nvSpPr>
        <p:spPr>
          <a:xfrm xmlns:a="http://schemas.openxmlformats.org/drawingml/2006/main">
            <a:off x="568960" y="1988820"/>
            <a:ext cx="6697980" cy="1736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9810642-0891-4274-8C75-9B6599FE672B}"/>
              </a:ext>
            </a:extLst>
          </p:cNvPr>
          <p:cNvSpPr>
            <a:spLocks xmlns:a="http://schemas.openxmlformats.org/drawingml/2006/main" noGrp="1"/>
          </p:cNvSpPr>
          <p:nvPr/>
        </p:nvSpPr>
        <p:spPr>
          <a:xfrm xmlns:a="http://schemas.openxmlformats.org/drawingml/2006/main">
            <a:off x="568960" y="1988820"/>
            <a:ext cx="6697980" cy="1736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Source: https://www.provenance.org/news-insights/tracking-tuna-catch-customer</a:t>
            </a:r>
          </a:p>
        </p:txBody>
      </p:sp>
    </p:spTree>
    <p:extLst>
      <p:ext uri="{BB962C8B-B14F-4D97-AF65-F5344CB8AC3E}">
        <p14:creationId xmlns:p14="http://schemas.microsoft.com/office/powerpoint/2010/main" val="1609098464"/>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12d39f717a1485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07022-F244-4BE0-9F42-7D8EEF4281A1}"/>
              </a:ext>
            </a:extLst>
          </p:cNvPr>
          <p:cNvSpPr>
            <a:spLocks xmlns:a="http://schemas.openxmlformats.org/drawingml/2006/main" noGrp="1"/>
          </p:cNvSpPr>
          <p:nvPr/>
        </p:nvSpPr>
        <p:spPr>
          <a:xfrm xmlns:a="http://schemas.openxmlformats.org/drawingml/2006/main">
            <a:off x="862965" y="5022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0891A5A-077C-4285-A710-53C95001C443}"/>
              </a:ext>
            </a:extLst>
          </p:cNvPr>
          <p:cNvSpPr>
            <a:spLocks xmlns:a="http://schemas.openxmlformats.org/drawingml/2006/main" noGrp="1"/>
          </p:cNvSpPr>
          <p:nvPr/>
        </p:nvSpPr>
        <p:spPr>
          <a:xfrm xmlns:a="http://schemas.openxmlformats.org/drawingml/2006/main">
            <a:off x="862965" y="5022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6B6938BA-95AA-4864-8979-EA6203BB4602}"/>
              </a:ext>
            </a:extLst>
          </p:cNvPr>
          <p:cNvSpPr>
            <a:spLocks xmlns:a="http://schemas.openxmlformats.org/drawingml/2006/main" noGrp="1"/>
          </p:cNvSpPr>
          <p:nvPr/>
        </p:nvSpPr>
        <p:spPr>
          <a:xfrm xmlns:a="http://schemas.openxmlformats.org/drawingml/2006/main">
            <a:off x="834390" y="1846580"/>
            <a:ext cx="10552430" cy="24599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3D736FA-0550-4EBF-BCB1-2F4B56143B18}"/>
              </a:ext>
            </a:extLst>
          </p:cNvPr>
          <p:cNvSpPr>
            <a:spLocks xmlns:a="http://schemas.openxmlformats.org/drawingml/2006/main" noGrp="1"/>
          </p:cNvSpPr>
          <p:nvPr/>
        </p:nvSpPr>
        <p:spPr>
          <a:xfrm xmlns:a="http://schemas.openxmlformats.org/drawingml/2006/main">
            <a:off x="834390" y="1846580"/>
            <a:ext cx="10552430" cy="24599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Phase 1 - the first mile: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Local fishers receive blockchain keys linked to verified phone and catch data. Simple SMS messages record daily catches and create blockchain assets. When fish are sold, ownership transfers to the supplier, creating a permanent digital history.</a:t>
            </a:r>
          </a:p>
        </p:txBody>
      </p:sp>
    </p:spTree>
    <p:extLst>
      <p:ext uri="{BB962C8B-B14F-4D97-AF65-F5344CB8AC3E}">
        <p14:creationId xmlns:p14="http://schemas.microsoft.com/office/powerpoint/2010/main" val="1981735712"/>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31315cc7e39406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B50582-9EA9-4FEC-9B8C-39431CC3DCEB}"/>
              </a:ext>
            </a:extLst>
          </p:cNvPr>
          <p:cNvSpPr>
            <a:spLocks xmlns:a="http://schemas.openxmlformats.org/drawingml/2006/main" noGrp="1"/>
          </p:cNvSpPr>
          <p:nvPr/>
        </p:nvSpPr>
        <p:spPr>
          <a:xfrm xmlns:a="http://schemas.openxmlformats.org/drawingml/2006/main">
            <a:off x="862965" y="5022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4B0BCE2-77A2-4CEB-9C54-FD23D50F9209}"/>
              </a:ext>
            </a:extLst>
          </p:cNvPr>
          <p:cNvSpPr>
            <a:spLocks xmlns:a="http://schemas.openxmlformats.org/drawingml/2006/main" noGrp="1"/>
          </p:cNvSpPr>
          <p:nvPr/>
        </p:nvSpPr>
        <p:spPr>
          <a:xfrm xmlns:a="http://schemas.openxmlformats.org/drawingml/2006/main">
            <a:off x="862965" y="5022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5AD701FC-AC82-465F-95FC-7E3079E11183}"/>
              </a:ext>
            </a:extLst>
          </p:cNvPr>
          <p:cNvSpPr>
            <a:spLocks xmlns:a="http://schemas.openxmlformats.org/drawingml/2006/main" noGrp="1"/>
          </p:cNvSpPr>
          <p:nvPr/>
        </p:nvSpPr>
        <p:spPr>
          <a:xfrm xmlns:a="http://schemas.openxmlformats.org/drawingml/2006/main">
            <a:off x="834390" y="1846580"/>
            <a:ext cx="10570210" cy="33743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E338470-89B5-4F80-B808-333235D3B8A3}"/>
              </a:ext>
            </a:extLst>
          </p:cNvPr>
          <p:cNvSpPr>
            <a:spLocks xmlns:a="http://schemas.openxmlformats.org/drawingml/2006/main" noGrp="1"/>
          </p:cNvSpPr>
          <p:nvPr/>
        </p:nvSpPr>
        <p:spPr>
          <a:xfrm xmlns:a="http://schemas.openxmlformats.org/drawingml/2006/main">
            <a:off x="834390" y="1846580"/>
            <a:ext cx="10570210" cy="33743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Phase 2 - along the chain: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Data flow into ERP and supply-chain systems to verify factory inputs and outputs. Smart contracts manage conversion from raw fish to finished products. Blockchain prevents duplicate sustainability claims and allows certifications to be accounted for without exposing every participant's complete dataset.</a:t>
            </a:r>
          </a:p>
        </p:txBody>
      </p:sp>
    </p:spTree>
    <p:extLst>
      <p:ext uri="{BB962C8B-B14F-4D97-AF65-F5344CB8AC3E}">
        <p14:creationId xmlns:p14="http://schemas.microsoft.com/office/powerpoint/2010/main" val="113671774"/>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50dc0c6a96f46d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A486DB-98B5-47CC-A6F5-D41AD78F4D9F}"/>
              </a:ext>
            </a:extLst>
          </p:cNvPr>
          <p:cNvSpPr>
            <a:spLocks xmlns:a="http://schemas.openxmlformats.org/drawingml/2006/main" noGrp="1"/>
          </p:cNvSpPr>
          <p:nvPr/>
        </p:nvSpPr>
        <p:spPr>
          <a:xfrm xmlns:a="http://schemas.openxmlformats.org/drawingml/2006/main">
            <a:off x="862965" y="5022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3198940-7495-40ED-AC84-F24C1108E513}"/>
              </a:ext>
            </a:extLst>
          </p:cNvPr>
          <p:cNvSpPr>
            <a:spLocks xmlns:a="http://schemas.openxmlformats.org/drawingml/2006/main" noGrp="1"/>
          </p:cNvSpPr>
          <p:nvPr/>
        </p:nvSpPr>
        <p:spPr>
          <a:xfrm xmlns:a="http://schemas.openxmlformats.org/drawingml/2006/main">
            <a:off x="862965" y="5022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34467FEE-12B6-47C0-ABCB-E57C9D54898D}"/>
              </a:ext>
            </a:extLst>
          </p:cNvPr>
          <p:cNvSpPr>
            <a:spLocks xmlns:a="http://schemas.openxmlformats.org/drawingml/2006/main" noGrp="1"/>
          </p:cNvSpPr>
          <p:nvPr/>
        </p:nvSpPr>
        <p:spPr>
          <a:xfrm xmlns:a="http://schemas.openxmlformats.org/drawingml/2006/main">
            <a:off x="834390" y="1846580"/>
            <a:ext cx="10386060" cy="2167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DD3C1A0-5C2B-4F78-8848-71225B4F4B6F}"/>
              </a:ext>
            </a:extLst>
          </p:cNvPr>
          <p:cNvSpPr>
            <a:spLocks xmlns:a="http://schemas.openxmlformats.org/drawingml/2006/main" noGrp="1"/>
          </p:cNvSpPr>
          <p:nvPr/>
        </p:nvSpPr>
        <p:spPr>
          <a:xfrm xmlns:a="http://schemas.openxmlformats.org/drawingml/2006/main">
            <a:off x="834390" y="1846580"/>
            <a:ext cx="10386060" cy="2167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Phase 3 - consumer environments: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Information collected at origin and throughout the supply chain becomes available to downstream buyers. Brands and retailers can replace dense printed communication with mobile-accessible information about producers, suppliers, and processing procedures.</a:t>
            </a:r>
          </a:p>
        </p:txBody>
      </p:sp>
    </p:spTree>
    <p:extLst>
      <p:ext uri="{BB962C8B-B14F-4D97-AF65-F5344CB8AC3E}">
        <p14:creationId xmlns:p14="http://schemas.microsoft.com/office/powerpoint/2010/main" val="1008757145"/>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a95707761f24ce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1867C6-D4F8-4576-AC1C-54A79D2BC6E7}"/>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8249C8-78F6-4EDE-9065-340743ADC057}"/>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EE7A074B-9C3E-4370-AA2B-3959BB922A1A}"/>
              </a:ext>
            </a:extLst>
          </p:cNvPr>
          <p:cNvSpPr>
            <a:spLocks xmlns:a="http://schemas.openxmlformats.org/drawingml/2006/main" noGrp="1"/>
          </p:cNvSpPr>
          <p:nvPr/>
        </p:nvSpPr>
        <p:spPr>
          <a:xfrm xmlns:a="http://schemas.openxmlformats.org/drawingml/2006/main">
            <a:off x="568960" y="1988820"/>
            <a:ext cx="6681470" cy="31991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B33BE7A-708C-406D-AEA4-E4789B9B707F}"/>
              </a:ext>
            </a:extLst>
          </p:cNvPr>
          <p:cNvSpPr>
            <a:spLocks xmlns:a="http://schemas.openxmlformats.org/drawingml/2006/main" noGrp="1"/>
          </p:cNvSpPr>
          <p:nvPr/>
        </p:nvSpPr>
        <p:spPr>
          <a:xfrm xmlns:a="http://schemas.openxmlformats.org/drawingml/2006/main">
            <a:off x="568960" y="1988820"/>
            <a:ext cx="6681470" cy="31991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Zebra Technologies and McCormick &amp; Company: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McCormick uses Zebra barcode and RFID solutions to trace spices, herbs, and seasonings.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Ingredients can be tracked from origin to final product, supporting quality and food-safety compliance.</a:t>
            </a:r>
          </a:p>
        </p:txBody>
      </p:sp>
    </p:spTree>
    <p:extLst>
      <p:ext uri="{BB962C8B-B14F-4D97-AF65-F5344CB8AC3E}">
        <p14:creationId xmlns:p14="http://schemas.microsoft.com/office/powerpoint/2010/main" val="1962420379"/>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abf9813fcda4bc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E91B89-4951-4EB2-95AE-4733D95142AB}"/>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4DB3E8F-B79A-4B03-844B-42655E7F2E82}"/>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B05A75EA-AF21-4A75-95A2-D11B5FDE6C91}"/>
              </a:ext>
            </a:extLst>
          </p:cNvPr>
          <p:cNvSpPr>
            <a:spLocks xmlns:a="http://schemas.openxmlformats.org/drawingml/2006/main" noGrp="1"/>
          </p:cNvSpPr>
          <p:nvPr/>
        </p:nvSpPr>
        <p:spPr>
          <a:xfrm xmlns:a="http://schemas.openxmlformats.org/drawingml/2006/main">
            <a:off x="568960" y="1988820"/>
            <a:ext cx="6577330" cy="28943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B1EE761-C63E-41F4-865A-210E8D00568D}"/>
              </a:ext>
            </a:extLst>
          </p:cNvPr>
          <p:cNvSpPr>
            <a:spLocks xmlns:a="http://schemas.openxmlformats.org/drawingml/2006/main" noGrp="1"/>
          </p:cNvSpPr>
          <p:nvPr/>
        </p:nvSpPr>
        <p:spPr>
          <a:xfrm xmlns:a="http://schemas.openxmlformats.org/drawingml/2006/main">
            <a:off x="568960" y="1988820"/>
            <a:ext cx="6577330" cy="28943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Fairfood:</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Fairfood is a nonprofit that uses blockchain to provide supply-chain transparency.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The initiative helps ensure fair compensation for producers and lets consumers trace food to its source.</a:t>
            </a:r>
          </a:p>
        </p:txBody>
      </p:sp>
    </p:spTree>
    <p:extLst>
      <p:ext uri="{BB962C8B-B14F-4D97-AF65-F5344CB8AC3E}">
        <p14:creationId xmlns:p14="http://schemas.microsoft.com/office/powerpoint/2010/main" val="894653434"/>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e7a12e32aba40d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16AD65-A9C8-4DE1-B3DE-1F371CC9E076}"/>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8648FB8-9337-4D7D-857C-550CFE94924A}"/>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1C0594ED-1134-4445-B004-6A615754A2E1}"/>
              </a:ext>
            </a:extLst>
          </p:cNvPr>
          <p:cNvSpPr>
            <a:spLocks xmlns:a="http://schemas.openxmlformats.org/drawingml/2006/main" noGrp="1"/>
          </p:cNvSpPr>
          <p:nvPr/>
        </p:nvSpPr>
        <p:spPr>
          <a:xfrm xmlns:a="http://schemas.openxmlformats.org/drawingml/2006/main">
            <a:off x="568960" y="1988820"/>
            <a:ext cx="6775450" cy="1864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2F816B5-CA48-42FF-94F1-F1F746DA0F95}"/>
              </a:ext>
            </a:extLst>
          </p:cNvPr>
          <p:cNvSpPr>
            <a:spLocks xmlns:a="http://schemas.openxmlformats.org/drawingml/2006/main" noGrp="1"/>
          </p:cNvSpPr>
          <p:nvPr/>
        </p:nvSpPr>
        <p:spPr>
          <a:xfrm xmlns:a="http://schemas.openxmlformats.org/drawingml/2006/main">
            <a:off x="568960" y="1988820"/>
            <a:ext cx="6775450" cy="1864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Fairfood and coffee producers: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In collaboration with Koffielust and coffee supplier MAAS, Pure Africa developed an exclusive coffee label called De Idealist.</a:t>
            </a:r>
          </a:p>
        </p:txBody>
      </p:sp>
    </p:spTree>
    <p:extLst>
      <p:ext uri="{BB962C8B-B14F-4D97-AF65-F5344CB8AC3E}">
        <p14:creationId xmlns:p14="http://schemas.microsoft.com/office/powerpoint/2010/main" val="262949531"/>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d9a076f2bb8490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A226F7-89D8-4B11-B326-B706BF5B07C1}"/>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B12E0F8-4494-484E-86A0-E1C4E411F6A0}"/>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5FE8B9BF-6056-453A-9BCD-3836F3DCC866}"/>
              </a:ext>
            </a:extLst>
          </p:cNvPr>
          <p:cNvSpPr>
            <a:spLocks xmlns:a="http://schemas.openxmlformats.org/drawingml/2006/main" noGrp="1"/>
          </p:cNvSpPr>
          <p:nvPr/>
        </p:nvSpPr>
        <p:spPr>
          <a:xfrm xmlns:a="http://schemas.openxmlformats.org/drawingml/2006/main">
            <a:off x="568960" y="1988820"/>
            <a:ext cx="6526530" cy="1864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DC316D4-05BB-4CC4-84E9-D5A87AFB32BF}"/>
              </a:ext>
            </a:extLst>
          </p:cNvPr>
          <p:cNvSpPr>
            <a:spLocks xmlns:a="http://schemas.openxmlformats.org/drawingml/2006/main" noGrp="1"/>
          </p:cNvSpPr>
          <p:nvPr/>
        </p:nvSpPr>
        <p:spPr>
          <a:xfrm xmlns:a="http://schemas.openxmlformats.org/drawingml/2006/main">
            <a:off x="568960" y="1988820"/>
            <a:ext cx="6526530" cy="1864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Fairfood and coffee producers: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Pure Africa uses the Trace platform to gain deeper insight into the production chains behind this coffee.</a:t>
            </a:r>
          </a:p>
        </p:txBody>
      </p:sp>
    </p:spTree>
    <p:extLst>
      <p:ext uri="{BB962C8B-B14F-4D97-AF65-F5344CB8AC3E}">
        <p14:creationId xmlns:p14="http://schemas.microsoft.com/office/powerpoint/2010/main" val="648563768"/>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99c598861ba44f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397E5D-6CBE-458F-B66F-093E71D96393}"/>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706E312-E9C6-43EE-BD7D-F1A50DB12D24}"/>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CE9FC58D-7206-416C-9256-3F4AD7BCF499}"/>
              </a:ext>
            </a:extLst>
          </p:cNvPr>
          <p:cNvSpPr>
            <a:spLocks xmlns:a="http://schemas.openxmlformats.org/drawingml/2006/main" noGrp="1"/>
          </p:cNvSpPr>
          <p:nvPr/>
        </p:nvSpPr>
        <p:spPr>
          <a:xfrm xmlns:a="http://schemas.openxmlformats.org/drawingml/2006/main">
            <a:off x="568960" y="1988820"/>
            <a:ext cx="6711950" cy="1864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6B32CFF-2211-48F1-935D-704766FCEF40}"/>
              </a:ext>
            </a:extLst>
          </p:cNvPr>
          <p:cNvSpPr>
            <a:spLocks xmlns:a="http://schemas.openxmlformats.org/drawingml/2006/main" noGrp="1"/>
          </p:cNvSpPr>
          <p:nvPr/>
        </p:nvSpPr>
        <p:spPr>
          <a:xfrm xmlns:a="http://schemas.openxmlformats.org/drawingml/2006/main">
            <a:off x="568960" y="1988820"/>
            <a:ext cx="6711950" cy="1864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Fairfood and coffee producers: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Trabocca is a coffee-bean importer that works with growers, cooperatives, and exporters to supply roasters with traceable green specialty coffees.</a:t>
            </a:r>
          </a:p>
        </p:txBody>
      </p:sp>
    </p:spTree>
    <p:extLst>
      <p:ext uri="{BB962C8B-B14F-4D97-AF65-F5344CB8AC3E}">
        <p14:creationId xmlns:p14="http://schemas.microsoft.com/office/powerpoint/2010/main" val="494438760"/>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04d91ac050a4ba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DAC8012-405E-4FC3-A759-A7A701C13AA8}"/>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D019655-B189-4BB9-91E6-5AEB79B04FD3}"/>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FBEB5BE3-854E-4255-8E31-96D87EFCA2DB}"/>
              </a:ext>
            </a:extLst>
          </p:cNvPr>
          <p:cNvSpPr>
            <a:spLocks xmlns:a="http://schemas.openxmlformats.org/drawingml/2006/main" noGrp="1"/>
          </p:cNvSpPr>
          <p:nvPr/>
        </p:nvSpPr>
        <p:spPr>
          <a:xfrm xmlns:a="http://schemas.openxmlformats.org/drawingml/2006/main">
            <a:off x="568960" y="1988820"/>
            <a:ext cx="6612890" cy="21691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592DFA1-2B55-420A-8853-2F02732C0957}"/>
              </a:ext>
            </a:extLst>
          </p:cNvPr>
          <p:cNvSpPr>
            <a:spLocks xmlns:a="http://schemas.openxmlformats.org/drawingml/2006/main" noGrp="1"/>
          </p:cNvSpPr>
          <p:nvPr/>
        </p:nvSpPr>
        <p:spPr>
          <a:xfrm xmlns:a="http://schemas.openxmlformats.org/drawingml/2006/main">
            <a:off x="568960" y="1988820"/>
            <a:ext cx="6612890" cy="2169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In partnership with Fairfood, Trabocca traced every transaction behind its Ethiopian coffee.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The data indicated that participating farmers earned 63% more than farmers elsewhere.</a:t>
            </a:r>
          </a:p>
        </p:txBody>
      </p:sp>
    </p:spTree>
    <p:extLst>
      <p:ext uri="{BB962C8B-B14F-4D97-AF65-F5344CB8AC3E}">
        <p14:creationId xmlns:p14="http://schemas.microsoft.com/office/powerpoint/2010/main" val="742683950"/>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5f94a23217b4fb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E15EC1-9A98-4BB9-95D8-4B77F245DBB5}"/>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56C8519-0BEC-4018-B4B2-DB5884C24704}"/>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562C7F50-CEBA-4B07-AE71-B9FC416C7DC2}"/>
              </a:ext>
            </a:extLst>
          </p:cNvPr>
          <p:cNvSpPr>
            <a:spLocks xmlns:a="http://schemas.openxmlformats.org/drawingml/2006/main" noGrp="1"/>
          </p:cNvSpPr>
          <p:nvPr/>
        </p:nvSpPr>
        <p:spPr>
          <a:xfrm xmlns:a="http://schemas.openxmlformats.org/drawingml/2006/main">
            <a:off x="568960" y="1988820"/>
            <a:ext cx="6709410" cy="31991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205BA50-A201-4EEE-ACAA-FE0BA75BBD4F}"/>
              </a:ext>
            </a:extLst>
          </p:cNvPr>
          <p:cNvSpPr>
            <a:spLocks xmlns:a="http://schemas.openxmlformats.org/drawingml/2006/main" noGrp="1"/>
          </p:cNvSpPr>
          <p:nvPr/>
        </p:nvSpPr>
        <p:spPr>
          <a:xfrm xmlns:a="http://schemas.openxmlformats.org/drawingml/2006/main">
            <a:off x="568960" y="1988820"/>
            <a:ext cx="6709410" cy="31991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TE-FOOD is a blockchain-based farm-to-table food traceability solution.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It has been deployed in several countries to track livestock and fresh products.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In Vietnam, TE-FOOD traces the pork supply chain from breeding to retail, supporting transparency and safety.</a:t>
            </a:r>
          </a:p>
        </p:txBody>
      </p:sp>
    </p:spTree>
    <p:extLst>
      <p:ext uri="{BB962C8B-B14F-4D97-AF65-F5344CB8AC3E}">
        <p14:creationId xmlns:p14="http://schemas.microsoft.com/office/powerpoint/2010/main" val="925878283"/>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38ba6198dec475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EF771C-F20F-4D66-A737-E8722AE67EEC}"/>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877F88-D917-4254-B470-D71F15AD2DB6}"/>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F7689F89-487C-437B-932B-578F4C46D2C1}"/>
              </a:ext>
            </a:extLst>
          </p:cNvPr>
          <p:cNvSpPr>
            <a:spLocks xmlns:a="http://schemas.openxmlformats.org/drawingml/2006/main" noGrp="1"/>
          </p:cNvSpPr>
          <p:nvPr/>
        </p:nvSpPr>
        <p:spPr>
          <a:xfrm xmlns:a="http://schemas.openxmlformats.org/drawingml/2006/main">
            <a:off x="568960" y="1988820"/>
            <a:ext cx="6671310" cy="22974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B6CDA93-8E2C-4B96-9CAF-162B19DCF0B2}"/>
              </a:ext>
            </a:extLst>
          </p:cNvPr>
          <p:cNvSpPr>
            <a:spLocks xmlns:a="http://schemas.openxmlformats.org/drawingml/2006/main" noGrp="1"/>
          </p:cNvSpPr>
          <p:nvPr/>
        </p:nvSpPr>
        <p:spPr>
          <a:xfrm xmlns:a="http://schemas.openxmlformats.org/drawingml/2006/main">
            <a:off x="568960" y="1988820"/>
            <a:ext cx="6671310" cy="22974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Nestlé and OpenSC:</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Nestlé partnered with blockchain platform OpenSC to trace product supply chains.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The initiative provides transparency and helps guarantee authenticity and quality.</a:t>
            </a:r>
          </a:p>
        </p:txBody>
      </p:sp>
    </p:spTree>
    <p:extLst>
      <p:ext uri="{BB962C8B-B14F-4D97-AF65-F5344CB8AC3E}">
        <p14:creationId xmlns:p14="http://schemas.microsoft.com/office/powerpoint/2010/main" val="316460563"/>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140fc6282ea4f7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983A977-161D-4096-805E-ECEA9488F6FB}"/>
              </a:ext>
            </a:extLst>
          </p:cNvPr>
          <p:cNvSpPr>
            <a:spLocks xmlns:a="http://schemas.openxmlformats.org/drawingml/2006/main" noGrp="1"/>
          </p:cNvSpPr>
          <p:nvPr/>
        </p:nvSpPr>
        <p:spPr>
          <a:xfrm xmlns:a="http://schemas.openxmlformats.org/drawingml/2006/main">
            <a:off x="664845" y="117030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132741B-29B9-4EF0-8E91-1F29DD122FC8}"/>
              </a:ext>
            </a:extLst>
          </p:cNvPr>
          <p:cNvSpPr>
            <a:spLocks xmlns:a="http://schemas.openxmlformats.org/drawingml/2006/main" noGrp="1"/>
          </p:cNvSpPr>
          <p:nvPr/>
        </p:nvSpPr>
        <p:spPr>
          <a:xfrm xmlns:a="http://schemas.openxmlformats.org/drawingml/2006/main">
            <a:off x="664845" y="117030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7B2E84B0-0034-4423-ADFA-3A994DBC0A78}"/>
              </a:ext>
            </a:extLst>
          </p:cNvPr>
          <p:cNvSpPr>
            <a:spLocks xmlns:a="http://schemas.openxmlformats.org/drawingml/2006/main" noGrp="1"/>
          </p:cNvSpPr>
          <p:nvPr/>
        </p:nvSpPr>
        <p:spPr>
          <a:xfrm xmlns:a="http://schemas.openxmlformats.org/drawingml/2006/main">
            <a:off x="636270" y="2623820"/>
            <a:ext cx="6752590" cy="27165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27C651-DDC2-4779-89BB-C1D251FC588E}"/>
              </a:ext>
            </a:extLst>
          </p:cNvPr>
          <p:cNvSpPr>
            <a:spLocks xmlns:a="http://schemas.openxmlformats.org/drawingml/2006/main" noGrp="1"/>
          </p:cNvSpPr>
          <p:nvPr/>
        </p:nvSpPr>
        <p:spPr>
          <a:xfrm xmlns:a="http://schemas.openxmlformats.org/drawingml/2006/main">
            <a:off x="636270" y="2623820"/>
            <a:ext cx="6752590" cy="2716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Nestlé and OpenSC:</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 traceability tool follows Congo's KAHAWA coffee used in Nespresso capsules.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https://nestle-nespresso.com/news/new-levels-transparency-coffee-supply-chain</a:t>
            </a:r>
          </a:p>
          <a:p xmlns:a="http://schemas.openxmlformats.org/drawingml/2006/main">
            <a:pPr algn="l">
              <a:defRPr sz="1650" b="0">
                <a:solidFill>
                  <a:srgbClr val="111111"/>
                </a:solidFill>
              </a:defRPr>
            </a:pPr>
            <a:r>
              <a:rPr sz="1650" b="0">
                <a:solidFill>
                  <a:srgbClr val="111111"/>
                </a:solidFill>
              </a:rPr>
              <a:t>• https://nespresso.opensc.org/product/46155847884615538540/journey</a:t>
            </a:r>
          </a:p>
        </p:txBody>
      </p:sp>
    </p:spTree>
    <p:extLst>
      <p:ext uri="{BB962C8B-B14F-4D97-AF65-F5344CB8AC3E}">
        <p14:creationId xmlns:p14="http://schemas.microsoft.com/office/powerpoint/2010/main" val="1345341418"/>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481de0cb0694c6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8F93066-E823-4E78-BCAA-D971A5D67FA9}"/>
              </a:ext>
            </a:extLst>
          </p:cNvPr>
          <p:cNvSpPr>
            <a:spLocks xmlns:a="http://schemas.openxmlformats.org/drawingml/2006/main" noGrp="1"/>
          </p:cNvSpPr>
          <p:nvPr/>
        </p:nvSpPr>
        <p:spPr>
          <a:xfrm xmlns:a="http://schemas.openxmlformats.org/drawingml/2006/main">
            <a:off x="664845" y="117030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59890C-B092-4ED2-BAAC-4E14986CD6F4}"/>
              </a:ext>
            </a:extLst>
          </p:cNvPr>
          <p:cNvSpPr>
            <a:spLocks xmlns:a="http://schemas.openxmlformats.org/drawingml/2006/main" noGrp="1"/>
          </p:cNvSpPr>
          <p:nvPr/>
        </p:nvSpPr>
        <p:spPr>
          <a:xfrm xmlns:a="http://schemas.openxmlformats.org/drawingml/2006/main">
            <a:off x="664845" y="117030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5349303A-0B0C-405E-849C-3AB3804109FB}"/>
              </a:ext>
            </a:extLst>
          </p:cNvPr>
          <p:cNvSpPr>
            <a:spLocks xmlns:a="http://schemas.openxmlformats.org/drawingml/2006/main" noGrp="1"/>
          </p:cNvSpPr>
          <p:nvPr/>
        </p:nvSpPr>
        <p:spPr>
          <a:xfrm xmlns:a="http://schemas.openxmlformats.org/drawingml/2006/main">
            <a:off x="636270" y="2623820"/>
            <a:ext cx="6650990" cy="12534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4AB18A8-87BA-4C31-ADD9-42BBB71AB06A}"/>
              </a:ext>
            </a:extLst>
          </p:cNvPr>
          <p:cNvSpPr>
            <a:spLocks xmlns:a="http://schemas.openxmlformats.org/drawingml/2006/main" noGrp="1"/>
          </p:cNvSpPr>
          <p:nvPr/>
        </p:nvSpPr>
        <p:spPr>
          <a:xfrm xmlns:a="http://schemas.openxmlformats.org/drawingml/2006/main">
            <a:off x="636270" y="2623820"/>
            <a:ext cx="6650990" cy="12534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Nestlé and OpenSC:</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Traceability for Congo's KAHAWA coffee used in Nespresso capsules.</a:t>
            </a:r>
          </a:p>
        </p:txBody>
      </p:sp>
    </p:spTree>
    <p:extLst>
      <p:ext uri="{BB962C8B-B14F-4D97-AF65-F5344CB8AC3E}">
        <p14:creationId xmlns:p14="http://schemas.microsoft.com/office/powerpoint/2010/main" val="1741466441"/>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7f321c7bafd4b0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C5BC8CF-3112-421F-A243-F2354D44357C}"/>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094086E-8261-48CF-BE97-812FD2435C73}"/>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F1AC88F5-DA31-4F0A-B7C9-66CFFF5258A2}"/>
              </a:ext>
            </a:extLst>
          </p:cNvPr>
          <p:cNvSpPr>
            <a:spLocks xmlns:a="http://schemas.openxmlformats.org/drawingml/2006/main" noGrp="1"/>
          </p:cNvSpPr>
          <p:nvPr/>
        </p:nvSpPr>
        <p:spPr>
          <a:xfrm xmlns:a="http://schemas.openxmlformats.org/drawingml/2006/main">
            <a:off x="568960" y="1988820"/>
            <a:ext cx="6649720" cy="12547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6416A3B-0C61-4711-B6E9-AE165945AD69}"/>
              </a:ext>
            </a:extLst>
          </p:cNvPr>
          <p:cNvSpPr>
            <a:spLocks xmlns:a="http://schemas.openxmlformats.org/drawingml/2006/main" noGrp="1"/>
          </p:cNvSpPr>
          <p:nvPr/>
        </p:nvSpPr>
        <p:spPr>
          <a:xfrm xmlns:a="http://schemas.openxmlformats.org/drawingml/2006/main">
            <a:off x="568960" y="1988820"/>
            <a:ext cx="6649720" cy="1254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Nestlé and OpenSC:</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Traceability for Congo's KAHAWA coffee used in Nespresso capsules.</a:t>
            </a:r>
          </a:p>
        </p:txBody>
      </p:sp>
    </p:spTree>
    <p:extLst>
      <p:ext uri="{BB962C8B-B14F-4D97-AF65-F5344CB8AC3E}">
        <p14:creationId xmlns:p14="http://schemas.microsoft.com/office/powerpoint/2010/main" val="87769957"/>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6fb36ea6f044c9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CB95C4-65AE-4180-9311-0F9F010975A8}"/>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0F0E77D-65E3-4F8F-8C57-6D27A87A1F4F}"/>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C63B4C68-738B-44CD-A8D0-DDD08D6E3961}"/>
              </a:ext>
            </a:extLst>
          </p:cNvPr>
          <p:cNvSpPr>
            <a:spLocks xmlns:a="http://schemas.openxmlformats.org/drawingml/2006/main" noGrp="1"/>
          </p:cNvSpPr>
          <p:nvPr/>
        </p:nvSpPr>
        <p:spPr>
          <a:xfrm xmlns:a="http://schemas.openxmlformats.org/drawingml/2006/main">
            <a:off x="568960" y="1988820"/>
            <a:ext cx="6605270" cy="28943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E13E484-6223-429D-B1C6-F0CE516C0B07}"/>
              </a:ext>
            </a:extLst>
          </p:cNvPr>
          <p:cNvSpPr>
            <a:spLocks xmlns:a="http://schemas.openxmlformats.org/drawingml/2006/main" noGrp="1"/>
          </p:cNvSpPr>
          <p:nvPr/>
        </p:nvSpPr>
        <p:spPr>
          <a:xfrm xmlns:a="http://schemas.openxmlformats.org/drawingml/2006/main">
            <a:off x="568960" y="1988820"/>
            <a:ext cx="6605270" cy="28943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Carrefour and Hyperledger:</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Carrefour uses Hyperledger Fabric to trace products including meat, milk, and fruit.</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Customers scan a QR code on the package to view the product's journey from farm to shelf.</a:t>
            </a:r>
          </a:p>
        </p:txBody>
      </p:sp>
    </p:spTree>
    <p:extLst>
      <p:ext uri="{BB962C8B-B14F-4D97-AF65-F5344CB8AC3E}">
        <p14:creationId xmlns:p14="http://schemas.microsoft.com/office/powerpoint/2010/main" val="706982801"/>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070b054dc6c4d5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55F562-F096-4A64-8998-9BF419AD4F35}"/>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0EF0618-C7E8-428E-89BC-0B1ED1577CD2}"/>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F31A9E76-F1C3-47CF-9168-0400CA56AF2D}"/>
              </a:ext>
            </a:extLst>
          </p:cNvPr>
          <p:cNvSpPr>
            <a:spLocks xmlns:a="http://schemas.openxmlformats.org/drawingml/2006/main" noGrp="1"/>
          </p:cNvSpPr>
          <p:nvPr/>
        </p:nvSpPr>
        <p:spPr>
          <a:xfrm xmlns:a="http://schemas.openxmlformats.org/drawingml/2006/main">
            <a:off x="568960" y="1988820"/>
            <a:ext cx="6714490" cy="19926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8D06D96-2F2E-428D-9F0A-DE1E092B9F6F}"/>
              </a:ext>
            </a:extLst>
          </p:cNvPr>
          <p:cNvSpPr>
            <a:spLocks xmlns:a="http://schemas.openxmlformats.org/drawingml/2006/main" noGrp="1"/>
          </p:cNvSpPr>
          <p:nvPr/>
        </p:nvSpPr>
        <p:spPr>
          <a:xfrm xmlns:a="http://schemas.openxmlformats.org/drawingml/2006/main">
            <a:off x="568960" y="1988820"/>
            <a:ext cx="6714490" cy="1992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Carrefour and BRF:</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BRF and Carrefour partnered with IBM Brazil on the Food Tracking project.</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The goal is blockchain-based product traceability.</a:t>
            </a:r>
          </a:p>
        </p:txBody>
      </p:sp>
    </p:spTree>
    <p:extLst>
      <p:ext uri="{BB962C8B-B14F-4D97-AF65-F5344CB8AC3E}">
        <p14:creationId xmlns:p14="http://schemas.microsoft.com/office/powerpoint/2010/main" val="124998480"/>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2c21446f3d5416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DF0911-E243-433C-8739-71F3076AEFFE}"/>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DE7575-23AB-4BF9-8CE2-5AD2FEC1D5C5}"/>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ED5A86E4-C3EE-44C5-AAF5-2E597FD9DDF0}"/>
              </a:ext>
            </a:extLst>
          </p:cNvPr>
          <p:cNvSpPr>
            <a:spLocks xmlns:a="http://schemas.openxmlformats.org/drawingml/2006/main" noGrp="1"/>
          </p:cNvSpPr>
          <p:nvPr/>
        </p:nvSpPr>
        <p:spPr>
          <a:xfrm xmlns:a="http://schemas.openxmlformats.org/drawingml/2006/main">
            <a:off x="568960" y="1988820"/>
            <a:ext cx="6673850" cy="28943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72D422-8C5A-4105-80AE-3242E461191F}"/>
              </a:ext>
            </a:extLst>
          </p:cNvPr>
          <p:cNvSpPr>
            <a:spLocks xmlns:a="http://schemas.openxmlformats.org/drawingml/2006/main" noGrp="1"/>
          </p:cNvSpPr>
          <p:nvPr/>
        </p:nvSpPr>
        <p:spPr>
          <a:xfrm xmlns:a="http://schemas.openxmlformats.org/drawingml/2006/main">
            <a:off x="568960" y="1988820"/>
            <a:ext cx="6673850" cy="28943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Italian olive oil:</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The Italian government implemented blockchain traceability for olive oil.</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Consumers can trace oil to a specific farm and production batch, helping guarantee authenticity and quality.</a:t>
            </a:r>
          </a:p>
        </p:txBody>
      </p:sp>
    </p:spTree>
    <p:extLst>
      <p:ext uri="{BB962C8B-B14F-4D97-AF65-F5344CB8AC3E}">
        <p14:creationId xmlns:p14="http://schemas.microsoft.com/office/powerpoint/2010/main" val="1146960081"/>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4151805f38d496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96C56F-889B-4123-9D0B-44A3A0FC2070}"/>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DDD3AA-B1CD-450D-ABD2-A2BAFEAEF0E5}"/>
              </a:ext>
            </a:extLst>
          </p:cNvPr>
          <p:cNvSpPr>
            <a:spLocks xmlns:a="http://schemas.openxmlformats.org/drawingml/2006/main" noGrp="1"/>
          </p:cNvSpPr>
          <p:nvPr/>
        </p:nvSpPr>
        <p:spPr>
          <a:xfrm xmlns:a="http://schemas.openxmlformats.org/drawingml/2006/main">
            <a:off x="597535" y="730885"/>
            <a:ext cx="387731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Use Cases</a:t>
            </a:r>
          </a:p>
        </p:txBody>
      </p:sp>
      <p:sp>
        <p:nvSpPr>
          <p:cNvPr id="4" name="">
            <a:extLst xmlns:a="http://schemas.openxmlformats.org/drawingml/2006/main">
              <a:ext uri="{FF2B5EF4-FFF2-40B4-BE49-F238E27FC236}">
                <a16:creationId xmlns:a16="http://schemas.microsoft.com/office/drawing/2014/main" id="{8FAC4381-D948-4A6C-8858-4F902671C6B9}"/>
              </a:ext>
            </a:extLst>
          </p:cNvPr>
          <p:cNvSpPr>
            <a:spLocks xmlns:a="http://schemas.openxmlformats.org/drawingml/2006/main" noGrp="1"/>
          </p:cNvSpPr>
          <p:nvPr/>
        </p:nvSpPr>
        <p:spPr>
          <a:xfrm xmlns:a="http://schemas.openxmlformats.org/drawingml/2006/main">
            <a:off x="568960" y="1986280"/>
            <a:ext cx="6650990" cy="36118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3E766FB-0B96-4B23-9393-5CB3BDC548D2}"/>
              </a:ext>
            </a:extLst>
          </p:cNvPr>
          <p:cNvSpPr>
            <a:spLocks xmlns:a="http://schemas.openxmlformats.org/drawingml/2006/main" noGrp="1"/>
          </p:cNvSpPr>
          <p:nvPr/>
        </p:nvSpPr>
        <p:spPr>
          <a:xfrm xmlns:a="http://schemas.openxmlformats.org/drawingml/2006/main">
            <a:off x="568960" y="1986280"/>
            <a:ext cx="6650990" cy="3611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IBM Food Trust and Coricelli:</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 three-year supply-chain contract covers 2 million kg of Italian olive oil from three organizations in Apulia.</a:t>
            </a:r>
          </a:p>
          <a:p xmlns:a="http://schemas.openxmlformats.org/drawingml/2006/main">
            <a:pPr algn="l">
              <a:defRPr sz="1650" b="0">
                <a:solidFill>
                  <a:srgbClr val="111111"/>
                </a:solidFill>
              </a:defRPr>
            </a:pPr>
            <a:r>
              <a:rPr sz="1650" b="0">
                <a:solidFill>
                  <a:srgbClr val="111111"/>
                </a:solidFill>
              </a:rPr>
              <a:t>• Coricelli is present in 110 countries; exports represent 54% of sales.</a:t>
            </a:r>
          </a:p>
          <a:p xmlns:a="http://schemas.openxmlformats.org/drawingml/2006/main">
            <a:pPr algn="l">
              <a:defRPr sz="1650" b="0">
                <a:solidFill>
                  <a:srgbClr val="111111"/>
                </a:solidFill>
              </a:defRPr>
            </a:pPr>
            <a:r>
              <a:rPr sz="1650" b="0">
                <a:solidFill>
                  <a:srgbClr val="111111"/>
                </a:solidFill>
              </a:rPr>
              <a:t>• Four million kg of oil are traced by blockchain.</a:t>
            </a:r>
          </a:p>
          <a:p xmlns:a="http://schemas.openxmlformats.org/drawingml/2006/main">
            <a:pPr algn="l">
              <a:defRPr sz="1650" b="0">
                <a:solidFill>
                  <a:srgbClr val="111111"/>
                </a:solidFill>
              </a:defRPr>
            </a:pPr>
            <a:r>
              <a:rPr sz="1650" b="0">
                <a:solidFill>
                  <a:srgbClr val="111111"/>
                </a:solidFill>
              </a:rPr>
              <a:t>• The product carries the 100% Italian label 'Signed by Italian Farmers.'</a:t>
            </a:r>
          </a:p>
        </p:txBody>
      </p:sp>
    </p:spTree>
    <p:extLst>
      <p:ext uri="{BB962C8B-B14F-4D97-AF65-F5344CB8AC3E}">
        <p14:creationId xmlns:p14="http://schemas.microsoft.com/office/powerpoint/2010/main" val="532919993"/>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a46a9b067cf24ce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474A039-A3B7-4E5E-9C3B-2856BC3141EA}"/>
              </a:ext>
            </a:extLst>
          </p:cNvPr>
          <p:cNvSpPr>
            <a:spLocks xmlns:a="http://schemas.openxmlformats.org/drawingml/2006/main" noGrp="1"/>
          </p:cNvSpPr>
          <p:nvPr/>
        </p:nvSpPr>
        <p:spPr>
          <a:xfrm xmlns:a="http://schemas.openxmlformats.org/drawingml/2006/main">
            <a:off x="8178165" y="1054735"/>
            <a:ext cx="2698750" cy="10617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D4ADD5-1D23-42E4-BCDA-05519AA305A4}"/>
              </a:ext>
            </a:extLst>
          </p:cNvPr>
          <p:cNvSpPr>
            <a:spLocks xmlns:a="http://schemas.openxmlformats.org/drawingml/2006/main" noGrp="1"/>
          </p:cNvSpPr>
          <p:nvPr/>
        </p:nvSpPr>
        <p:spPr>
          <a:xfrm xmlns:a="http://schemas.openxmlformats.org/drawingml/2006/main">
            <a:off x="8178165" y="1054735"/>
            <a:ext cx="2698750" cy="10617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Big Data</a:t>
            </a:r>
          </a:p>
        </p:txBody>
      </p:sp>
    </p:spTree>
    <p:extLst>
      <p:ext uri="{BB962C8B-B14F-4D97-AF65-F5344CB8AC3E}">
        <p14:creationId xmlns:p14="http://schemas.microsoft.com/office/powerpoint/2010/main" val="241954731"/>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22f3511f8ef4dd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8EC1A0-F08D-4D72-8F3C-33A2D96E4CB0}"/>
              </a:ext>
            </a:extLst>
          </p:cNvPr>
          <p:cNvSpPr>
            <a:spLocks xmlns:a="http://schemas.openxmlformats.org/drawingml/2006/main" noGrp="1"/>
          </p:cNvSpPr>
          <p:nvPr/>
        </p:nvSpPr>
        <p:spPr>
          <a:xfrm xmlns:a="http://schemas.openxmlformats.org/drawingml/2006/main">
            <a:off x="597535" y="800735"/>
            <a:ext cx="1080135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4ABB2EB-38C1-4991-AA61-1C5725AD085E}"/>
              </a:ext>
            </a:extLst>
          </p:cNvPr>
          <p:cNvSpPr>
            <a:spLocks xmlns:a="http://schemas.openxmlformats.org/drawingml/2006/main" noGrp="1"/>
          </p:cNvSpPr>
          <p:nvPr/>
        </p:nvSpPr>
        <p:spPr>
          <a:xfrm xmlns:a="http://schemas.openxmlformats.org/drawingml/2006/main">
            <a:off x="597535" y="800735"/>
            <a:ext cx="1080135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Big Data</a:t>
            </a:r>
          </a:p>
        </p:txBody>
      </p:sp>
      <p:sp>
        <p:nvSpPr>
          <p:cNvPr id="4" name="">
            <a:extLst xmlns:a="http://schemas.openxmlformats.org/drawingml/2006/main">
              <a:ext uri="{FF2B5EF4-FFF2-40B4-BE49-F238E27FC236}">
                <a16:creationId xmlns:a16="http://schemas.microsoft.com/office/drawing/2014/main" id="{E4D62A68-D832-42C0-8AB0-1BBAF92226E9}"/>
              </a:ext>
            </a:extLst>
          </p:cNvPr>
          <p:cNvSpPr>
            <a:spLocks xmlns:a="http://schemas.openxmlformats.org/drawingml/2006/main" noGrp="1"/>
          </p:cNvSpPr>
          <p:nvPr/>
        </p:nvSpPr>
        <p:spPr>
          <a:xfrm xmlns:a="http://schemas.openxmlformats.org/drawingml/2006/main">
            <a:off x="568960" y="1988820"/>
            <a:ext cx="6494780" cy="1736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F6FE416-7CD7-42E3-B33F-729B1197480C}"/>
              </a:ext>
            </a:extLst>
          </p:cNvPr>
          <p:cNvSpPr>
            <a:spLocks xmlns:a="http://schemas.openxmlformats.org/drawingml/2006/main" noGrp="1"/>
          </p:cNvSpPr>
          <p:nvPr/>
        </p:nvSpPr>
        <p:spPr>
          <a:xfrm xmlns:a="http://schemas.openxmlformats.org/drawingml/2006/main">
            <a:off x="568960" y="1988820"/>
            <a:ext cx="6494780" cy="1736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In Agriculture 4.0, big data refers to the vast and diverse datasets generated by sensors, drones, satellites, weather stations, and agricultural machinery.</a:t>
            </a:r>
          </a:p>
        </p:txBody>
      </p:sp>
    </p:spTree>
    <p:extLst>
      <p:ext uri="{BB962C8B-B14F-4D97-AF65-F5344CB8AC3E}">
        <p14:creationId xmlns:p14="http://schemas.microsoft.com/office/powerpoint/2010/main" val="1668222436"/>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77e51a42e9343e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1883DB-70CE-4B35-9DC1-9116F847F17F}"/>
              </a:ext>
            </a:extLst>
          </p:cNvPr>
          <p:cNvSpPr>
            <a:spLocks xmlns:a="http://schemas.openxmlformats.org/drawingml/2006/main" noGrp="1"/>
          </p:cNvSpPr>
          <p:nvPr/>
        </p:nvSpPr>
        <p:spPr>
          <a:xfrm xmlns:a="http://schemas.openxmlformats.org/drawingml/2006/main">
            <a:off x="597535" y="800735"/>
            <a:ext cx="1080135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405763-4E83-46EF-BB2C-BCF6E45267EE}"/>
              </a:ext>
            </a:extLst>
          </p:cNvPr>
          <p:cNvSpPr>
            <a:spLocks xmlns:a="http://schemas.openxmlformats.org/drawingml/2006/main" noGrp="1"/>
          </p:cNvSpPr>
          <p:nvPr/>
        </p:nvSpPr>
        <p:spPr>
          <a:xfrm xmlns:a="http://schemas.openxmlformats.org/drawingml/2006/main">
            <a:off x="597535" y="800735"/>
            <a:ext cx="1080135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Big Data</a:t>
            </a:r>
          </a:p>
        </p:txBody>
      </p:sp>
      <p:sp>
        <p:nvSpPr>
          <p:cNvPr id="4" name="">
            <a:extLst xmlns:a="http://schemas.openxmlformats.org/drawingml/2006/main">
              <a:ext uri="{FF2B5EF4-FFF2-40B4-BE49-F238E27FC236}">
                <a16:creationId xmlns:a16="http://schemas.microsoft.com/office/drawing/2014/main" id="{CCFD4702-956B-4E0A-9369-FE778C8F66F9}"/>
              </a:ext>
            </a:extLst>
          </p:cNvPr>
          <p:cNvSpPr>
            <a:spLocks xmlns:a="http://schemas.openxmlformats.org/drawingml/2006/main" noGrp="1"/>
          </p:cNvSpPr>
          <p:nvPr/>
        </p:nvSpPr>
        <p:spPr>
          <a:xfrm xmlns:a="http://schemas.openxmlformats.org/drawingml/2006/main">
            <a:off x="568960" y="1988820"/>
            <a:ext cx="6531610" cy="14312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DFD6EA-605B-4664-8AC6-9158B89B1B6C}"/>
              </a:ext>
            </a:extLst>
          </p:cNvPr>
          <p:cNvSpPr>
            <a:spLocks xmlns:a="http://schemas.openxmlformats.org/drawingml/2006/main" noGrp="1"/>
          </p:cNvSpPr>
          <p:nvPr/>
        </p:nvSpPr>
        <p:spPr>
          <a:xfrm xmlns:a="http://schemas.openxmlformats.org/drawingml/2006/main">
            <a:off x="568960" y="1988820"/>
            <a:ext cx="6531610" cy="143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Big-data analytics processes this information to uncover patterns, trends, and correlations, helping farmers make informed decisions.</a:t>
            </a:r>
          </a:p>
        </p:txBody>
      </p:sp>
    </p:spTree>
    <p:extLst>
      <p:ext uri="{BB962C8B-B14F-4D97-AF65-F5344CB8AC3E}">
        <p14:creationId xmlns:p14="http://schemas.microsoft.com/office/powerpoint/2010/main" val="1472516212"/>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d20e568d7654f1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5A6B54D-50DB-44DE-BCA0-AA0D718A75AD}"/>
              </a:ext>
            </a:extLst>
          </p:cNvPr>
          <p:cNvSpPr>
            <a:spLocks xmlns:a="http://schemas.openxmlformats.org/drawingml/2006/main" noGrp="1"/>
          </p:cNvSpPr>
          <p:nvPr/>
        </p:nvSpPr>
        <p:spPr>
          <a:xfrm xmlns:a="http://schemas.openxmlformats.org/drawingml/2006/main">
            <a:off x="862965" y="54165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E0DA97-1E78-4B9C-A0BB-0D2C3B0225D2}"/>
              </a:ext>
            </a:extLst>
          </p:cNvPr>
          <p:cNvSpPr>
            <a:spLocks xmlns:a="http://schemas.openxmlformats.org/drawingml/2006/main" noGrp="1"/>
          </p:cNvSpPr>
          <p:nvPr/>
        </p:nvSpPr>
        <p:spPr>
          <a:xfrm xmlns:a="http://schemas.openxmlformats.org/drawingml/2006/main">
            <a:off x="862965" y="54165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Big Data</a:t>
            </a:r>
          </a:p>
        </p:txBody>
      </p:sp>
      <p:sp>
        <p:nvSpPr>
          <p:cNvPr id="4" name="">
            <a:extLst xmlns:a="http://schemas.openxmlformats.org/drawingml/2006/main">
              <a:ext uri="{FF2B5EF4-FFF2-40B4-BE49-F238E27FC236}">
                <a16:creationId xmlns:a16="http://schemas.microsoft.com/office/drawing/2014/main" id="{51769B3F-38B6-414A-ADA2-23C747722F59}"/>
              </a:ext>
            </a:extLst>
          </p:cNvPr>
          <p:cNvSpPr>
            <a:spLocks xmlns:a="http://schemas.openxmlformats.org/drawingml/2006/main" noGrp="1"/>
          </p:cNvSpPr>
          <p:nvPr/>
        </p:nvSpPr>
        <p:spPr>
          <a:xfrm xmlns:a="http://schemas.openxmlformats.org/drawingml/2006/main">
            <a:off x="773430" y="1816100"/>
            <a:ext cx="10412730" cy="26771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7410A09-C0FC-4671-A677-D27CC54C2F8C}"/>
              </a:ext>
            </a:extLst>
          </p:cNvPr>
          <p:cNvSpPr>
            <a:spLocks xmlns:a="http://schemas.openxmlformats.org/drawingml/2006/main" noGrp="1"/>
          </p:cNvSpPr>
          <p:nvPr/>
        </p:nvSpPr>
        <p:spPr>
          <a:xfrm xmlns:a="http://schemas.openxmlformats.org/drawingml/2006/main">
            <a:off x="773430" y="1816100"/>
            <a:ext cx="10412730" cy="2677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The five Vs of Big Data:</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Volume: the massive amount of data generated;</a:t>
            </a:r>
          </a:p>
          <a:p xmlns:a="http://schemas.openxmlformats.org/drawingml/2006/main">
            <a:pPr algn="l">
              <a:defRPr sz="1650" b="0">
                <a:solidFill>
                  <a:srgbClr val="111111"/>
                </a:solidFill>
              </a:defRPr>
            </a:pPr>
            <a:r>
              <a:rPr sz="1650" b="0">
                <a:solidFill>
                  <a:srgbClr val="111111"/>
                </a:solidFill>
              </a:rPr>
              <a:t>• Velocity: how quickly data are collected and processed;</a:t>
            </a:r>
          </a:p>
          <a:p xmlns:a="http://schemas.openxmlformats.org/drawingml/2006/main">
            <a:pPr algn="l">
              <a:defRPr sz="1650" b="0">
                <a:solidFill>
                  <a:srgbClr val="111111"/>
                </a:solidFill>
              </a:defRPr>
            </a:pPr>
            <a:r>
              <a:rPr sz="1650" b="0">
                <a:solidFill>
                  <a:srgbClr val="111111"/>
                </a:solidFill>
              </a:rPr>
              <a:t>• Variety: multiple data types, including images, text, and numbers;</a:t>
            </a:r>
          </a:p>
          <a:p xmlns:a="http://schemas.openxmlformats.org/drawingml/2006/main">
            <a:pPr algn="l">
              <a:defRPr sz="1650" b="0">
                <a:solidFill>
                  <a:srgbClr val="111111"/>
                </a:solidFill>
              </a:defRPr>
            </a:pPr>
            <a:r>
              <a:rPr sz="1650" b="0">
                <a:solidFill>
                  <a:srgbClr val="111111"/>
                </a:solidFill>
              </a:rPr>
              <a:t>• Veracity: data quality and reliability;</a:t>
            </a:r>
          </a:p>
          <a:p xmlns:a="http://schemas.openxmlformats.org/drawingml/2006/main">
            <a:pPr algn="l">
              <a:defRPr sz="1650" b="0">
                <a:solidFill>
                  <a:srgbClr val="111111"/>
                </a:solidFill>
              </a:defRPr>
            </a:pPr>
            <a:r>
              <a:rPr sz="1650" b="0">
                <a:solidFill>
                  <a:srgbClr val="111111"/>
                </a:solidFill>
              </a:rPr>
              <a:t>• Value: the insights and decisions derived from data.</a:t>
            </a:r>
          </a:p>
        </p:txBody>
      </p:sp>
    </p:spTree>
    <p:extLst>
      <p:ext uri="{BB962C8B-B14F-4D97-AF65-F5344CB8AC3E}">
        <p14:creationId xmlns:p14="http://schemas.microsoft.com/office/powerpoint/2010/main" val="417100120"/>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1b2bc5fc6434ee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EAD43B-971A-46FE-81B9-6599ED189B81}"/>
              </a:ext>
            </a:extLst>
          </p:cNvPr>
          <p:cNvSpPr>
            <a:spLocks xmlns:a="http://schemas.openxmlformats.org/drawingml/2006/main" noGrp="1"/>
          </p:cNvSpPr>
          <p:nvPr/>
        </p:nvSpPr>
        <p:spPr>
          <a:xfrm xmlns:a="http://schemas.openxmlformats.org/drawingml/2006/main">
            <a:off x="862965" y="54165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EFBCB78-AE44-4D5B-8577-61F0CACDEB0D}"/>
              </a:ext>
            </a:extLst>
          </p:cNvPr>
          <p:cNvSpPr>
            <a:spLocks xmlns:a="http://schemas.openxmlformats.org/drawingml/2006/main" noGrp="1"/>
          </p:cNvSpPr>
          <p:nvPr/>
        </p:nvSpPr>
        <p:spPr>
          <a:xfrm xmlns:a="http://schemas.openxmlformats.org/drawingml/2006/main">
            <a:off x="862965" y="54165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9C57700A-5342-48FC-8043-B72729C6DBF8}"/>
              </a:ext>
            </a:extLst>
          </p:cNvPr>
          <p:cNvSpPr>
            <a:spLocks xmlns:a="http://schemas.openxmlformats.org/drawingml/2006/main" noGrp="1"/>
          </p:cNvSpPr>
          <p:nvPr/>
        </p:nvSpPr>
        <p:spPr>
          <a:xfrm xmlns:a="http://schemas.openxmlformats.org/drawingml/2006/main">
            <a:off x="834390" y="1846580"/>
            <a:ext cx="10551160" cy="27165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822A1F9-C5E0-4108-AF45-C3BF70906D32}"/>
              </a:ext>
            </a:extLst>
          </p:cNvPr>
          <p:cNvSpPr>
            <a:spLocks xmlns:a="http://schemas.openxmlformats.org/drawingml/2006/main" noGrp="1"/>
          </p:cNvSpPr>
          <p:nvPr/>
        </p:nvSpPr>
        <p:spPr>
          <a:xfrm xmlns:a="http://schemas.openxmlformats.org/drawingml/2006/main">
            <a:off x="834390" y="1846580"/>
            <a:ext cx="10551160" cy="2716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Cloud computing provides on-demand computing resources over the internet. It removes the need to manage physical infrastructure directly and lets users pay only for what they consume.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Infrastructure as a Service: computing and storage;</a:t>
            </a:r>
          </a:p>
          <a:p xmlns:a="http://schemas.openxmlformats.org/drawingml/2006/main">
            <a:pPr algn="l">
              <a:defRPr sz="1650" b="0">
                <a:solidFill>
                  <a:srgbClr val="111111"/>
                </a:solidFill>
              </a:defRPr>
            </a:pPr>
            <a:r>
              <a:rPr sz="1650" b="0">
                <a:solidFill>
                  <a:srgbClr val="111111"/>
                </a:solidFill>
              </a:rPr>
              <a:t>• Platform as a Service: development and deployment environments;</a:t>
            </a:r>
          </a:p>
          <a:p xmlns:a="http://schemas.openxmlformats.org/drawingml/2006/main">
            <a:pPr algn="l">
              <a:defRPr sz="1650" b="0">
                <a:solidFill>
                  <a:srgbClr val="111111"/>
                </a:solidFill>
              </a:defRPr>
            </a:pPr>
            <a:r>
              <a:rPr sz="1650" b="0">
                <a:solidFill>
                  <a:srgbClr val="111111"/>
                </a:solidFill>
              </a:rPr>
              <a:t>• Software as a Service: complete applications delivered as services.</a:t>
            </a:r>
          </a:p>
        </p:txBody>
      </p:sp>
    </p:spTree>
    <p:extLst>
      <p:ext uri="{BB962C8B-B14F-4D97-AF65-F5344CB8AC3E}">
        <p14:creationId xmlns:p14="http://schemas.microsoft.com/office/powerpoint/2010/main" val="2125321058"/>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67ff2837be145f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9D6E07-BBFD-407A-BFED-B03C06040A1D}"/>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9ABE22-5CCD-4CC9-96AF-1AA7587B7201}"/>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15CE6A2B-C4C6-48D6-94D0-7F47047234D7}"/>
              </a:ext>
            </a:extLst>
          </p:cNvPr>
          <p:cNvSpPr>
            <a:spLocks xmlns:a="http://schemas.openxmlformats.org/drawingml/2006/main" noGrp="1"/>
          </p:cNvSpPr>
          <p:nvPr/>
        </p:nvSpPr>
        <p:spPr>
          <a:xfrm xmlns:a="http://schemas.openxmlformats.org/drawingml/2006/main">
            <a:off x="568960" y="1988820"/>
            <a:ext cx="6644640" cy="14312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E4697B-07E2-4972-B2FB-89333ADB0824}"/>
              </a:ext>
            </a:extLst>
          </p:cNvPr>
          <p:cNvSpPr>
            <a:spLocks xmlns:a="http://schemas.openxmlformats.org/drawingml/2006/main" noGrp="1"/>
          </p:cNvSpPr>
          <p:nvPr/>
        </p:nvSpPr>
        <p:spPr>
          <a:xfrm xmlns:a="http://schemas.openxmlformats.org/drawingml/2006/main">
            <a:off x="568960" y="1988820"/>
            <a:ext cx="6644640" cy="143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Cloud computing provides the infrastructure and services needed to store, process, and analyze the large volumes of data generated by agricultural technologies.</a:t>
            </a:r>
          </a:p>
        </p:txBody>
      </p:sp>
    </p:spTree>
    <p:extLst>
      <p:ext uri="{BB962C8B-B14F-4D97-AF65-F5344CB8AC3E}">
        <p14:creationId xmlns:p14="http://schemas.microsoft.com/office/powerpoint/2010/main" val="1689448196"/>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d0ff08fd0334ca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A19A33C-7D92-4EB1-ACD1-2665631D9825}"/>
              </a:ext>
            </a:extLst>
          </p:cNvPr>
          <p:cNvSpPr>
            <a:spLocks xmlns:a="http://schemas.openxmlformats.org/drawingml/2006/main" noGrp="1"/>
          </p:cNvSpPr>
          <p:nvPr/>
        </p:nvSpPr>
        <p:spPr>
          <a:xfrm xmlns:a="http://schemas.openxmlformats.org/drawingml/2006/main">
            <a:off x="655955" y="1024255"/>
            <a:ext cx="4311650" cy="1117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1A3994-ADD0-4A37-81AC-408BA94DA6A1}"/>
              </a:ext>
            </a:extLst>
          </p:cNvPr>
          <p:cNvSpPr>
            <a:spLocks xmlns:a="http://schemas.openxmlformats.org/drawingml/2006/main" noGrp="1"/>
          </p:cNvSpPr>
          <p:nvPr/>
        </p:nvSpPr>
        <p:spPr>
          <a:xfrm xmlns:a="http://schemas.openxmlformats.org/drawingml/2006/main">
            <a:off x="655955" y="1024255"/>
            <a:ext cx="4311650" cy="1117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560B037F-3038-4554-B2E9-668825FEB88E}"/>
              </a:ext>
            </a:extLst>
          </p:cNvPr>
          <p:cNvSpPr>
            <a:spLocks xmlns:a="http://schemas.openxmlformats.org/drawingml/2006/main" noGrp="1"/>
          </p:cNvSpPr>
          <p:nvPr/>
        </p:nvSpPr>
        <p:spPr>
          <a:xfrm xmlns:a="http://schemas.openxmlformats.org/drawingml/2006/main">
            <a:off x="627380" y="2574290"/>
            <a:ext cx="4819650" cy="33553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D65F08C-AA08-471C-B224-87A3CE47C44A}"/>
              </a:ext>
            </a:extLst>
          </p:cNvPr>
          <p:cNvSpPr>
            <a:spLocks xmlns:a="http://schemas.openxmlformats.org/drawingml/2006/main" noGrp="1"/>
          </p:cNvSpPr>
          <p:nvPr/>
        </p:nvSpPr>
        <p:spPr>
          <a:xfrm xmlns:a="http://schemas.openxmlformats.org/drawingml/2006/main">
            <a:off x="627380" y="2574290"/>
            <a:ext cx="4819650" cy="33553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storage and management:</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Cloud platforms offer scalable and cost-effective storage for data from sensors, drones, satellites, and agricultural equipment.</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Datasets may describe soil conditions, crop health, weather patterns, and livestock health.</a:t>
            </a:r>
          </a:p>
        </p:txBody>
      </p:sp>
    </p:spTree>
    <p:extLst>
      <p:ext uri="{BB962C8B-B14F-4D97-AF65-F5344CB8AC3E}">
        <p14:creationId xmlns:p14="http://schemas.microsoft.com/office/powerpoint/2010/main" val="938040155"/>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15e999f3d95492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BC247D-4250-4859-8754-0BC7473AB2A3}"/>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6270E89-ECCF-4155-8C48-FAEAD20AC2DD}"/>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5EC45995-74D1-422B-BBE7-8CA0316C4B83}"/>
              </a:ext>
            </a:extLst>
          </p:cNvPr>
          <p:cNvSpPr>
            <a:spLocks xmlns:a="http://schemas.openxmlformats.org/drawingml/2006/main" noGrp="1"/>
          </p:cNvSpPr>
          <p:nvPr/>
        </p:nvSpPr>
        <p:spPr>
          <a:xfrm xmlns:a="http://schemas.openxmlformats.org/drawingml/2006/main">
            <a:off x="568960" y="2419350"/>
            <a:ext cx="6767830" cy="31978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5244FD-09C2-433A-905C-37644FAB7B9F}"/>
              </a:ext>
            </a:extLst>
          </p:cNvPr>
          <p:cNvSpPr>
            <a:spLocks xmlns:a="http://schemas.openxmlformats.org/drawingml/2006/main" noGrp="1"/>
          </p:cNvSpPr>
          <p:nvPr/>
        </p:nvSpPr>
        <p:spPr>
          <a:xfrm xmlns:a="http://schemas.openxmlformats.org/drawingml/2006/main">
            <a:off x="568960" y="2419350"/>
            <a:ext cx="6767830" cy="31978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processing and analytics: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Cloud computing supplies the processing power needed to extract decision-support insights.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Machine-learning algorithms can identify patterns, forecast yields, detect crop diseases, and optimize resource allocation.</a:t>
            </a:r>
          </a:p>
        </p:txBody>
      </p:sp>
    </p:spTree>
    <p:extLst>
      <p:ext uri="{BB962C8B-B14F-4D97-AF65-F5344CB8AC3E}">
        <p14:creationId xmlns:p14="http://schemas.microsoft.com/office/powerpoint/2010/main" val="1265638703"/>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54caf66dc4a4ba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610A18-AC3F-4670-87FD-D383AECC37D4}"/>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926D94B-8018-43FA-943A-B3C6078D69D5}"/>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9983CB1D-C362-40D5-9D38-1A0DDF39F5E1}"/>
              </a:ext>
            </a:extLst>
          </p:cNvPr>
          <p:cNvSpPr>
            <a:spLocks xmlns:a="http://schemas.openxmlformats.org/drawingml/2006/main" noGrp="1"/>
          </p:cNvSpPr>
          <p:nvPr/>
        </p:nvSpPr>
        <p:spPr>
          <a:xfrm xmlns:a="http://schemas.openxmlformats.org/drawingml/2006/main">
            <a:off x="568960" y="1988820"/>
            <a:ext cx="6685280" cy="31991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F180AA2-3606-4CAD-993A-E07EB4827A5B}"/>
              </a:ext>
            </a:extLst>
          </p:cNvPr>
          <p:cNvSpPr>
            <a:spLocks xmlns:a="http://schemas.openxmlformats.org/drawingml/2006/main" noGrp="1"/>
          </p:cNvSpPr>
          <p:nvPr/>
        </p:nvSpPr>
        <p:spPr>
          <a:xfrm xmlns:a="http://schemas.openxmlformats.org/drawingml/2006/main">
            <a:off x="568960" y="1988820"/>
            <a:ext cx="6685280" cy="31991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Accessibility and collaboration: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Cloud platforms make agricultural data available to farmers, agronomists, researchers, and other stakeholders wherever internet access exists.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This supports collaboration, knowledge sharing, faster decisions, and problem solving.</a:t>
            </a:r>
          </a:p>
        </p:txBody>
      </p:sp>
    </p:spTree>
    <p:extLst>
      <p:ext uri="{BB962C8B-B14F-4D97-AF65-F5344CB8AC3E}">
        <p14:creationId xmlns:p14="http://schemas.microsoft.com/office/powerpoint/2010/main" val="1566000941"/>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bb323d5401947d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5A3C677-5065-412E-B3FA-434B5C173B51}"/>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E13313E-45A6-4FC1-9A0F-782B8415EC64}"/>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2C4A053D-D1AD-4187-842D-50A1F5A15E76}"/>
              </a:ext>
            </a:extLst>
          </p:cNvPr>
          <p:cNvSpPr>
            <a:spLocks xmlns:a="http://schemas.openxmlformats.org/drawingml/2006/main" noGrp="1"/>
          </p:cNvSpPr>
          <p:nvPr/>
        </p:nvSpPr>
        <p:spPr>
          <a:xfrm xmlns:a="http://schemas.openxmlformats.org/drawingml/2006/main">
            <a:off x="568960" y="1988820"/>
            <a:ext cx="6697980" cy="31991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3204E82-32DF-4015-824F-9434A0D4F2A0}"/>
              </a:ext>
            </a:extLst>
          </p:cNvPr>
          <p:cNvSpPr>
            <a:spLocks xmlns:a="http://schemas.openxmlformats.org/drawingml/2006/main" noGrp="1"/>
          </p:cNvSpPr>
          <p:nvPr/>
        </p:nvSpPr>
        <p:spPr>
          <a:xfrm xmlns:a="http://schemas.openxmlformats.org/drawingml/2006/main">
            <a:off x="568960" y="1988820"/>
            <a:ext cx="6697980" cy="31991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Scalability and flexibility: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Agricultural organizations can scale IT resources up or down and pay only for what they use.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This is especially useful for seasonal operations and unexpected events such as weather changes or pest outbreaks.</a:t>
            </a:r>
          </a:p>
        </p:txBody>
      </p:sp>
    </p:spTree>
    <p:extLst>
      <p:ext uri="{BB962C8B-B14F-4D97-AF65-F5344CB8AC3E}">
        <p14:creationId xmlns:p14="http://schemas.microsoft.com/office/powerpoint/2010/main" val="351305546"/>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e92fd2050e740c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1A84FB0-E0FD-40F5-9EBD-4380D5AC7026}"/>
              </a:ext>
            </a:extLst>
          </p:cNvPr>
          <p:cNvSpPr>
            <a:spLocks xmlns:a="http://schemas.openxmlformats.org/drawingml/2006/main" noGrp="1"/>
          </p:cNvSpPr>
          <p:nvPr/>
        </p:nvSpPr>
        <p:spPr>
          <a:xfrm xmlns:a="http://schemas.openxmlformats.org/drawingml/2006/main">
            <a:off x="655955" y="1024255"/>
            <a:ext cx="4311650" cy="1117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39EADE0-AE89-4071-AAFF-5DB88947EC2F}"/>
              </a:ext>
            </a:extLst>
          </p:cNvPr>
          <p:cNvSpPr>
            <a:spLocks xmlns:a="http://schemas.openxmlformats.org/drawingml/2006/main" noGrp="1"/>
          </p:cNvSpPr>
          <p:nvPr/>
        </p:nvSpPr>
        <p:spPr>
          <a:xfrm xmlns:a="http://schemas.openxmlformats.org/drawingml/2006/main">
            <a:off x="655955" y="1024255"/>
            <a:ext cx="4311650" cy="1117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CE2C7BBC-C0C8-472C-9027-4E945EB043A7}"/>
              </a:ext>
            </a:extLst>
          </p:cNvPr>
          <p:cNvSpPr>
            <a:spLocks xmlns:a="http://schemas.openxmlformats.org/drawingml/2006/main" noGrp="1"/>
          </p:cNvSpPr>
          <p:nvPr/>
        </p:nvSpPr>
        <p:spPr>
          <a:xfrm xmlns:a="http://schemas.openxmlformats.org/drawingml/2006/main">
            <a:off x="627380" y="2578100"/>
            <a:ext cx="4876800" cy="30695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7B1377E-6329-4FAE-823D-5D3965010B93}"/>
              </a:ext>
            </a:extLst>
          </p:cNvPr>
          <p:cNvSpPr>
            <a:spLocks xmlns:a="http://schemas.openxmlformats.org/drawingml/2006/main" noGrp="1"/>
          </p:cNvSpPr>
          <p:nvPr/>
        </p:nvSpPr>
        <p:spPr>
          <a:xfrm xmlns:a="http://schemas.openxmlformats.org/drawingml/2006/main">
            <a:off x="627380" y="2578100"/>
            <a:ext cx="4876800" cy="306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Cost efficiency: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By reducing the need for expensive local infrastructure and dedicated IT staff, cloud computing can significantly lower agricultural data-storage and processing costs.</a:t>
            </a:r>
          </a:p>
        </p:txBody>
      </p:sp>
    </p:spTree>
    <p:extLst>
      <p:ext uri="{BB962C8B-B14F-4D97-AF65-F5344CB8AC3E}">
        <p14:creationId xmlns:p14="http://schemas.microsoft.com/office/powerpoint/2010/main" val="1944976755"/>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272060f43dc432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8E4E73-A106-4CB9-B34A-9F6F1A1871A2}"/>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07022B3-3563-43C3-A9B5-884815F1BF2D}"/>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DB3B8B3E-307A-43FA-8C8D-B577690DD6C1}"/>
              </a:ext>
            </a:extLst>
          </p:cNvPr>
          <p:cNvSpPr>
            <a:spLocks xmlns:a="http://schemas.openxmlformats.org/drawingml/2006/main" noGrp="1"/>
          </p:cNvSpPr>
          <p:nvPr/>
        </p:nvSpPr>
        <p:spPr>
          <a:xfrm xmlns:a="http://schemas.openxmlformats.org/drawingml/2006/main">
            <a:off x="568960" y="1988820"/>
            <a:ext cx="6676390" cy="28943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6923C0-588C-49A4-962A-231B02119766}"/>
              </a:ext>
            </a:extLst>
          </p:cNvPr>
          <p:cNvSpPr>
            <a:spLocks xmlns:a="http://schemas.openxmlformats.org/drawingml/2006/main" noGrp="1"/>
          </p:cNvSpPr>
          <p:nvPr/>
        </p:nvSpPr>
        <p:spPr>
          <a:xfrm xmlns:a="http://schemas.openxmlformats.org/drawingml/2006/main">
            <a:off x="568960" y="1988820"/>
            <a:ext cx="6676390" cy="28943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Cloud-computing applications in Agriculture 4.0:</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Farm-management software provides tools for crop planning, field mapping, inventory management, and financial tracking.</a:t>
            </a:r>
          </a:p>
        </p:txBody>
      </p:sp>
    </p:spTree>
    <p:extLst>
      <p:ext uri="{BB962C8B-B14F-4D97-AF65-F5344CB8AC3E}">
        <p14:creationId xmlns:p14="http://schemas.microsoft.com/office/powerpoint/2010/main" val="167100893"/>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16c0e5d708440c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CE4589-9574-4957-B81A-7EF10E92EE93}"/>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EA524F7-68E5-40ED-BEAE-A2A66BB8A8F4}"/>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0E89E346-217E-4F12-AC31-93725E164C34}"/>
              </a:ext>
            </a:extLst>
          </p:cNvPr>
          <p:cNvSpPr>
            <a:spLocks xmlns:a="http://schemas.openxmlformats.org/drawingml/2006/main" noGrp="1"/>
          </p:cNvSpPr>
          <p:nvPr/>
        </p:nvSpPr>
        <p:spPr>
          <a:xfrm xmlns:a="http://schemas.openxmlformats.org/drawingml/2006/main">
            <a:off x="568960" y="1988820"/>
            <a:ext cx="6258560" cy="15595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3F72414-0F47-4419-8559-73780974D0DF}"/>
              </a:ext>
            </a:extLst>
          </p:cNvPr>
          <p:cNvSpPr>
            <a:spLocks xmlns:a="http://schemas.openxmlformats.org/drawingml/2006/main" noGrp="1"/>
          </p:cNvSpPr>
          <p:nvPr/>
        </p:nvSpPr>
        <p:spPr>
          <a:xfrm xmlns:a="http://schemas.openxmlformats.org/drawingml/2006/main">
            <a:off x="568960" y="1988820"/>
            <a:ext cx="6258560" cy="1559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Trimble Ag Software: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Crop planning;</a:t>
            </a:r>
          </a:p>
          <a:p xmlns:a="http://schemas.openxmlformats.org/drawingml/2006/main">
            <a:pPr algn="l">
              <a:defRPr sz="1650" b="0">
                <a:solidFill>
                  <a:srgbClr val="111111"/>
                </a:solidFill>
              </a:defRPr>
            </a:pPr>
            <a:r>
              <a:rPr sz="1650" b="0">
                <a:solidFill>
                  <a:srgbClr val="111111"/>
                </a:solidFill>
              </a:rPr>
              <a:t>• Operations monitoring;</a:t>
            </a:r>
          </a:p>
          <a:p xmlns:a="http://schemas.openxmlformats.org/drawingml/2006/main">
            <a:pPr algn="l">
              <a:defRPr sz="1650" b="0">
                <a:solidFill>
                  <a:srgbClr val="111111"/>
                </a:solidFill>
              </a:defRPr>
            </a:pPr>
            <a:r>
              <a:rPr sz="1650" b="0">
                <a:solidFill>
                  <a:srgbClr val="111111"/>
                </a:solidFill>
              </a:rPr>
              <a:t>• Input tracking;</a:t>
            </a:r>
          </a:p>
          <a:p xmlns:a="http://schemas.openxmlformats.org/drawingml/2006/main">
            <a:pPr algn="l">
              <a:defRPr sz="1650" b="0">
                <a:solidFill>
                  <a:srgbClr val="111111"/>
                </a:solidFill>
              </a:defRPr>
            </a:pPr>
            <a:r>
              <a:rPr sz="1650" b="0">
                <a:solidFill>
                  <a:srgbClr val="111111"/>
                </a:solidFill>
              </a:rPr>
              <a:t>• Financial reporting.</a:t>
            </a:r>
          </a:p>
        </p:txBody>
      </p:sp>
    </p:spTree>
    <p:extLst>
      <p:ext uri="{BB962C8B-B14F-4D97-AF65-F5344CB8AC3E}">
        <p14:creationId xmlns:p14="http://schemas.microsoft.com/office/powerpoint/2010/main" val="154558950"/>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bb41b0fb3c047a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0458836-24F1-4E3C-B47B-0C3C7EC631B4}"/>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626FCDD-94C1-4AF2-BC19-682CCABFC792}"/>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1CD709B2-3D54-4ABE-93D2-324826B26C01}"/>
              </a:ext>
            </a:extLst>
          </p:cNvPr>
          <p:cNvSpPr>
            <a:spLocks xmlns:a="http://schemas.openxmlformats.org/drawingml/2006/main" noGrp="1"/>
          </p:cNvSpPr>
          <p:nvPr/>
        </p:nvSpPr>
        <p:spPr>
          <a:xfrm xmlns:a="http://schemas.openxmlformats.org/drawingml/2006/main">
            <a:off x="568960" y="1988820"/>
            <a:ext cx="5791200" cy="15595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015DFF-840A-470F-8068-806094EA5C38}"/>
              </a:ext>
            </a:extLst>
          </p:cNvPr>
          <p:cNvSpPr>
            <a:spLocks xmlns:a="http://schemas.openxmlformats.org/drawingml/2006/main" noGrp="1"/>
          </p:cNvSpPr>
          <p:nvPr/>
        </p:nvSpPr>
        <p:spPr>
          <a:xfrm xmlns:a="http://schemas.openxmlformats.org/drawingml/2006/main">
            <a:off x="568960" y="1988820"/>
            <a:ext cx="5791200" cy="1559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Agroptima:</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Agricultural activity records;</a:t>
            </a:r>
          </a:p>
          <a:p xmlns:a="http://schemas.openxmlformats.org/drawingml/2006/main">
            <a:pPr algn="l">
              <a:defRPr sz="1650" b="0">
                <a:solidFill>
                  <a:srgbClr val="111111"/>
                </a:solidFill>
              </a:defRPr>
            </a:pPr>
            <a:r>
              <a:rPr sz="1650" b="0">
                <a:solidFill>
                  <a:srgbClr val="111111"/>
                </a:solidFill>
              </a:rPr>
              <a:t>• Inventory control;</a:t>
            </a:r>
          </a:p>
          <a:p xmlns:a="http://schemas.openxmlformats.org/drawingml/2006/main">
            <a:pPr algn="l">
              <a:defRPr sz="1650" b="0">
                <a:solidFill>
                  <a:srgbClr val="111111"/>
                </a:solidFill>
              </a:defRPr>
            </a:pPr>
            <a:r>
              <a:rPr sz="1650" b="0">
                <a:solidFill>
                  <a:srgbClr val="111111"/>
                </a:solidFill>
              </a:rPr>
              <a:t>• Machinery management;</a:t>
            </a:r>
          </a:p>
          <a:p xmlns:a="http://schemas.openxmlformats.org/drawingml/2006/main">
            <a:pPr algn="l">
              <a:defRPr sz="1650" b="0">
                <a:solidFill>
                  <a:srgbClr val="111111"/>
                </a:solidFill>
              </a:defRPr>
            </a:pPr>
            <a:r>
              <a:rPr sz="1650" b="0">
                <a:solidFill>
                  <a:srgbClr val="111111"/>
                </a:solidFill>
              </a:rPr>
              <a:t>• Reporting and analytics.</a:t>
            </a:r>
          </a:p>
        </p:txBody>
      </p:sp>
    </p:spTree>
    <p:extLst>
      <p:ext uri="{BB962C8B-B14F-4D97-AF65-F5344CB8AC3E}">
        <p14:creationId xmlns:p14="http://schemas.microsoft.com/office/powerpoint/2010/main" val="684460623"/>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ee6c248498c42c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82DC36-8942-409D-880B-AF88D30E25C2}"/>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C87E5FB-813C-4A42-B515-68999BE7F3BF}"/>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65762221-6110-4A57-AEA3-CC52E1F9F4F6}"/>
              </a:ext>
            </a:extLst>
          </p:cNvPr>
          <p:cNvSpPr>
            <a:spLocks xmlns:a="http://schemas.openxmlformats.org/drawingml/2006/main" noGrp="1"/>
          </p:cNvSpPr>
          <p:nvPr/>
        </p:nvSpPr>
        <p:spPr>
          <a:xfrm xmlns:a="http://schemas.openxmlformats.org/drawingml/2006/main">
            <a:off x="568960" y="1988820"/>
            <a:ext cx="6723380" cy="22974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D7C60F5-D6DF-4525-B394-2F71C3CD5E88}"/>
              </a:ext>
            </a:extLst>
          </p:cNvPr>
          <p:cNvSpPr>
            <a:spLocks xmlns:a="http://schemas.openxmlformats.org/drawingml/2006/main" noGrp="1"/>
          </p:cNvSpPr>
          <p:nvPr/>
        </p:nvSpPr>
        <p:spPr>
          <a:xfrm xmlns:a="http://schemas.openxmlformats.org/drawingml/2006/main">
            <a:off x="568960" y="1988820"/>
            <a:ext cx="6723380" cy="22974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Granular:</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An agricultural management and analytics platform designed to improve efficiency and profitability.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Features include crop planning, operations tracking, financial reporting, and team management.</a:t>
            </a:r>
          </a:p>
        </p:txBody>
      </p:sp>
    </p:spTree>
    <p:extLst>
      <p:ext uri="{BB962C8B-B14F-4D97-AF65-F5344CB8AC3E}">
        <p14:creationId xmlns:p14="http://schemas.microsoft.com/office/powerpoint/2010/main" val="693010449"/>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a73196d12d648f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AAE1DA-9FAA-4EB0-88E1-F5D7D5A2231A}"/>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4F4292F-6C96-45F5-B9CC-2230CB679F41}"/>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C6AEE064-493C-46BC-B67F-DC1341B2E7E3}"/>
              </a:ext>
            </a:extLst>
          </p:cNvPr>
          <p:cNvSpPr>
            <a:spLocks xmlns:a="http://schemas.openxmlformats.org/drawingml/2006/main" noGrp="1"/>
          </p:cNvSpPr>
          <p:nvPr/>
        </p:nvSpPr>
        <p:spPr>
          <a:xfrm xmlns:a="http://schemas.openxmlformats.org/drawingml/2006/main">
            <a:off x="568960" y="1988820"/>
            <a:ext cx="6390640" cy="14312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4A60E13-DAC0-46A3-9B4F-84C389425E36}"/>
              </a:ext>
            </a:extLst>
          </p:cNvPr>
          <p:cNvSpPr>
            <a:spLocks xmlns:a="http://schemas.openxmlformats.org/drawingml/2006/main" noGrp="1"/>
          </p:cNvSpPr>
          <p:nvPr/>
        </p:nvSpPr>
        <p:spPr>
          <a:xfrm xmlns:a="http://schemas.openxmlformats.org/drawingml/2006/main">
            <a:off x="568960" y="1988820"/>
            <a:ext cx="6390640" cy="143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Aegro is a farm-management platform that supports complete crop planning, from planting-cost budgets to business productivity targets.</a:t>
            </a:r>
          </a:p>
        </p:txBody>
      </p:sp>
    </p:spTree>
    <p:extLst>
      <p:ext uri="{BB962C8B-B14F-4D97-AF65-F5344CB8AC3E}">
        <p14:creationId xmlns:p14="http://schemas.microsoft.com/office/powerpoint/2010/main" val="632932680"/>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78eff518c5c462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43CE9F-3412-48D4-91A5-BF4A00ABB287}"/>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DC16AE-45FB-4B3D-9074-024D55B60E92}"/>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3117BD6E-0941-443D-9AF5-6B3FE7B79509}"/>
              </a:ext>
            </a:extLst>
          </p:cNvPr>
          <p:cNvSpPr>
            <a:spLocks xmlns:a="http://schemas.openxmlformats.org/drawingml/2006/main" noGrp="1"/>
          </p:cNvSpPr>
          <p:nvPr/>
        </p:nvSpPr>
        <p:spPr>
          <a:xfrm xmlns:a="http://schemas.openxmlformats.org/drawingml/2006/main">
            <a:off x="568960" y="1988820"/>
            <a:ext cx="6489700" cy="2040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8ECE59-C85C-4A36-9A6A-BE9FE61EE344}"/>
              </a:ext>
            </a:extLst>
          </p:cNvPr>
          <p:cNvSpPr>
            <a:spLocks xmlns:a="http://schemas.openxmlformats.org/drawingml/2006/main" noGrp="1"/>
          </p:cNvSpPr>
          <p:nvPr/>
        </p:nvSpPr>
        <p:spPr>
          <a:xfrm xmlns:a="http://schemas.openxmlformats.org/drawingml/2006/main">
            <a:off x="568960" y="1988820"/>
            <a:ext cx="6489700" cy="2040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Precision-agriculture platforms use cloud computing to process sensor data and other sources, giving farmers real-time information to optimize irrigation, fertilization, and pest control.</a:t>
            </a:r>
          </a:p>
        </p:txBody>
      </p:sp>
    </p:spTree>
    <p:extLst>
      <p:ext uri="{BB962C8B-B14F-4D97-AF65-F5344CB8AC3E}">
        <p14:creationId xmlns:p14="http://schemas.microsoft.com/office/powerpoint/2010/main" val="1045472356"/>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2442614f6e94d8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DEF205-E6CE-4FB0-8C23-E295EA5D2504}"/>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F2406D2-FC2F-42BE-8B66-77289D0B041E}"/>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55B0C4E1-21E2-4643-A343-50061B771D8C}"/>
              </a:ext>
            </a:extLst>
          </p:cNvPr>
          <p:cNvSpPr>
            <a:spLocks xmlns:a="http://schemas.openxmlformats.org/drawingml/2006/main" noGrp="1"/>
          </p:cNvSpPr>
          <p:nvPr/>
        </p:nvSpPr>
        <p:spPr>
          <a:xfrm xmlns:a="http://schemas.openxmlformats.org/drawingml/2006/main">
            <a:off x="568960" y="1988820"/>
            <a:ext cx="6233160" cy="15595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F47B1B-8D7E-48DC-A767-C60E709E658F}"/>
              </a:ext>
            </a:extLst>
          </p:cNvPr>
          <p:cNvSpPr>
            <a:spLocks xmlns:a="http://schemas.openxmlformats.org/drawingml/2006/main" noGrp="1"/>
          </p:cNvSpPr>
          <p:nvPr/>
        </p:nvSpPr>
        <p:spPr>
          <a:xfrm xmlns:a="http://schemas.openxmlformats.org/drawingml/2006/main">
            <a:off x="568960" y="1988820"/>
            <a:ext cx="6233160" cy="1559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John Deere Operations Center:</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Machinery monitoring;</a:t>
            </a:r>
          </a:p>
          <a:p xmlns:a="http://schemas.openxmlformats.org/drawingml/2006/main">
            <a:pPr algn="l">
              <a:defRPr sz="1650" b="0">
                <a:solidFill>
                  <a:srgbClr val="111111"/>
                </a:solidFill>
              </a:defRPr>
            </a:pPr>
            <a:r>
              <a:rPr sz="1650" b="0">
                <a:solidFill>
                  <a:srgbClr val="111111"/>
                </a:solidFill>
              </a:rPr>
              <a:t>• Planting, harvesting, and spraying management;</a:t>
            </a:r>
          </a:p>
          <a:p xmlns:a="http://schemas.openxmlformats.org/drawingml/2006/main">
            <a:pPr algn="l">
              <a:defRPr sz="1650" b="0">
                <a:solidFill>
                  <a:srgbClr val="111111"/>
                </a:solidFill>
              </a:defRPr>
            </a:pPr>
            <a:r>
              <a:rPr sz="1650" b="0">
                <a:solidFill>
                  <a:srgbClr val="111111"/>
                </a:solidFill>
              </a:rPr>
              <a:t>• Yield mapping.</a:t>
            </a:r>
          </a:p>
        </p:txBody>
      </p:sp>
    </p:spTree>
    <p:extLst>
      <p:ext uri="{BB962C8B-B14F-4D97-AF65-F5344CB8AC3E}">
        <p14:creationId xmlns:p14="http://schemas.microsoft.com/office/powerpoint/2010/main" val="861317457"/>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25ea235fdb2471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50E3D8D-D8BD-4316-A4D8-C15F8B41C74A}"/>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00A0BA-087D-458E-B1C8-69416FBA151A}"/>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B6D66AD4-1B28-4F24-9C94-561D3C4A3EC6}"/>
              </a:ext>
            </a:extLst>
          </p:cNvPr>
          <p:cNvSpPr>
            <a:spLocks xmlns:a="http://schemas.openxmlformats.org/drawingml/2006/main" noGrp="1"/>
          </p:cNvSpPr>
          <p:nvPr/>
        </p:nvSpPr>
        <p:spPr>
          <a:xfrm xmlns:a="http://schemas.openxmlformats.org/drawingml/2006/main">
            <a:off x="568960" y="1988820"/>
            <a:ext cx="6558280" cy="15595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7D3F3F-F0F9-4A7A-94F5-03A65E61E4C2}"/>
              </a:ext>
            </a:extLst>
          </p:cNvPr>
          <p:cNvSpPr>
            <a:spLocks xmlns:a="http://schemas.openxmlformats.org/drawingml/2006/main" noGrp="1"/>
          </p:cNvSpPr>
          <p:nvPr/>
        </p:nvSpPr>
        <p:spPr>
          <a:xfrm xmlns:a="http://schemas.openxmlformats.org/drawingml/2006/main">
            <a:off x="568960" y="1988820"/>
            <a:ext cx="6558280" cy="1559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Climate FieldView:</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 Climate Corporation solution that integrates weather, soil, and crop data to provide real-time insights.</a:t>
            </a:r>
          </a:p>
        </p:txBody>
      </p:sp>
    </p:spTree>
    <p:extLst>
      <p:ext uri="{BB962C8B-B14F-4D97-AF65-F5344CB8AC3E}">
        <p14:creationId xmlns:p14="http://schemas.microsoft.com/office/powerpoint/2010/main" val="1562006175"/>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eaae725517047e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587947-1689-4D78-9B04-2DD9E01CC26B}"/>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C1591C-DF2E-46F4-B7AA-BDAE421B0316}"/>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C1370640-37B8-42C0-939B-D6D5E69EB7E1}"/>
              </a:ext>
            </a:extLst>
          </p:cNvPr>
          <p:cNvSpPr>
            <a:spLocks xmlns:a="http://schemas.openxmlformats.org/drawingml/2006/main" noGrp="1"/>
          </p:cNvSpPr>
          <p:nvPr/>
        </p:nvSpPr>
        <p:spPr>
          <a:xfrm xmlns:a="http://schemas.openxmlformats.org/drawingml/2006/main">
            <a:off x="568960" y="1988820"/>
            <a:ext cx="5723890" cy="12547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39D8A1E-253A-4E1B-AD67-B49743B5E22A}"/>
              </a:ext>
            </a:extLst>
          </p:cNvPr>
          <p:cNvSpPr>
            <a:spLocks xmlns:a="http://schemas.openxmlformats.org/drawingml/2006/main" noGrp="1"/>
          </p:cNvSpPr>
          <p:nvPr/>
        </p:nvSpPr>
        <p:spPr>
          <a:xfrm xmlns:a="http://schemas.openxmlformats.org/drawingml/2006/main">
            <a:off x="568960" y="1988820"/>
            <a:ext cx="5723890" cy="1254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Topcon Agriculture: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Precision solutions designed to optimize agricultural operations.</a:t>
            </a:r>
          </a:p>
        </p:txBody>
      </p:sp>
    </p:spTree>
    <p:extLst>
      <p:ext uri="{BB962C8B-B14F-4D97-AF65-F5344CB8AC3E}">
        <p14:creationId xmlns:p14="http://schemas.microsoft.com/office/powerpoint/2010/main" val="1725629968"/>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8bc949251eb472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F86971-522F-4BA5-AA2B-3BB0FE5C7012}"/>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409C65-6E99-4C3B-8D53-35C7B27E83F6}"/>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9793DFF2-088F-4264-80EE-632BA00693B7}"/>
              </a:ext>
            </a:extLst>
          </p:cNvPr>
          <p:cNvSpPr>
            <a:spLocks xmlns:a="http://schemas.openxmlformats.org/drawingml/2006/main" noGrp="1"/>
          </p:cNvSpPr>
          <p:nvPr/>
        </p:nvSpPr>
        <p:spPr>
          <a:xfrm xmlns:a="http://schemas.openxmlformats.org/drawingml/2006/main">
            <a:off x="568960" y="1988820"/>
            <a:ext cx="6756400" cy="11264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6FD9AB-38C0-4308-84B5-600EDA023C03}"/>
              </a:ext>
            </a:extLst>
          </p:cNvPr>
          <p:cNvSpPr>
            <a:spLocks xmlns:a="http://schemas.openxmlformats.org/drawingml/2006/main" noGrp="1"/>
          </p:cNvSpPr>
          <p:nvPr/>
        </p:nvSpPr>
        <p:spPr>
          <a:xfrm xmlns:a="http://schemas.openxmlformats.org/drawingml/2006/main">
            <a:off x="568960" y="1988820"/>
            <a:ext cx="6756400" cy="11264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Livestock-management systems: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Cloud-based systems monitor animal health, track feeding patterns, and optimize breeding programs.</a:t>
            </a:r>
          </a:p>
        </p:txBody>
      </p:sp>
    </p:spTree>
    <p:extLst>
      <p:ext uri="{BB962C8B-B14F-4D97-AF65-F5344CB8AC3E}">
        <p14:creationId xmlns:p14="http://schemas.microsoft.com/office/powerpoint/2010/main" val="456206401"/>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7bb7c14ff5f43d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1BD2BA-B3F1-441A-AA4E-A9615BFD4B34}"/>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EBDC11E-DFF0-4C63-8FBB-39EBF56271A0}"/>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922991CF-2D2E-45EA-B062-B70657DF9F6C}"/>
              </a:ext>
            </a:extLst>
          </p:cNvPr>
          <p:cNvSpPr>
            <a:spLocks xmlns:a="http://schemas.openxmlformats.org/drawingml/2006/main" noGrp="1"/>
          </p:cNvSpPr>
          <p:nvPr/>
        </p:nvSpPr>
        <p:spPr>
          <a:xfrm xmlns:a="http://schemas.openxmlformats.org/drawingml/2006/main">
            <a:off x="568960" y="1988820"/>
            <a:ext cx="6619240" cy="12547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4480CCC-9A3D-458C-995B-A8103C05B8CD}"/>
              </a:ext>
            </a:extLst>
          </p:cNvPr>
          <p:cNvSpPr>
            <a:spLocks xmlns:a="http://schemas.openxmlformats.org/drawingml/2006/main" noGrp="1"/>
          </p:cNvSpPr>
          <p:nvPr/>
        </p:nvSpPr>
        <p:spPr>
          <a:xfrm xmlns:a="http://schemas.openxmlformats.org/drawingml/2006/main">
            <a:off x="568960" y="1988820"/>
            <a:ext cx="6619240" cy="1254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CattleMax:</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Livestock-management software that helps organize and analyze herd data.</a:t>
            </a:r>
          </a:p>
        </p:txBody>
      </p:sp>
    </p:spTree>
    <p:extLst>
      <p:ext uri="{BB962C8B-B14F-4D97-AF65-F5344CB8AC3E}">
        <p14:creationId xmlns:p14="http://schemas.microsoft.com/office/powerpoint/2010/main" val="625923760"/>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0e60036b42341a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E88685-C964-4DE5-994F-C8707D08A71F}"/>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CD7D457-8B3C-48DC-A613-0CB704637701}"/>
              </a:ext>
            </a:extLst>
          </p:cNvPr>
          <p:cNvSpPr>
            <a:spLocks xmlns:a="http://schemas.openxmlformats.org/drawingml/2006/main" noGrp="1"/>
          </p:cNvSpPr>
          <p:nvPr/>
        </p:nvSpPr>
        <p:spPr>
          <a:xfrm xmlns:a="http://schemas.openxmlformats.org/drawingml/2006/main">
            <a:off x="597535" y="794385"/>
            <a:ext cx="1027938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036BA335-E3D6-442A-8F3F-D36467241C10}"/>
              </a:ext>
            </a:extLst>
          </p:cNvPr>
          <p:cNvSpPr>
            <a:spLocks xmlns:a="http://schemas.openxmlformats.org/drawingml/2006/main" noGrp="1"/>
          </p:cNvSpPr>
          <p:nvPr/>
        </p:nvSpPr>
        <p:spPr>
          <a:xfrm xmlns:a="http://schemas.openxmlformats.org/drawingml/2006/main">
            <a:off x="568960" y="1988820"/>
            <a:ext cx="6756400" cy="12547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38EFF3-BE5C-4CFD-B1CC-D86630570945}"/>
              </a:ext>
            </a:extLst>
          </p:cNvPr>
          <p:cNvSpPr>
            <a:spLocks xmlns:a="http://schemas.openxmlformats.org/drawingml/2006/main" noGrp="1"/>
          </p:cNvSpPr>
          <p:nvPr/>
        </p:nvSpPr>
        <p:spPr>
          <a:xfrm xmlns:a="http://schemas.openxmlformats.org/drawingml/2006/main">
            <a:off x="568960" y="1988820"/>
            <a:ext cx="6756400" cy="1254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81902"/>
          </a:bodyPr>
          <a:lstStyle xmlns:a="http://schemas.openxmlformats.org/drawingml/2006/main"/>
          <a:p xmlns:a="http://schemas.openxmlformats.org/drawingml/2006/main">
            <a:pPr algn="l">
              <a:defRPr sz="1650" b="0">
                <a:solidFill>
                  <a:srgbClr val="111111"/>
                </a:solidFill>
              </a:defRPr>
            </a:pPr>
            <a:r>
              <a:rPr sz="1650" b="0">
                <a:solidFill>
                  <a:srgbClr val="111111"/>
                </a:solidFill>
              </a:rPr>
              <a:t>• AgriWebb:</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Livestock tracking;</a:t>
            </a:r>
          </a:p>
          <a:p xmlns:a="http://schemas.openxmlformats.org/drawingml/2006/main">
            <a:pPr algn="l">
              <a:defRPr sz="1650" b="0">
                <a:solidFill>
                  <a:srgbClr val="111111"/>
                </a:solidFill>
              </a:defRPr>
            </a:pPr>
            <a:r>
              <a:rPr sz="1650" b="0">
                <a:solidFill>
                  <a:srgbClr val="111111"/>
                </a:solidFill>
              </a:rPr>
              <a:t>• Pasture planning;</a:t>
            </a:r>
          </a:p>
          <a:p xmlns:a="http://schemas.openxmlformats.org/drawingml/2006/main">
            <a:pPr algn="l">
              <a:defRPr sz="1650" b="0">
                <a:solidFill>
                  <a:srgbClr val="111111"/>
                </a:solidFill>
              </a:defRPr>
            </a:pPr>
            <a:r>
              <a:rPr sz="1650" b="0">
                <a:solidFill>
                  <a:srgbClr val="111111"/>
                </a:solidFill>
              </a:rPr>
              <a:t>• Treatment records;</a:t>
            </a:r>
          </a:p>
          <a:p xmlns:a="http://schemas.openxmlformats.org/drawingml/2006/main">
            <a:pPr algn="l">
              <a:defRPr sz="1650" b="0">
                <a:solidFill>
                  <a:srgbClr val="111111"/>
                </a:solidFill>
              </a:defRPr>
            </a:pPr>
            <a:r>
              <a:rPr sz="1650" b="0">
                <a:solidFill>
                  <a:srgbClr val="111111"/>
                </a:solidFill>
              </a:rPr>
              <a:t>• Performance reporting.</a:t>
            </a:r>
          </a:p>
        </p:txBody>
      </p:sp>
    </p:spTree>
    <p:extLst>
      <p:ext uri="{BB962C8B-B14F-4D97-AF65-F5344CB8AC3E}">
        <p14:creationId xmlns:p14="http://schemas.microsoft.com/office/powerpoint/2010/main" val="2063519112"/>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f7695cc51a8428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B3DFD4-B0DD-4562-A71B-00D378E1A3F9}"/>
              </a:ext>
            </a:extLst>
          </p:cNvPr>
          <p:cNvSpPr>
            <a:spLocks xmlns:a="http://schemas.openxmlformats.org/drawingml/2006/main" noGrp="1"/>
          </p:cNvSpPr>
          <p:nvPr/>
        </p:nvSpPr>
        <p:spPr>
          <a:xfrm xmlns:a="http://schemas.openxmlformats.org/drawingml/2006/main">
            <a:off x="1139825" y="727075"/>
            <a:ext cx="8682990" cy="7543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AC086C3-9B90-45FB-A0AD-A31C80DCDAFD}"/>
              </a:ext>
            </a:extLst>
          </p:cNvPr>
          <p:cNvSpPr>
            <a:spLocks xmlns:a="http://schemas.openxmlformats.org/drawingml/2006/main" noGrp="1"/>
          </p:cNvSpPr>
          <p:nvPr/>
        </p:nvSpPr>
        <p:spPr>
          <a:xfrm xmlns:a="http://schemas.openxmlformats.org/drawingml/2006/main">
            <a:off x="1139825" y="727075"/>
            <a:ext cx="8682990" cy="7543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6EC08700-8931-4929-89A5-AE4B19ED19CD}"/>
              </a:ext>
            </a:extLst>
          </p:cNvPr>
          <p:cNvSpPr>
            <a:spLocks xmlns:a="http://schemas.openxmlformats.org/drawingml/2006/main" noGrp="1"/>
          </p:cNvSpPr>
          <p:nvPr/>
        </p:nvSpPr>
        <p:spPr>
          <a:xfrm xmlns:a="http://schemas.openxmlformats.org/drawingml/2006/main">
            <a:off x="7407910" y="2903220"/>
            <a:ext cx="3798570" cy="24498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26FD496-9787-4251-A7F6-616B9F270EDF}"/>
              </a:ext>
            </a:extLst>
          </p:cNvPr>
          <p:cNvSpPr>
            <a:spLocks xmlns:a="http://schemas.openxmlformats.org/drawingml/2006/main" noGrp="1"/>
          </p:cNvSpPr>
          <p:nvPr/>
        </p:nvSpPr>
        <p:spPr>
          <a:xfrm xmlns:a="http://schemas.openxmlformats.org/drawingml/2006/main">
            <a:off x="7407910" y="2903220"/>
            <a:ext cx="3798570" cy="2449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MooMonitor+:</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 sensor-based system that tracks cattle health and behavior.</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Functions include activity monitoring, heat detection, rumination tracking, and health alerts.</a:t>
            </a:r>
          </a:p>
        </p:txBody>
      </p:sp>
    </p:spTree>
    <p:extLst>
      <p:ext uri="{BB962C8B-B14F-4D97-AF65-F5344CB8AC3E}">
        <p14:creationId xmlns:p14="http://schemas.microsoft.com/office/powerpoint/2010/main" val="187783336"/>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77097fa8cdc4db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AF5655C-009F-4EB2-940C-E59550524E13}"/>
              </a:ext>
            </a:extLst>
          </p:cNvPr>
          <p:cNvSpPr>
            <a:spLocks xmlns:a="http://schemas.openxmlformats.org/drawingml/2006/main" noGrp="1"/>
          </p:cNvSpPr>
          <p:nvPr/>
        </p:nvSpPr>
        <p:spPr>
          <a:xfrm xmlns:a="http://schemas.openxmlformats.org/drawingml/2006/main">
            <a:off x="1139825" y="727075"/>
            <a:ext cx="8682990" cy="7543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893B35-8A62-402A-A619-770AB19EEE6C}"/>
              </a:ext>
            </a:extLst>
          </p:cNvPr>
          <p:cNvSpPr>
            <a:spLocks xmlns:a="http://schemas.openxmlformats.org/drawingml/2006/main" noGrp="1"/>
          </p:cNvSpPr>
          <p:nvPr/>
        </p:nvSpPr>
        <p:spPr>
          <a:xfrm xmlns:a="http://schemas.openxmlformats.org/drawingml/2006/main">
            <a:off x="1139825" y="727075"/>
            <a:ext cx="8682990" cy="7543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Cloud Computing</a:t>
            </a:r>
          </a:p>
        </p:txBody>
      </p:sp>
      <p:sp>
        <p:nvSpPr>
          <p:cNvPr id="4" name="">
            <a:extLst xmlns:a="http://schemas.openxmlformats.org/drawingml/2006/main">
              <a:ext uri="{FF2B5EF4-FFF2-40B4-BE49-F238E27FC236}">
                <a16:creationId xmlns:a16="http://schemas.microsoft.com/office/drawing/2014/main" id="{54C8DD01-19E8-4A21-8DC0-127512992A3B}"/>
              </a:ext>
            </a:extLst>
          </p:cNvPr>
          <p:cNvSpPr>
            <a:spLocks xmlns:a="http://schemas.openxmlformats.org/drawingml/2006/main" noGrp="1"/>
          </p:cNvSpPr>
          <p:nvPr/>
        </p:nvSpPr>
        <p:spPr>
          <a:xfrm xmlns:a="http://schemas.openxmlformats.org/drawingml/2006/main">
            <a:off x="7407910" y="3460750"/>
            <a:ext cx="3826510" cy="13322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297A4BC-2684-4759-97EE-B087BE82A4D1}"/>
              </a:ext>
            </a:extLst>
          </p:cNvPr>
          <p:cNvSpPr>
            <a:spLocks xmlns:a="http://schemas.openxmlformats.org/drawingml/2006/main" noGrp="1"/>
          </p:cNvSpPr>
          <p:nvPr/>
        </p:nvSpPr>
        <p:spPr>
          <a:xfrm xmlns:a="http://schemas.openxmlformats.org/drawingml/2006/main">
            <a:off x="7407910" y="3460750"/>
            <a:ext cx="3826510" cy="1332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CowMed:</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 sensor-based monitoring system for dairy-herd management.</a:t>
            </a:r>
          </a:p>
        </p:txBody>
      </p:sp>
    </p:spTree>
    <p:extLst>
      <p:ext uri="{BB962C8B-B14F-4D97-AF65-F5344CB8AC3E}">
        <p14:creationId xmlns:p14="http://schemas.microsoft.com/office/powerpoint/2010/main" val="921065357"/>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1c25f3df2ab409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D624B2-B735-40D0-9F7F-0739580688EF}"/>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5976EC9-7935-48CE-A669-67EBE951F809}"/>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Edge Computing</a:t>
            </a:r>
          </a:p>
        </p:txBody>
      </p:sp>
      <p:sp>
        <p:nvSpPr>
          <p:cNvPr id="4" name="">
            <a:extLst xmlns:a="http://schemas.openxmlformats.org/drawingml/2006/main">
              <a:ext uri="{FF2B5EF4-FFF2-40B4-BE49-F238E27FC236}">
                <a16:creationId xmlns:a16="http://schemas.microsoft.com/office/drawing/2014/main" id="{AF20277F-11D8-47D7-B276-6156B6F697EE}"/>
              </a:ext>
            </a:extLst>
          </p:cNvPr>
          <p:cNvSpPr>
            <a:spLocks xmlns:a="http://schemas.openxmlformats.org/drawingml/2006/main" noGrp="1"/>
          </p:cNvSpPr>
          <p:nvPr/>
        </p:nvSpPr>
        <p:spPr>
          <a:xfrm xmlns:a="http://schemas.openxmlformats.org/drawingml/2006/main">
            <a:off x="568960" y="1988820"/>
            <a:ext cx="6727190" cy="1736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B9F3215-D19A-49B5-B982-7872CC45F4E1}"/>
              </a:ext>
            </a:extLst>
          </p:cNvPr>
          <p:cNvSpPr>
            <a:spLocks xmlns:a="http://schemas.openxmlformats.org/drawingml/2006/main" noGrp="1"/>
          </p:cNvSpPr>
          <p:nvPr/>
        </p:nvSpPr>
        <p:spPr>
          <a:xfrm xmlns:a="http://schemas.openxmlformats.org/drawingml/2006/main">
            <a:off x="568960" y="1988820"/>
            <a:ext cx="6727190" cy="1736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Edge computing complements the cloud by moving processing closer to where data are generated - at the network edge, within the farm or field.</a:t>
            </a:r>
          </a:p>
        </p:txBody>
      </p:sp>
    </p:spTree>
    <p:extLst>
      <p:ext uri="{BB962C8B-B14F-4D97-AF65-F5344CB8AC3E}">
        <p14:creationId xmlns:p14="http://schemas.microsoft.com/office/powerpoint/2010/main" val="131841396"/>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485cb431266463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BA70059-06B4-422E-BAC5-8B377FF6CC19}"/>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830DF4E-3B4E-4D21-8A9A-C4004BA39D8C}"/>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Edge Computing</a:t>
            </a:r>
          </a:p>
        </p:txBody>
      </p:sp>
      <p:sp>
        <p:nvSpPr>
          <p:cNvPr id="4" name="">
            <a:extLst xmlns:a="http://schemas.openxmlformats.org/drawingml/2006/main">
              <a:ext uri="{FF2B5EF4-FFF2-40B4-BE49-F238E27FC236}">
                <a16:creationId xmlns:a16="http://schemas.microsoft.com/office/drawing/2014/main" id="{54848589-0AD5-47C6-B62D-D5FF208F1A15}"/>
              </a:ext>
            </a:extLst>
          </p:cNvPr>
          <p:cNvSpPr>
            <a:spLocks xmlns:a="http://schemas.openxmlformats.org/drawingml/2006/main" noGrp="1"/>
          </p:cNvSpPr>
          <p:nvPr/>
        </p:nvSpPr>
        <p:spPr>
          <a:xfrm xmlns:a="http://schemas.openxmlformats.org/drawingml/2006/main">
            <a:off x="568960" y="1986280"/>
            <a:ext cx="6710680" cy="3752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511CCE-2BA5-4F35-92A8-8143074FD4CB}"/>
              </a:ext>
            </a:extLst>
          </p:cNvPr>
          <p:cNvSpPr>
            <a:spLocks xmlns:a="http://schemas.openxmlformats.org/drawingml/2006/main" noGrp="1"/>
          </p:cNvSpPr>
          <p:nvPr/>
        </p:nvSpPr>
        <p:spPr>
          <a:xfrm xmlns:a="http://schemas.openxmlformats.org/drawingml/2006/main">
            <a:off x="568960" y="1986280"/>
            <a:ext cx="671068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Edge computing supports Agriculture 4.0 through real-time decisions.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Processing data at the source reduces latency and enables immediate action.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Examples include adjusting irrigation from live soil-moisture data or detecting pest infestations early.</a:t>
            </a:r>
          </a:p>
        </p:txBody>
      </p:sp>
    </p:spTree>
    <p:extLst>
      <p:ext uri="{BB962C8B-B14F-4D97-AF65-F5344CB8AC3E}">
        <p14:creationId xmlns:p14="http://schemas.microsoft.com/office/powerpoint/2010/main" val="57191012"/>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388d80f857d469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3BCAF8-692E-43B7-9B2B-A8D37531DC8C}"/>
              </a:ext>
            </a:extLst>
          </p:cNvPr>
          <p:cNvSpPr>
            <a:spLocks xmlns:a="http://schemas.openxmlformats.org/drawingml/2006/main" noGrp="1"/>
          </p:cNvSpPr>
          <p:nvPr/>
        </p:nvSpPr>
        <p:spPr>
          <a:xfrm xmlns:a="http://schemas.openxmlformats.org/drawingml/2006/main">
            <a:off x="862965" y="544195"/>
            <a:ext cx="103403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183076-DD99-4455-861B-C2034436A442}"/>
              </a:ext>
            </a:extLst>
          </p:cNvPr>
          <p:cNvSpPr>
            <a:spLocks xmlns:a="http://schemas.openxmlformats.org/drawingml/2006/main" noGrp="1"/>
          </p:cNvSpPr>
          <p:nvPr/>
        </p:nvSpPr>
        <p:spPr>
          <a:xfrm xmlns:a="http://schemas.openxmlformats.org/drawingml/2006/main">
            <a:off x="862965" y="544195"/>
            <a:ext cx="103403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Edge Computing</a:t>
            </a:r>
          </a:p>
        </p:txBody>
      </p:sp>
      <p:sp>
        <p:nvSpPr>
          <p:cNvPr id="4" name="">
            <a:extLst xmlns:a="http://schemas.openxmlformats.org/drawingml/2006/main">
              <a:ext uri="{FF2B5EF4-FFF2-40B4-BE49-F238E27FC236}">
                <a16:creationId xmlns:a16="http://schemas.microsoft.com/office/drawing/2014/main" id="{42D1692A-2F0A-4807-973D-0C290ABE3154}"/>
              </a:ext>
            </a:extLst>
          </p:cNvPr>
          <p:cNvSpPr>
            <a:spLocks xmlns:a="http://schemas.openxmlformats.org/drawingml/2006/main" noGrp="1"/>
          </p:cNvSpPr>
          <p:nvPr/>
        </p:nvSpPr>
        <p:spPr>
          <a:xfrm xmlns:a="http://schemas.openxmlformats.org/drawingml/2006/main">
            <a:off x="834390" y="1846580"/>
            <a:ext cx="10458450" cy="22961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F339DB8-F343-4CCA-BA11-D6CE2ABAFD61}"/>
              </a:ext>
            </a:extLst>
          </p:cNvPr>
          <p:cNvSpPr>
            <a:spLocks xmlns:a="http://schemas.openxmlformats.org/drawingml/2006/main" noGrp="1"/>
          </p:cNvSpPr>
          <p:nvPr/>
        </p:nvSpPr>
        <p:spPr>
          <a:xfrm xmlns:a="http://schemas.openxmlformats.org/drawingml/2006/main">
            <a:off x="834390" y="1846580"/>
            <a:ext cx="10458450" cy="2296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Bandwidth optimization: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Local processing reduces the amount of data transmitted to the cloud, saving bandwidth and cost.</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Only the most relevant processed information needs to be sent for further analysis and storage.</a:t>
            </a:r>
          </a:p>
        </p:txBody>
      </p:sp>
    </p:spTree>
    <p:extLst>
      <p:ext uri="{BB962C8B-B14F-4D97-AF65-F5344CB8AC3E}">
        <p14:creationId xmlns:p14="http://schemas.microsoft.com/office/powerpoint/2010/main" val="1613727432"/>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15a377fc6004b6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6DD00E-A498-411A-BBF8-53269D988303}"/>
              </a:ext>
            </a:extLst>
          </p:cNvPr>
          <p:cNvSpPr>
            <a:spLocks xmlns:a="http://schemas.openxmlformats.org/drawingml/2006/main" noGrp="1"/>
          </p:cNvSpPr>
          <p:nvPr/>
        </p:nvSpPr>
        <p:spPr>
          <a:xfrm xmlns:a="http://schemas.openxmlformats.org/drawingml/2006/main">
            <a:off x="862965" y="544195"/>
            <a:ext cx="103403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FC98D9A-17E5-4885-8656-23BB5822D009}"/>
              </a:ext>
            </a:extLst>
          </p:cNvPr>
          <p:cNvSpPr>
            <a:spLocks xmlns:a="http://schemas.openxmlformats.org/drawingml/2006/main" noGrp="1"/>
          </p:cNvSpPr>
          <p:nvPr/>
        </p:nvSpPr>
        <p:spPr>
          <a:xfrm xmlns:a="http://schemas.openxmlformats.org/drawingml/2006/main">
            <a:off x="862965" y="544195"/>
            <a:ext cx="103403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Edge Computing</a:t>
            </a:r>
          </a:p>
        </p:txBody>
      </p:sp>
      <p:sp>
        <p:nvSpPr>
          <p:cNvPr id="4" name="">
            <a:extLst xmlns:a="http://schemas.openxmlformats.org/drawingml/2006/main">
              <a:ext uri="{FF2B5EF4-FFF2-40B4-BE49-F238E27FC236}">
                <a16:creationId xmlns:a16="http://schemas.microsoft.com/office/drawing/2014/main" id="{96653C01-E952-44C3-A06F-E8E26FDCBBB4}"/>
              </a:ext>
            </a:extLst>
          </p:cNvPr>
          <p:cNvSpPr>
            <a:spLocks xmlns:a="http://schemas.openxmlformats.org/drawingml/2006/main" noGrp="1"/>
          </p:cNvSpPr>
          <p:nvPr/>
        </p:nvSpPr>
        <p:spPr>
          <a:xfrm xmlns:a="http://schemas.openxmlformats.org/drawingml/2006/main">
            <a:off x="834390" y="1846580"/>
            <a:ext cx="10440670" cy="22961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599B348-F97D-4ED7-8FE4-CA39A2AB5D3E}"/>
              </a:ext>
            </a:extLst>
          </p:cNvPr>
          <p:cNvSpPr>
            <a:spLocks xmlns:a="http://schemas.openxmlformats.org/drawingml/2006/main" noGrp="1"/>
          </p:cNvSpPr>
          <p:nvPr/>
        </p:nvSpPr>
        <p:spPr>
          <a:xfrm xmlns:a="http://schemas.openxmlformats.org/drawingml/2006/main">
            <a:off x="834390" y="1846580"/>
            <a:ext cx="10440670" cy="2296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Offline functionality: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In remote areas with limited or unreliable internet, edge devices can collect data and perform basic analytics autonomously.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Critical operations can therefore continue without constant connectivity.</a:t>
            </a:r>
          </a:p>
        </p:txBody>
      </p:sp>
    </p:spTree>
    <p:extLst>
      <p:ext uri="{BB962C8B-B14F-4D97-AF65-F5344CB8AC3E}">
        <p14:creationId xmlns:p14="http://schemas.microsoft.com/office/powerpoint/2010/main" val="110789579"/>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958bf8bd99d4c1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35041A-8B26-45FC-B55D-23A6744949A6}"/>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7D0BCD-AE56-4344-B142-013147FD3936}"/>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Edge Computing</a:t>
            </a:r>
          </a:p>
        </p:txBody>
      </p:sp>
      <p:sp>
        <p:nvSpPr>
          <p:cNvPr id="4" name="">
            <a:extLst xmlns:a="http://schemas.openxmlformats.org/drawingml/2006/main">
              <a:ext uri="{FF2B5EF4-FFF2-40B4-BE49-F238E27FC236}">
                <a16:creationId xmlns:a16="http://schemas.microsoft.com/office/drawing/2014/main" id="{E7C88306-ED1B-4498-88E3-C005D6590825}"/>
              </a:ext>
            </a:extLst>
          </p:cNvPr>
          <p:cNvSpPr>
            <a:spLocks xmlns:a="http://schemas.openxmlformats.org/drawingml/2006/main" noGrp="1"/>
          </p:cNvSpPr>
          <p:nvPr/>
        </p:nvSpPr>
        <p:spPr>
          <a:xfrm xmlns:a="http://schemas.openxmlformats.org/drawingml/2006/main">
            <a:off x="568960" y="1988820"/>
            <a:ext cx="6769100" cy="21691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D03D764-55A5-4B47-BBBE-7E45650702C6}"/>
              </a:ext>
            </a:extLst>
          </p:cNvPr>
          <p:cNvSpPr>
            <a:spLocks xmlns:a="http://schemas.openxmlformats.org/drawingml/2006/main" noGrp="1"/>
          </p:cNvSpPr>
          <p:nvPr/>
        </p:nvSpPr>
        <p:spPr>
          <a:xfrm xmlns:a="http://schemas.openxmlformats.org/drawingml/2006/main">
            <a:off x="568960" y="1988820"/>
            <a:ext cx="6769100" cy="2169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Improved security: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Edge computing can keep sensitive agricultural data inside the farm network, reducing exposure during transmission to the cloud.</a:t>
            </a:r>
          </a:p>
        </p:txBody>
      </p:sp>
    </p:spTree>
    <p:extLst>
      <p:ext uri="{BB962C8B-B14F-4D97-AF65-F5344CB8AC3E}">
        <p14:creationId xmlns:p14="http://schemas.microsoft.com/office/powerpoint/2010/main" val="1872256273"/>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8e70c3ace654a5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E1BC91F-69C0-4A6C-8732-C0A97FD53A3C}"/>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FEBAEE-CE06-4C4C-8B58-713FDD3CD347}"/>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Edge Computing</a:t>
            </a:r>
          </a:p>
        </p:txBody>
      </p:sp>
      <p:sp>
        <p:nvSpPr>
          <p:cNvPr id="4" name="">
            <a:extLst xmlns:a="http://schemas.openxmlformats.org/drawingml/2006/main">
              <a:ext uri="{FF2B5EF4-FFF2-40B4-BE49-F238E27FC236}">
                <a16:creationId xmlns:a16="http://schemas.microsoft.com/office/drawing/2014/main" id="{B59FE9FE-8059-40B1-9734-877F42E6D968}"/>
              </a:ext>
            </a:extLst>
          </p:cNvPr>
          <p:cNvSpPr>
            <a:spLocks xmlns:a="http://schemas.openxmlformats.org/drawingml/2006/main" noGrp="1"/>
          </p:cNvSpPr>
          <p:nvPr/>
        </p:nvSpPr>
        <p:spPr>
          <a:xfrm xmlns:a="http://schemas.openxmlformats.org/drawingml/2006/main">
            <a:off x="568960" y="1988820"/>
            <a:ext cx="6142990" cy="21691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BC5446E-1B58-4830-9E8A-2576E4AE466F}"/>
              </a:ext>
            </a:extLst>
          </p:cNvPr>
          <p:cNvSpPr>
            <a:spLocks xmlns:a="http://schemas.openxmlformats.org/drawingml/2006/main" noGrp="1"/>
          </p:cNvSpPr>
          <p:nvPr/>
        </p:nvSpPr>
        <p:spPr>
          <a:xfrm xmlns:a="http://schemas.openxmlformats.org/drawingml/2006/main">
            <a:off x="568960" y="1988820"/>
            <a:ext cx="6142990" cy="2169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Scalability and adaptability: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Edge devices can be deployed and scaled according to the needs of a specific farm or field, providing a flexible solution for many agricultural applications.</a:t>
            </a:r>
          </a:p>
        </p:txBody>
      </p:sp>
    </p:spTree>
    <p:extLst>
      <p:ext uri="{BB962C8B-B14F-4D97-AF65-F5344CB8AC3E}">
        <p14:creationId xmlns:p14="http://schemas.microsoft.com/office/powerpoint/2010/main" val="1021428907"/>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b52724bc1584b8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9CF60E-5ADC-4355-9130-0085D883BF9B}"/>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083F980-E741-4A23-B3FC-A971B478F093}"/>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Edge Computing</a:t>
            </a:r>
          </a:p>
        </p:txBody>
      </p:sp>
      <p:sp>
        <p:nvSpPr>
          <p:cNvPr id="4" name="">
            <a:extLst xmlns:a="http://schemas.openxmlformats.org/drawingml/2006/main">
              <a:ext uri="{FF2B5EF4-FFF2-40B4-BE49-F238E27FC236}">
                <a16:creationId xmlns:a16="http://schemas.microsoft.com/office/drawing/2014/main" id="{566F4D75-DAAE-4EF4-8E3A-D6F6FAF2A2F0}"/>
              </a:ext>
            </a:extLst>
          </p:cNvPr>
          <p:cNvSpPr>
            <a:spLocks xmlns:a="http://schemas.openxmlformats.org/drawingml/2006/main" noGrp="1"/>
          </p:cNvSpPr>
          <p:nvPr/>
        </p:nvSpPr>
        <p:spPr>
          <a:xfrm xmlns:a="http://schemas.openxmlformats.org/drawingml/2006/main">
            <a:off x="568960" y="1988820"/>
            <a:ext cx="6591300" cy="28943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2598A28-A374-42BC-9A3B-42D0E60712DD}"/>
              </a:ext>
            </a:extLst>
          </p:cNvPr>
          <p:cNvSpPr>
            <a:spLocks xmlns:a="http://schemas.openxmlformats.org/drawingml/2006/main" noGrp="1"/>
          </p:cNvSpPr>
          <p:nvPr/>
        </p:nvSpPr>
        <p:spPr>
          <a:xfrm xmlns:a="http://schemas.openxmlformats.org/drawingml/2006/main">
            <a:off x="568960" y="1988820"/>
            <a:ext cx="6591300" cy="28943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Edge-computing applications in Agriculture 4.0 - smart irrigation: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Edge devices collect soil-moisture and weather-station data, process them locally, and adjust irrigation schedules automatically in real time.</a:t>
            </a:r>
          </a:p>
        </p:txBody>
      </p:sp>
    </p:spTree>
    <p:extLst>
      <p:ext uri="{BB962C8B-B14F-4D97-AF65-F5344CB8AC3E}">
        <p14:creationId xmlns:p14="http://schemas.microsoft.com/office/powerpoint/2010/main" val="46968739"/>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56bf74eaae74fe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9A5336-5E0C-4032-ACD4-A51A44FB40E2}"/>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8BCDBD-3B01-4AF8-A97F-699CF10CA8B4}"/>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Edge Computing</a:t>
            </a:r>
          </a:p>
        </p:txBody>
      </p:sp>
      <p:sp>
        <p:nvSpPr>
          <p:cNvPr id="4" name="">
            <a:extLst xmlns:a="http://schemas.openxmlformats.org/drawingml/2006/main">
              <a:ext uri="{FF2B5EF4-FFF2-40B4-BE49-F238E27FC236}">
                <a16:creationId xmlns:a16="http://schemas.microsoft.com/office/drawing/2014/main" id="{A8031E9D-21E5-4D2D-8A4B-D6D79EC4F0D4}"/>
              </a:ext>
            </a:extLst>
          </p:cNvPr>
          <p:cNvSpPr>
            <a:spLocks xmlns:a="http://schemas.openxmlformats.org/drawingml/2006/main" noGrp="1"/>
          </p:cNvSpPr>
          <p:nvPr/>
        </p:nvSpPr>
        <p:spPr>
          <a:xfrm xmlns:a="http://schemas.openxmlformats.org/drawingml/2006/main">
            <a:off x="568960" y="1988820"/>
            <a:ext cx="6727190" cy="1736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4055A3C-2CB1-4D94-9B30-63B29DB946EC}"/>
              </a:ext>
            </a:extLst>
          </p:cNvPr>
          <p:cNvSpPr>
            <a:spLocks xmlns:a="http://schemas.openxmlformats.org/drawingml/2006/main" noGrp="1"/>
          </p:cNvSpPr>
          <p:nvPr/>
        </p:nvSpPr>
        <p:spPr>
          <a:xfrm xmlns:a="http://schemas.openxmlformats.org/drawingml/2006/main">
            <a:off x="568960" y="1988820"/>
            <a:ext cx="6727190" cy="1736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Autonomous agricultural robots: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Robots with edge-computing capabilities perform weeding, harvesting, and spraying with minimal human intervention, increasing efficiency and precision.</a:t>
            </a:r>
          </a:p>
        </p:txBody>
      </p:sp>
    </p:spTree>
    <p:extLst>
      <p:ext uri="{BB962C8B-B14F-4D97-AF65-F5344CB8AC3E}">
        <p14:creationId xmlns:p14="http://schemas.microsoft.com/office/powerpoint/2010/main" val="1060148993"/>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0123b038c874ac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57426F8-3B43-4D2C-8BF7-1C85848D80A6}"/>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99A705F-7B1F-4003-B7B7-18E84A6D22B9}"/>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Edge Computing</a:t>
            </a:r>
          </a:p>
        </p:txBody>
      </p:sp>
      <p:sp>
        <p:nvSpPr>
          <p:cNvPr id="4" name="">
            <a:extLst xmlns:a="http://schemas.openxmlformats.org/drawingml/2006/main">
              <a:ext uri="{FF2B5EF4-FFF2-40B4-BE49-F238E27FC236}">
                <a16:creationId xmlns:a16="http://schemas.microsoft.com/office/drawing/2014/main" id="{2A36F496-6B79-4DF9-AD02-CB3D1CF355A1}"/>
              </a:ext>
            </a:extLst>
          </p:cNvPr>
          <p:cNvSpPr>
            <a:spLocks xmlns:a="http://schemas.openxmlformats.org/drawingml/2006/main" noGrp="1"/>
          </p:cNvSpPr>
          <p:nvPr/>
        </p:nvSpPr>
        <p:spPr>
          <a:xfrm xmlns:a="http://schemas.openxmlformats.org/drawingml/2006/main">
            <a:off x="568960" y="1988820"/>
            <a:ext cx="6724650" cy="1736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33C6F12-49D1-4321-BC85-3981AA8D297A}"/>
              </a:ext>
            </a:extLst>
          </p:cNvPr>
          <p:cNvSpPr>
            <a:spLocks xmlns:a="http://schemas.openxmlformats.org/drawingml/2006/main" noGrp="1"/>
          </p:cNvSpPr>
          <p:nvPr/>
        </p:nvSpPr>
        <p:spPr>
          <a:xfrm xmlns:a="http://schemas.openxmlformats.org/drawingml/2006/main">
            <a:off x="568960" y="1988820"/>
            <a:ext cx="6724650" cy="1736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Livestock monitoring:</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Edge devices monitor animal health and behavior, provide early warnings of potential problems, and support timely intervention.</a:t>
            </a:r>
          </a:p>
        </p:txBody>
      </p:sp>
    </p:spTree>
    <p:extLst>
      <p:ext uri="{BB962C8B-B14F-4D97-AF65-F5344CB8AC3E}">
        <p14:creationId xmlns:p14="http://schemas.microsoft.com/office/powerpoint/2010/main" val="780295206"/>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1cfb59f382546d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CAAEEF-6842-494D-8D45-68D07D6FF239}"/>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3CCFB6A-7BC6-4EC9-8D2F-F3FF44FD5360}"/>
              </a:ext>
            </a:extLst>
          </p:cNvPr>
          <p:cNvSpPr>
            <a:spLocks xmlns:a="http://schemas.openxmlformats.org/drawingml/2006/main" noGrp="1"/>
          </p:cNvSpPr>
          <p:nvPr/>
        </p:nvSpPr>
        <p:spPr>
          <a:xfrm xmlns:a="http://schemas.openxmlformats.org/drawingml/2006/main">
            <a:off x="597535" y="800735"/>
            <a:ext cx="103403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Agriculture 4.0: Edge Computing</a:t>
            </a:r>
          </a:p>
        </p:txBody>
      </p:sp>
      <p:sp>
        <p:nvSpPr>
          <p:cNvPr id="4" name="">
            <a:extLst xmlns:a="http://schemas.openxmlformats.org/drawingml/2006/main">
              <a:ext uri="{FF2B5EF4-FFF2-40B4-BE49-F238E27FC236}">
                <a16:creationId xmlns:a16="http://schemas.microsoft.com/office/drawing/2014/main" id="{B813BF25-580D-4D62-992C-68E156A829F0}"/>
              </a:ext>
            </a:extLst>
          </p:cNvPr>
          <p:cNvSpPr>
            <a:spLocks xmlns:a="http://schemas.openxmlformats.org/drawingml/2006/main" noGrp="1"/>
          </p:cNvSpPr>
          <p:nvPr/>
        </p:nvSpPr>
        <p:spPr>
          <a:xfrm xmlns:a="http://schemas.openxmlformats.org/drawingml/2006/main">
            <a:off x="568960" y="1988820"/>
            <a:ext cx="6590030" cy="2040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6F40B8D-9B3C-41CB-BD5F-7301800CC15F}"/>
              </a:ext>
            </a:extLst>
          </p:cNvPr>
          <p:cNvSpPr>
            <a:spLocks xmlns:a="http://schemas.openxmlformats.org/drawingml/2006/main" noGrp="1"/>
          </p:cNvSpPr>
          <p:nvPr/>
        </p:nvSpPr>
        <p:spPr>
          <a:xfrm xmlns:a="http://schemas.openxmlformats.org/drawingml/2006/main">
            <a:off x="568960" y="1988820"/>
            <a:ext cx="6590030" cy="2040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Crop-disease detection: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Edge-enabled cameras and sensors analyze plant images for early signs of disease or stress, allowing immediate treatment and helping prevent crop loss.</a:t>
            </a:r>
          </a:p>
        </p:txBody>
      </p:sp>
    </p:spTree>
    <p:extLst>
      <p:ext uri="{BB962C8B-B14F-4D97-AF65-F5344CB8AC3E}">
        <p14:creationId xmlns:p14="http://schemas.microsoft.com/office/powerpoint/2010/main" val="1566813336"/>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9eaff4456f9466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ECD697-CD43-46CA-894F-3A41030B7AF3}"/>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58C73C-82A8-4898-94D5-161174BAD5C4}"/>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B2899A07-9CDD-4903-8D96-2FFDD3BF742D}"/>
              </a:ext>
            </a:extLst>
          </p:cNvPr>
          <p:cNvSpPr>
            <a:spLocks xmlns:a="http://schemas.openxmlformats.org/drawingml/2006/main" noGrp="1"/>
          </p:cNvSpPr>
          <p:nvPr/>
        </p:nvSpPr>
        <p:spPr>
          <a:xfrm xmlns:a="http://schemas.openxmlformats.org/drawingml/2006/main">
            <a:off x="834390" y="1846580"/>
            <a:ext cx="10257790" cy="26530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8DA8CC7-F05E-4865-8BFB-009058730D9C}"/>
              </a:ext>
            </a:extLst>
          </p:cNvPr>
          <p:cNvSpPr>
            <a:spLocks xmlns:a="http://schemas.openxmlformats.org/drawingml/2006/main" noGrp="1"/>
          </p:cNvSpPr>
          <p:nvPr/>
        </p:nvSpPr>
        <p:spPr>
          <a:xfrm xmlns:a="http://schemas.openxmlformats.org/drawingml/2006/main">
            <a:off x="834390" y="1846580"/>
            <a:ext cx="10257790" cy="26530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Several commercial big-data platforms can support Agriculture 4.0 applications: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Amazon Web Services (AWS);</a:t>
            </a:r>
          </a:p>
          <a:p xmlns:a="http://schemas.openxmlformats.org/drawingml/2006/main">
            <a:pPr algn="l">
              <a:defRPr sz="1650" b="0">
                <a:solidFill>
                  <a:srgbClr val="111111"/>
                </a:solidFill>
              </a:defRPr>
            </a:pPr>
            <a:r>
              <a:rPr sz="1650" b="0">
                <a:solidFill>
                  <a:srgbClr val="111111"/>
                </a:solidFill>
              </a:rPr>
              <a:t>• Microsoft Azure.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Services may be usage-based, with free tiers available for limited periods or workloads.</a:t>
            </a:r>
          </a:p>
        </p:txBody>
      </p:sp>
    </p:spTree>
    <p:extLst>
      <p:ext uri="{BB962C8B-B14F-4D97-AF65-F5344CB8AC3E}">
        <p14:creationId xmlns:p14="http://schemas.microsoft.com/office/powerpoint/2010/main" val="111951850"/>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76065fa02804dc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DBF2DF-A6AD-4693-BFE8-00971F9E8918}"/>
              </a:ext>
            </a:extLst>
          </p:cNvPr>
          <p:cNvSpPr>
            <a:spLocks xmlns:a="http://schemas.openxmlformats.org/drawingml/2006/main" noGrp="1"/>
          </p:cNvSpPr>
          <p:nvPr/>
        </p:nvSpPr>
        <p:spPr>
          <a:xfrm xmlns:a="http://schemas.openxmlformats.org/drawingml/2006/main">
            <a:off x="655955" y="556895"/>
            <a:ext cx="4140200" cy="1593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0CB58D2-286E-4DB9-B514-A77D9AC27D3A}"/>
              </a:ext>
            </a:extLst>
          </p:cNvPr>
          <p:cNvSpPr>
            <a:spLocks xmlns:a="http://schemas.openxmlformats.org/drawingml/2006/main" noGrp="1"/>
          </p:cNvSpPr>
          <p:nvPr/>
        </p:nvSpPr>
        <p:spPr>
          <a:xfrm xmlns:a="http://schemas.openxmlformats.org/drawingml/2006/main">
            <a:off x="655955" y="556895"/>
            <a:ext cx="4140200" cy="159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648A2A2D-4C17-4B37-BAD2-9B349C1B28CC}"/>
              </a:ext>
            </a:extLst>
          </p:cNvPr>
          <p:cNvSpPr>
            <a:spLocks xmlns:a="http://schemas.openxmlformats.org/drawingml/2006/main" noGrp="1"/>
          </p:cNvSpPr>
          <p:nvPr/>
        </p:nvSpPr>
        <p:spPr>
          <a:xfrm xmlns:a="http://schemas.openxmlformats.org/drawingml/2006/main">
            <a:off x="627380" y="2578100"/>
            <a:ext cx="4616450" cy="23482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1FB5DC-01E1-46EC-906A-1F4D92ACE806}"/>
              </a:ext>
            </a:extLst>
          </p:cNvPr>
          <p:cNvSpPr>
            <a:spLocks xmlns:a="http://schemas.openxmlformats.org/drawingml/2006/main" noGrp="1"/>
          </p:cNvSpPr>
          <p:nvPr/>
        </p:nvSpPr>
        <p:spPr>
          <a:xfrm xmlns:a="http://schemas.openxmlformats.org/drawingml/2006/main">
            <a:off x="627380" y="2578100"/>
            <a:ext cx="4616450" cy="2348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collection - Amazon Web Services: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AWS IoT Core enables connected devices to interact securely and easily with cloud applications.</a:t>
            </a:r>
          </a:p>
        </p:txBody>
      </p:sp>
    </p:spTree>
    <p:extLst>
      <p:ext uri="{BB962C8B-B14F-4D97-AF65-F5344CB8AC3E}">
        <p14:creationId xmlns:p14="http://schemas.microsoft.com/office/powerpoint/2010/main" val="679536102"/>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1f7331512ef430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3BE66F-7590-44F5-AA97-AF0864E8FD55}"/>
              </a:ext>
            </a:extLst>
          </p:cNvPr>
          <p:cNvSpPr>
            <a:spLocks xmlns:a="http://schemas.openxmlformats.org/drawingml/2006/main" noGrp="1"/>
          </p:cNvSpPr>
          <p:nvPr/>
        </p:nvSpPr>
        <p:spPr>
          <a:xfrm xmlns:a="http://schemas.openxmlformats.org/drawingml/2006/main">
            <a:off x="655955" y="556895"/>
            <a:ext cx="4140200" cy="1593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FA23CA5-B873-4D07-8AA6-4EA281370065}"/>
              </a:ext>
            </a:extLst>
          </p:cNvPr>
          <p:cNvSpPr>
            <a:spLocks xmlns:a="http://schemas.openxmlformats.org/drawingml/2006/main" noGrp="1"/>
          </p:cNvSpPr>
          <p:nvPr/>
        </p:nvSpPr>
        <p:spPr>
          <a:xfrm xmlns:a="http://schemas.openxmlformats.org/drawingml/2006/main">
            <a:off x="655955" y="556895"/>
            <a:ext cx="4140200" cy="159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94D59E9B-7308-4FFE-918B-3727815E2C7D}"/>
              </a:ext>
            </a:extLst>
          </p:cNvPr>
          <p:cNvSpPr>
            <a:spLocks xmlns:a="http://schemas.openxmlformats.org/drawingml/2006/main" noGrp="1"/>
          </p:cNvSpPr>
          <p:nvPr/>
        </p:nvSpPr>
        <p:spPr>
          <a:xfrm xmlns:a="http://schemas.openxmlformats.org/drawingml/2006/main">
            <a:off x="627380" y="2578100"/>
            <a:ext cx="4540250" cy="26530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535E4A9-1D60-4534-AAAA-98E2939E6FA4}"/>
              </a:ext>
            </a:extLst>
          </p:cNvPr>
          <p:cNvSpPr>
            <a:spLocks xmlns:a="http://schemas.openxmlformats.org/drawingml/2006/main" noGrp="1"/>
          </p:cNvSpPr>
          <p:nvPr/>
        </p:nvSpPr>
        <p:spPr>
          <a:xfrm xmlns:a="http://schemas.openxmlformats.org/drawingml/2006/main">
            <a:off x="627380" y="2578100"/>
            <a:ext cx="4540250" cy="26530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collection: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AWS IoT Core supports the following protocols: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MQTT;</a:t>
            </a:r>
          </a:p>
          <a:p xmlns:a="http://schemas.openxmlformats.org/drawingml/2006/main">
            <a:pPr algn="l">
              <a:defRPr sz="1650" b="0">
                <a:solidFill>
                  <a:srgbClr val="111111"/>
                </a:solidFill>
              </a:defRPr>
            </a:pPr>
            <a:r>
              <a:rPr sz="1650" b="0">
                <a:solidFill>
                  <a:srgbClr val="111111"/>
                </a:solidFill>
              </a:rPr>
              <a:t>• HTTPS;</a:t>
            </a:r>
          </a:p>
          <a:p xmlns:a="http://schemas.openxmlformats.org/drawingml/2006/main">
            <a:pPr algn="l">
              <a:defRPr sz="1650" b="0">
                <a:solidFill>
                  <a:srgbClr val="111111"/>
                </a:solidFill>
              </a:defRPr>
            </a:pPr>
            <a:r>
              <a:rPr sz="1650" b="0">
                <a:solidFill>
                  <a:srgbClr val="111111"/>
                </a:solidFill>
              </a:rPr>
              <a:t>• LoRaWAN.</a:t>
            </a:r>
          </a:p>
        </p:txBody>
      </p:sp>
    </p:spTree>
    <p:extLst>
      <p:ext uri="{BB962C8B-B14F-4D97-AF65-F5344CB8AC3E}">
        <p14:creationId xmlns:p14="http://schemas.microsoft.com/office/powerpoint/2010/main" val="281852029"/>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948403c91434c5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FD76DE2-8997-4EF7-BDD1-BBB9A94CB83F}"/>
              </a:ext>
            </a:extLst>
          </p:cNvPr>
          <p:cNvSpPr>
            <a:spLocks xmlns:a="http://schemas.openxmlformats.org/drawingml/2006/main" noGrp="1"/>
          </p:cNvSpPr>
          <p:nvPr/>
        </p:nvSpPr>
        <p:spPr>
          <a:xfrm xmlns:a="http://schemas.openxmlformats.org/drawingml/2006/main">
            <a:off x="655955" y="556895"/>
            <a:ext cx="4140200" cy="1593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F7E7D9-4A55-4D81-811B-821AF9D642C3}"/>
              </a:ext>
            </a:extLst>
          </p:cNvPr>
          <p:cNvSpPr>
            <a:spLocks xmlns:a="http://schemas.openxmlformats.org/drawingml/2006/main" noGrp="1"/>
          </p:cNvSpPr>
          <p:nvPr/>
        </p:nvSpPr>
        <p:spPr>
          <a:xfrm xmlns:a="http://schemas.openxmlformats.org/drawingml/2006/main">
            <a:off x="655955" y="556895"/>
            <a:ext cx="4140200" cy="159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E92150CD-9F2B-4C3A-A5C5-D5EEDBD3DD4D}"/>
              </a:ext>
            </a:extLst>
          </p:cNvPr>
          <p:cNvSpPr>
            <a:spLocks xmlns:a="http://schemas.openxmlformats.org/drawingml/2006/main" noGrp="1"/>
          </p:cNvSpPr>
          <p:nvPr/>
        </p:nvSpPr>
        <p:spPr>
          <a:xfrm xmlns:a="http://schemas.openxmlformats.org/drawingml/2006/main">
            <a:off x="627380" y="2578100"/>
            <a:ext cx="4598670" cy="23482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634CC24-19B9-40A2-B33A-B8162FACD78A}"/>
              </a:ext>
            </a:extLst>
          </p:cNvPr>
          <p:cNvSpPr>
            <a:spLocks xmlns:a="http://schemas.openxmlformats.org/drawingml/2006/main" noGrp="1"/>
          </p:cNvSpPr>
          <p:nvPr/>
        </p:nvSpPr>
        <p:spPr>
          <a:xfrm xmlns:a="http://schemas.openxmlformats.org/drawingml/2006/main">
            <a:off x="627380" y="2578100"/>
            <a:ext cx="4598670" cy="2348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processing - Amazon Web Services: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AWS Lambda executes code in response to events and automatically manages computing resources.</a:t>
            </a:r>
          </a:p>
        </p:txBody>
      </p:sp>
    </p:spTree>
    <p:extLst>
      <p:ext uri="{BB962C8B-B14F-4D97-AF65-F5344CB8AC3E}">
        <p14:creationId xmlns:p14="http://schemas.microsoft.com/office/powerpoint/2010/main" val="1168848635"/>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916e40db29642b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980D2B0-AFE6-49C4-BDEA-0AC77D6F9323}"/>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4D8084-4C4D-4F62-AEFD-7694046DA5AC}"/>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476DC454-DE6E-4DFD-ACC4-3813843DD72A}"/>
              </a:ext>
            </a:extLst>
          </p:cNvPr>
          <p:cNvSpPr>
            <a:spLocks xmlns:a="http://schemas.openxmlformats.org/drawingml/2006/main" noGrp="1"/>
          </p:cNvSpPr>
          <p:nvPr/>
        </p:nvSpPr>
        <p:spPr>
          <a:xfrm xmlns:a="http://schemas.openxmlformats.org/drawingml/2006/main">
            <a:off x="834390" y="1846580"/>
            <a:ext cx="10234930" cy="3249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DBF685F-ABCD-490A-B806-C618050E462A}"/>
              </a:ext>
            </a:extLst>
          </p:cNvPr>
          <p:cNvSpPr>
            <a:spLocks xmlns:a="http://schemas.openxmlformats.org/drawingml/2006/main" noGrp="1"/>
          </p:cNvSpPr>
          <p:nvPr/>
        </p:nvSpPr>
        <p:spPr>
          <a:xfrm xmlns:a="http://schemas.openxmlformats.org/drawingml/2006/main">
            <a:off x="834390" y="1846580"/>
            <a:ext cx="10234930" cy="3249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storage - Amazon Web Services: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Amazon S3 provides scalable storage for large datasets such as drone imagery and sensor readings.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Amazon RDS is a managed relational-database service for structured data.</a:t>
            </a:r>
          </a:p>
        </p:txBody>
      </p:sp>
    </p:spTree>
    <p:extLst>
      <p:ext uri="{BB962C8B-B14F-4D97-AF65-F5344CB8AC3E}">
        <p14:creationId xmlns:p14="http://schemas.microsoft.com/office/powerpoint/2010/main" val="702245369"/>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b728b184e4e402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CB9F5E-7332-4CA4-A44B-881873252CCC}"/>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87EA1E7-F0C8-438D-8D92-BDFDF5BDA127}"/>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4F948F41-1ACA-4298-B1F7-90ABB0436BC8}"/>
              </a:ext>
            </a:extLst>
          </p:cNvPr>
          <p:cNvSpPr>
            <a:spLocks xmlns:a="http://schemas.openxmlformats.org/drawingml/2006/main" noGrp="1"/>
          </p:cNvSpPr>
          <p:nvPr/>
        </p:nvSpPr>
        <p:spPr>
          <a:xfrm xmlns:a="http://schemas.openxmlformats.org/drawingml/2006/main">
            <a:off x="834390" y="1846580"/>
            <a:ext cx="10280650" cy="20434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027242-1A9A-48E0-9B75-1F25965F2EFD}"/>
              </a:ext>
            </a:extLst>
          </p:cNvPr>
          <p:cNvSpPr>
            <a:spLocks xmlns:a="http://schemas.openxmlformats.org/drawingml/2006/main" noGrp="1"/>
          </p:cNvSpPr>
          <p:nvPr/>
        </p:nvSpPr>
        <p:spPr>
          <a:xfrm xmlns:a="http://schemas.openxmlformats.org/drawingml/2006/main">
            <a:off x="834390" y="1846580"/>
            <a:ext cx="10280650" cy="20434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analytics - Amazon Web Services: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Amazon SageMaker is a fully managed service that lets developers and data scientists build, train, and deploy machine-learning models.</a:t>
            </a:r>
          </a:p>
        </p:txBody>
      </p:sp>
    </p:spTree>
    <p:extLst>
      <p:ext uri="{BB962C8B-B14F-4D97-AF65-F5344CB8AC3E}">
        <p14:creationId xmlns:p14="http://schemas.microsoft.com/office/powerpoint/2010/main" val="983405229"/>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303b7a78d014b9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808B2C-5944-4133-A6EA-EBBE48988858}"/>
              </a:ext>
            </a:extLst>
          </p:cNvPr>
          <p:cNvSpPr>
            <a:spLocks xmlns:a="http://schemas.openxmlformats.org/drawingml/2006/main" noGrp="1"/>
          </p:cNvSpPr>
          <p:nvPr/>
        </p:nvSpPr>
        <p:spPr>
          <a:xfrm xmlns:a="http://schemas.openxmlformats.org/drawingml/2006/main">
            <a:off x="655955" y="556895"/>
            <a:ext cx="4140200" cy="1593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6757E7-970A-4986-B0F4-3BFBD87F3369}"/>
              </a:ext>
            </a:extLst>
          </p:cNvPr>
          <p:cNvSpPr>
            <a:spLocks xmlns:a="http://schemas.openxmlformats.org/drawingml/2006/main" noGrp="1"/>
          </p:cNvSpPr>
          <p:nvPr/>
        </p:nvSpPr>
        <p:spPr>
          <a:xfrm xmlns:a="http://schemas.openxmlformats.org/drawingml/2006/main">
            <a:off x="655955" y="556895"/>
            <a:ext cx="4140200" cy="159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53B335C8-2D34-4F17-BB3B-0BAB6C19CD10}"/>
              </a:ext>
            </a:extLst>
          </p:cNvPr>
          <p:cNvSpPr>
            <a:spLocks xmlns:a="http://schemas.openxmlformats.org/drawingml/2006/main" noGrp="1"/>
          </p:cNvSpPr>
          <p:nvPr/>
        </p:nvSpPr>
        <p:spPr>
          <a:xfrm xmlns:a="http://schemas.openxmlformats.org/drawingml/2006/main">
            <a:off x="627380" y="2578100"/>
            <a:ext cx="4855210" cy="15862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7115D2-E135-4CAF-8B38-CA65680D4667}"/>
              </a:ext>
            </a:extLst>
          </p:cNvPr>
          <p:cNvSpPr>
            <a:spLocks xmlns:a="http://schemas.openxmlformats.org/drawingml/2006/main" noGrp="1"/>
          </p:cNvSpPr>
          <p:nvPr/>
        </p:nvSpPr>
        <p:spPr>
          <a:xfrm xmlns:a="http://schemas.openxmlformats.org/drawingml/2006/main">
            <a:off x="627380" y="2578100"/>
            <a:ext cx="4855210" cy="1586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analytics: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Support for major machine-learning frameworks, toolkits, and programming languages.</a:t>
            </a:r>
          </a:p>
        </p:txBody>
      </p:sp>
    </p:spTree>
    <p:extLst>
      <p:ext uri="{BB962C8B-B14F-4D97-AF65-F5344CB8AC3E}">
        <p14:creationId xmlns:p14="http://schemas.microsoft.com/office/powerpoint/2010/main" val="1255876786"/>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a862e4f9e3f43a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34D290-78E9-4A62-85E8-452798611A0C}"/>
              </a:ext>
            </a:extLst>
          </p:cNvPr>
          <p:cNvSpPr>
            <a:spLocks xmlns:a="http://schemas.openxmlformats.org/drawingml/2006/main" noGrp="1"/>
          </p:cNvSpPr>
          <p:nvPr/>
        </p:nvSpPr>
        <p:spPr>
          <a:xfrm xmlns:a="http://schemas.openxmlformats.org/drawingml/2006/main">
            <a:off x="655955" y="556895"/>
            <a:ext cx="4140200" cy="1593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EFA1D94-5B6E-4D5B-BFF0-3965CE906EA5}"/>
              </a:ext>
            </a:extLst>
          </p:cNvPr>
          <p:cNvSpPr>
            <a:spLocks xmlns:a="http://schemas.openxmlformats.org/drawingml/2006/main" noGrp="1"/>
          </p:cNvSpPr>
          <p:nvPr/>
        </p:nvSpPr>
        <p:spPr>
          <a:xfrm xmlns:a="http://schemas.openxmlformats.org/drawingml/2006/main">
            <a:off x="655955" y="556895"/>
            <a:ext cx="4140200" cy="159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C2F8C5FC-4F4D-4DED-9FFF-71D7DECC0C6B}"/>
              </a:ext>
            </a:extLst>
          </p:cNvPr>
          <p:cNvSpPr>
            <a:spLocks xmlns:a="http://schemas.openxmlformats.org/drawingml/2006/main" noGrp="1"/>
          </p:cNvSpPr>
          <p:nvPr/>
        </p:nvSpPr>
        <p:spPr>
          <a:xfrm xmlns:a="http://schemas.openxmlformats.org/drawingml/2006/main">
            <a:off x="627380" y="2578100"/>
            <a:ext cx="4758690" cy="20434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011CA02-27A4-434D-B179-5CE42B8774F9}"/>
              </a:ext>
            </a:extLst>
          </p:cNvPr>
          <p:cNvSpPr>
            <a:spLocks xmlns:a="http://schemas.openxmlformats.org/drawingml/2006/main" noGrp="1"/>
          </p:cNvSpPr>
          <p:nvPr/>
        </p:nvSpPr>
        <p:spPr>
          <a:xfrm xmlns:a="http://schemas.openxmlformats.org/drawingml/2006/main">
            <a:off x="627380" y="2578100"/>
            <a:ext cx="4758690" cy="20434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analytics - Amazon Web Services: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Amazon Rekognition provides machine-learning-based image and video analysis.</a:t>
            </a:r>
          </a:p>
        </p:txBody>
      </p:sp>
    </p:spTree>
    <p:extLst>
      <p:ext uri="{BB962C8B-B14F-4D97-AF65-F5344CB8AC3E}">
        <p14:creationId xmlns:p14="http://schemas.microsoft.com/office/powerpoint/2010/main" val="1706667307"/>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2914b510fa34a1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672C3C-BDB7-4886-8856-32D5DF75F79D}"/>
              </a:ext>
            </a:extLst>
          </p:cNvPr>
          <p:cNvSpPr>
            <a:spLocks xmlns:a="http://schemas.openxmlformats.org/drawingml/2006/main" noGrp="1"/>
          </p:cNvSpPr>
          <p:nvPr/>
        </p:nvSpPr>
        <p:spPr>
          <a:xfrm xmlns:a="http://schemas.openxmlformats.org/drawingml/2006/main">
            <a:off x="655955" y="1915795"/>
            <a:ext cx="3374390" cy="2965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39C3783-8C9E-494E-8170-115D2F4B46E2}"/>
              </a:ext>
            </a:extLst>
          </p:cNvPr>
          <p:cNvSpPr>
            <a:spLocks xmlns:a="http://schemas.openxmlformats.org/drawingml/2006/main" noGrp="1"/>
          </p:cNvSpPr>
          <p:nvPr/>
        </p:nvSpPr>
        <p:spPr>
          <a:xfrm xmlns:a="http://schemas.openxmlformats.org/drawingml/2006/main">
            <a:off x="655955" y="1915795"/>
            <a:ext cx="3374390" cy="296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BE0FE38E-8A06-4EF8-A72F-1064747628DF}"/>
              </a:ext>
            </a:extLst>
          </p:cNvPr>
          <p:cNvSpPr>
            <a:spLocks xmlns:a="http://schemas.openxmlformats.org/drawingml/2006/main" noGrp="1"/>
          </p:cNvSpPr>
          <p:nvPr/>
        </p:nvSpPr>
        <p:spPr>
          <a:xfrm xmlns:a="http://schemas.openxmlformats.org/drawingml/2006/main">
            <a:off x="4707890" y="4725670"/>
            <a:ext cx="6609080" cy="14325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5EDDE90-EE22-4A15-A2AF-04FF305EF897}"/>
              </a:ext>
            </a:extLst>
          </p:cNvPr>
          <p:cNvSpPr>
            <a:spLocks xmlns:a="http://schemas.openxmlformats.org/drawingml/2006/main" noGrp="1"/>
          </p:cNvSpPr>
          <p:nvPr/>
        </p:nvSpPr>
        <p:spPr>
          <a:xfrm xmlns:a="http://schemas.openxmlformats.org/drawingml/2006/main">
            <a:off x="4707890" y="4725670"/>
            <a:ext cx="6609080" cy="1432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Amazon Web Services - The Climate Corporation: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The Climate Corporation uses AWS to collect, process, and analyze large agricultural datasets, including weather and soil information.</a:t>
            </a:r>
          </a:p>
        </p:txBody>
      </p:sp>
    </p:spTree>
    <p:extLst>
      <p:ext uri="{BB962C8B-B14F-4D97-AF65-F5344CB8AC3E}">
        <p14:creationId xmlns:p14="http://schemas.microsoft.com/office/powerpoint/2010/main" val="1588076258"/>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18b3bb0f45a486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FD71B2-BF0F-49F7-A87D-48955FD36F20}"/>
              </a:ext>
            </a:extLst>
          </p:cNvPr>
          <p:cNvSpPr>
            <a:spLocks xmlns:a="http://schemas.openxmlformats.org/drawingml/2006/main" noGrp="1"/>
          </p:cNvSpPr>
          <p:nvPr/>
        </p:nvSpPr>
        <p:spPr>
          <a:xfrm xmlns:a="http://schemas.openxmlformats.org/drawingml/2006/main">
            <a:off x="597535" y="730885"/>
            <a:ext cx="1080897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24760A-DE18-40DC-95B4-CE1D45EF6E71}"/>
              </a:ext>
            </a:extLst>
          </p:cNvPr>
          <p:cNvSpPr>
            <a:spLocks xmlns:a="http://schemas.openxmlformats.org/drawingml/2006/main" noGrp="1"/>
          </p:cNvSpPr>
          <p:nvPr/>
        </p:nvSpPr>
        <p:spPr>
          <a:xfrm xmlns:a="http://schemas.openxmlformats.org/drawingml/2006/main">
            <a:off x="597535" y="730885"/>
            <a:ext cx="1080897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E5A7AA27-3183-45E9-8768-B4B476E2B967}"/>
              </a:ext>
            </a:extLst>
          </p:cNvPr>
          <p:cNvSpPr>
            <a:spLocks xmlns:a="http://schemas.openxmlformats.org/drawingml/2006/main" noGrp="1"/>
          </p:cNvSpPr>
          <p:nvPr/>
        </p:nvSpPr>
        <p:spPr>
          <a:xfrm xmlns:a="http://schemas.openxmlformats.org/drawingml/2006/main">
            <a:off x="568960" y="1988820"/>
            <a:ext cx="6535420" cy="23456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0AAE5F-EEB2-46E6-9D92-DE81E0D8EA56}"/>
              </a:ext>
            </a:extLst>
          </p:cNvPr>
          <p:cNvSpPr>
            <a:spLocks xmlns:a="http://schemas.openxmlformats.org/drawingml/2006/main" noGrp="1"/>
          </p:cNvSpPr>
          <p:nvPr/>
        </p:nvSpPr>
        <p:spPr>
          <a:xfrm xmlns:a="http://schemas.openxmlformats.org/drawingml/2006/main">
            <a:off x="568960" y="1988820"/>
            <a:ext cx="6535420" cy="23456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Amazon Web Services: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AWS IoT Core connects field sensors for real-time monitoring.</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Data are stored in Amazon S3 and analyzed with Amazon Redshift to produce forecasts and recommendations for farmers.</a:t>
            </a:r>
          </a:p>
        </p:txBody>
      </p:sp>
    </p:spTree>
    <p:extLst>
      <p:ext uri="{BB962C8B-B14F-4D97-AF65-F5344CB8AC3E}">
        <p14:creationId xmlns:p14="http://schemas.microsoft.com/office/powerpoint/2010/main" val="2007079832"/>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541de7141f14be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D017882-C5DC-4C08-B669-4707D1922F3C}"/>
              </a:ext>
            </a:extLst>
          </p:cNvPr>
          <p:cNvSpPr>
            <a:spLocks xmlns:a="http://schemas.openxmlformats.org/drawingml/2006/main" noGrp="1"/>
          </p:cNvSpPr>
          <p:nvPr/>
        </p:nvSpPr>
        <p:spPr>
          <a:xfrm xmlns:a="http://schemas.openxmlformats.org/drawingml/2006/main">
            <a:off x="597535" y="730885"/>
            <a:ext cx="1080897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6027DE7-74FA-4D2E-8889-F9010394BD2D}"/>
              </a:ext>
            </a:extLst>
          </p:cNvPr>
          <p:cNvSpPr>
            <a:spLocks xmlns:a="http://schemas.openxmlformats.org/drawingml/2006/main" noGrp="1"/>
          </p:cNvSpPr>
          <p:nvPr/>
        </p:nvSpPr>
        <p:spPr>
          <a:xfrm xmlns:a="http://schemas.openxmlformats.org/drawingml/2006/main">
            <a:off x="597535" y="730885"/>
            <a:ext cx="1080897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CD4CFF0E-AE85-403E-9C65-A2594584FFD4}"/>
              </a:ext>
            </a:extLst>
          </p:cNvPr>
          <p:cNvSpPr>
            <a:spLocks xmlns:a="http://schemas.openxmlformats.org/drawingml/2006/main" noGrp="1"/>
          </p:cNvSpPr>
          <p:nvPr/>
        </p:nvSpPr>
        <p:spPr>
          <a:xfrm xmlns:a="http://schemas.openxmlformats.org/drawingml/2006/main">
            <a:off x="568960" y="1988820"/>
            <a:ext cx="6121400" cy="1736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7C6D849-6E73-42F5-B146-A112CAED4EC3}"/>
              </a:ext>
            </a:extLst>
          </p:cNvPr>
          <p:cNvSpPr>
            <a:spLocks xmlns:a="http://schemas.openxmlformats.org/drawingml/2006/main" noGrp="1"/>
          </p:cNvSpPr>
          <p:nvPr/>
        </p:nvSpPr>
        <p:spPr>
          <a:xfrm xmlns:a="http://schemas.openxmlformats.org/drawingml/2006/main">
            <a:off x="568960" y="1988820"/>
            <a:ext cx="6121400" cy="1736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Amazon Web Services - John Deere: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John Deere uses AWS to deliver precision-agriculture solutions.</a:t>
            </a:r>
          </a:p>
        </p:txBody>
      </p:sp>
    </p:spTree>
    <p:extLst>
      <p:ext uri="{BB962C8B-B14F-4D97-AF65-F5344CB8AC3E}">
        <p14:creationId xmlns:p14="http://schemas.microsoft.com/office/powerpoint/2010/main" val="357106552"/>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af1de090ddf435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EBAA30D-BEB9-4C13-A437-024477890692}"/>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2E7CFB-12B3-45AE-9DF5-0F1955E4E57B}"/>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942330C7-B63F-45F2-826C-BE429340A869}"/>
              </a:ext>
            </a:extLst>
          </p:cNvPr>
          <p:cNvSpPr>
            <a:spLocks xmlns:a="http://schemas.openxmlformats.org/drawingml/2006/main" noGrp="1"/>
          </p:cNvSpPr>
          <p:nvPr/>
        </p:nvSpPr>
        <p:spPr>
          <a:xfrm xmlns:a="http://schemas.openxmlformats.org/drawingml/2006/main">
            <a:off x="834390" y="1846580"/>
            <a:ext cx="10463530" cy="21958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5979CC2-1619-449A-AA0D-A5C2155217F5}"/>
              </a:ext>
            </a:extLst>
          </p:cNvPr>
          <p:cNvSpPr>
            <a:spLocks xmlns:a="http://schemas.openxmlformats.org/drawingml/2006/main" noGrp="1"/>
          </p:cNvSpPr>
          <p:nvPr/>
        </p:nvSpPr>
        <p:spPr>
          <a:xfrm xmlns:a="http://schemas.openxmlformats.org/drawingml/2006/main">
            <a:off x="834390" y="1846580"/>
            <a:ext cx="10463530" cy="2195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John Deere equipment uses IoT sensors to collect machine-performance and soil-condition data.</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AWS IoT transmits the data, AWS Lambda and Amazon DynamoDB process them, and Amazon SageMaker builds machine-learning models that optimize operations and improve crop yields.</a:t>
            </a:r>
          </a:p>
        </p:txBody>
      </p:sp>
    </p:spTree>
    <p:extLst>
      <p:ext uri="{BB962C8B-B14F-4D97-AF65-F5344CB8AC3E}">
        <p14:creationId xmlns:p14="http://schemas.microsoft.com/office/powerpoint/2010/main" val="729475730"/>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fca42b32051436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E808E49-8FAF-44D5-907D-B4DB8BCFF05F}"/>
              </a:ext>
            </a:extLst>
          </p:cNvPr>
          <p:cNvSpPr>
            <a:spLocks xmlns:a="http://schemas.openxmlformats.org/drawingml/2006/main" noGrp="1"/>
          </p:cNvSpPr>
          <p:nvPr/>
        </p:nvSpPr>
        <p:spPr>
          <a:xfrm xmlns:a="http://schemas.openxmlformats.org/drawingml/2006/main">
            <a:off x="597535" y="730885"/>
            <a:ext cx="1080897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D59C393-CBE9-4A13-AA19-40FF90151255}"/>
              </a:ext>
            </a:extLst>
          </p:cNvPr>
          <p:cNvSpPr>
            <a:spLocks xmlns:a="http://schemas.openxmlformats.org/drawingml/2006/main" noGrp="1"/>
          </p:cNvSpPr>
          <p:nvPr/>
        </p:nvSpPr>
        <p:spPr>
          <a:xfrm xmlns:a="http://schemas.openxmlformats.org/drawingml/2006/main">
            <a:off x="597535" y="730885"/>
            <a:ext cx="1080897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14BAF090-C56C-482B-9E35-5343DA3D4CD6}"/>
              </a:ext>
            </a:extLst>
          </p:cNvPr>
          <p:cNvSpPr>
            <a:spLocks xmlns:a="http://schemas.openxmlformats.org/drawingml/2006/main" noGrp="1"/>
          </p:cNvSpPr>
          <p:nvPr/>
        </p:nvSpPr>
        <p:spPr>
          <a:xfrm xmlns:a="http://schemas.openxmlformats.org/drawingml/2006/main">
            <a:off x="568960" y="1988820"/>
            <a:ext cx="6711950" cy="2040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685B840-445D-4B12-A1EC-DB0C3E7671B7}"/>
              </a:ext>
            </a:extLst>
          </p:cNvPr>
          <p:cNvSpPr>
            <a:spLocks xmlns:a="http://schemas.openxmlformats.org/drawingml/2006/main" noGrp="1"/>
          </p:cNvSpPr>
          <p:nvPr/>
        </p:nvSpPr>
        <p:spPr>
          <a:xfrm xmlns:a="http://schemas.openxmlformats.org/drawingml/2006/main">
            <a:off x="568960" y="1988820"/>
            <a:ext cx="6711950" cy="2040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Bayer Crop Science: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Bayer uses AWS to support agricultural research and development.</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Large genomic datasets are stored in Amazon S3.</a:t>
            </a:r>
          </a:p>
        </p:txBody>
      </p:sp>
    </p:spTree>
    <p:extLst>
      <p:ext uri="{BB962C8B-B14F-4D97-AF65-F5344CB8AC3E}">
        <p14:creationId xmlns:p14="http://schemas.microsoft.com/office/powerpoint/2010/main" val="923198481"/>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c5fde29a5004dc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90F530C-ADDF-455B-9E40-BAAA43EECCF0}"/>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AB2DAA-DB5A-4633-896B-1501080EFB32}"/>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DBCA0471-ADD8-4B23-B630-584DEE22C9C0}"/>
              </a:ext>
            </a:extLst>
          </p:cNvPr>
          <p:cNvSpPr>
            <a:spLocks xmlns:a="http://schemas.openxmlformats.org/drawingml/2006/main" noGrp="1"/>
          </p:cNvSpPr>
          <p:nvPr/>
        </p:nvSpPr>
        <p:spPr>
          <a:xfrm xmlns:a="http://schemas.openxmlformats.org/drawingml/2006/main">
            <a:off x="891540" y="1846580"/>
            <a:ext cx="10411460" cy="1786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FAA020-67ED-4FB7-80B8-3FA0FCEF9DAE}"/>
              </a:ext>
            </a:extLst>
          </p:cNvPr>
          <p:cNvSpPr>
            <a:spLocks xmlns:a="http://schemas.openxmlformats.org/drawingml/2006/main" noGrp="1"/>
          </p:cNvSpPr>
          <p:nvPr/>
        </p:nvSpPr>
        <p:spPr>
          <a:xfrm xmlns:a="http://schemas.openxmlformats.org/drawingml/2006/main">
            <a:off x="891540" y="1846580"/>
            <a:ext cx="10411460" cy="1786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Bayer Crop Science: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Amazon SageMaker builds machine-learning models that identify genetic traits associated with higher yields and disease resistance.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Amazon Redshift supports rapid data analysis and the development of new crop varieties.</a:t>
            </a:r>
          </a:p>
        </p:txBody>
      </p:sp>
    </p:spTree>
    <p:extLst>
      <p:ext uri="{BB962C8B-B14F-4D97-AF65-F5344CB8AC3E}">
        <p14:creationId xmlns:p14="http://schemas.microsoft.com/office/powerpoint/2010/main" val="560062841"/>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f04537412e1497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B7675C-F097-4680-837C-70359024E898}"/>
              </a:ext>
            </a:extLst>
          </p:cNvPr>
          <p:cNvSpPr>
            <a:spLocks xmlns:a="http://schemas.openxmlformats.org/drawingml/2006/main" noGrp="1"/>
          </p:cNvSpPr>
          <p:nvPr/>
        </p:nvSpPr>
        <p:spPr>
          <a:xfrm xmlns:a="http://schemas.openxmlformats.org/drawingml/2006/main">
            <a:off x="597535" y="730885"/>
            <a:ext cx="1080897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0082D91-81DA-4D5D-8A30-2C34413287BF}"/>
              </a:ext>
            </a:extLst>
          </p:cNvPr>
          <p:cNvSpPr>
            <a:spLocks xmlns:a="http://schemas.openxmlformats.org/drawingml/2006/main" noGrp="1"/>
          </p:cNvSpPr>
          <p:nvPr/>
        </p:nvSpPr>
        <p:spPr>
          <a:xfrm xmlns:a="http://schemas.openxmlformats.org/drawingml/2006/main">
            <a:off x="597535" y="730885"/>
            <a:ext cx="1080897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8940E33E-D595-4606-811F-0A5AF25650B8}"/>
              </a:ext>
            </a:extLst>
          </p:cNvPr>
          <p:cNvSpPr>
            <a:spLocks xmlns:a="http://schemas.openxmlformats.org/drawingml/2006/main" noGrp="1"/>
          </p:cNvSpPr>
          <p:nvPr/>
        </p:nvSpPr>
        <p:spPr>
          <a:xfrm xmlns:a="http://schemas.openxmlformats.org/drawingml/2006/main">
            <a:off x="797560" y="1988820"/>
            <a:ext cx="6517640" cy="28308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77DC7C3-D320-4762-8E6F-87EB8AC38476}"/>
              </a:ext>
            </a:extLst>
          </p:cNvPr>
          <p:cNvSpPr>
            <a:spLocks xmlns:a="http://schemas.openxmlformats.org/drawingml/2006/main" noGrp="1"/>
          </p:cNvSpPr>
          <p:nvPr/>
        </p:nvSpPr>
        <p:spPr>
          <a:xfrm xmlns:a="http://schemas.openxmlformats.org/drawingml/2006/main">
            <a:off x="797560" y="1988820"/>
            <a:ext cx="6517640" cy="2830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Farmers Edge: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Farmers Edge is a digital-agriculture company that uses AWS to provide real-time monitoring and analytics.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AWS IoT Core connects field sensors and transmits collected data to the cloud.</a:t>
            </a:r>
          </a:p>
        </p:txBody>
      </p:sp>
    </p:spTree>
    <p:extLst>
      <p:ext uri="{BB962C8B-B14F-4D97-AF65-F5344CB8AC3E}">
        <p14:creationId xmlns:p14="http://schemas.microsoft.com/office/powerpoint/2010/main" val="1224373692"/>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f9c317cb685406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3B3C53-62AD-495F-9B5A-D146C02B19FA}"/>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CECCC3B-CAB9-4DA6-ABB1-A1B843FD3F37}"/>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67552AF7-2FBB-4727-81D3-2F19DD06B009}"/>
              </a:ext>
            </a:extLst>
          </p:cNvPr>
          <p:cNvSpPr>
            <a:spLocks xmlns:a="http://schemas.openxmlformats.org/drawingml/2006/main" noGrp="1"/>
          </p:cNvSpPr>
          <p:nvPr/>
        </p:nvSpPr>
        <p:spPr>
          <a:xfrm xmlns:a="http://schemas.openxmlformats.org/drawingml/2006/main">
            <a:off x="891540" y="1846580"/>
            <a:ext cx="10205720" cy="1786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6D41CA6-10C9-45C7-8838-48EC86644347}"/>
              </a:ext>
            </a:extLst>
          </p:cNvPr>
          <p:cNvSpPr>
            <a:spLocks xmlns:a="http://schemas.openxmlformats.org/drawingml/2006/main" noGrp="1"/>
          </p:cNvSpPr>
          <p:nvPr/>
        </p:nvSpPr>
        <p:spPr>
          <a:xfrm xmlns:a="http://schemas.openxmlformats.org/drawingml/2006/main">
            <a:off x="891540" y="1846580"/>
            <a:ext cx="10205720" cy="1786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Farmers Edge: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Data are stored in Amazon S3 and processed on Amazon EC2.</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SageMaker predictive models help farmers make irrigation, fertilization, and crop-protection decisions.</a:t>
            </a:r>
          </a:p>
        </p:txBody>
      </p:sp>
    </p:spTree>
    <p:extLst>
      <p:ext uri="{BB962C8B-B14F-4D97-AF65-F5344CB8AC3E}">
        <p14:creationId xmlns:p14="http://schemas.microsoft.com/office/powerpoint/2010/main" val="818614962"/>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1709f668c484f0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CEE10B-8FEC-40CE-965A-E878E9110CA6}"/>
              </a:ext>
            </a:extLst>
          </p:cNvPr>
          <p:cNvSpPr>
            <a:spLocks xmlns:a="http://schemas.openxmlformats.org/drawingml/2006/main" noGrp="1"/>
          </p:cNvSpPr>
          <p:nvPr/>
        </p:nvSpPr>
        <p:spPr>
          <a:xfrm xmlns:a="http://schemas.openxmlformats.org/drawingml/2006/main">
            <a:off x="862965" y="591185"/>
            <a:ext cx="8841740" cy="8153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A89FCC-4492-4ACD-A41A-8A563A56B138}"/>
              </a:ext>
            </a:extLst>
          </p:cNvPr>
          <p:cNvSpPr>
            <a:spLocks xmlns:a="http://schemas.openxmlformats.org/drawingml/2006/main" noGrp="1"/>
          </p:cNvSpPr>
          <p:nvPr/>
        </p:nvSpPr>
        <p:spPr>
          <a:xfrm xmlns:a="http://schemas.openxmlformats.org/drawingml/2006/main">
            <a:off x="862965" y="591185"/>
            <a:ext cx="8841740" cy="8153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32EB69F4-A2D0-44B2-91EC-564CA1F3B746}"/>
              </a:ext>
            </a:extLst>
          </p:cNvPr>
          <p:cNvSpPr>
            <a:spLocks xmlns:a="http://schemas.openxmlformats.org/drawingml/2006/main" noGrp="1"/>
          </p:cNvSpPr>
          <p:nvPr/>
        </p:nvSpPr>
        <p:spPr>
          <a:xfrm xmlns:a="http://schemas.openxmlformats.org/drawingml/2006/main">
            <a:off x="891540" y="1927860"/>
            <a:ext cx="4583430" cy="16319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76E03EA-62FD-4875-8B02-E41AF4786DE7}"/>
              </a:ext>
            </a:extLst>
          </p:cNvPr>
          <p:cNvSpPr>
            <a:spLocks xmlns:a="http://schemas.openxmlformats.org/drawingml/2006/main" noGrp="1"/>
          </p:cNvSpPr>
          <p:nvPr/>
        </p:nvSpPr>
        <p:spPr>
          <a:xfrm xmlns:a="http://schemas.openxmlformats.org/drawingml/2006/main">
            <a:off x="891540" y="1927860"/>
            <a:ext cx="4583430" cy="163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Indigo Agriculture: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Indigo uses AWS to collect real-time IoT sensor data and optimize plant health and crop yields.</a:t>
            </a:r>
          </a:p>
        </p:txBody>
      </p:sp>
    </p:spTree>
    <p:extLst>
      <p:ext uri="{BB962C8B-B14F-4D97-AF65-F5344CB8AC3E}">
        <p14:creationId xmlns:p14="http://schemas.microsoft.com/office/powerpoint/2010/main" val="478090952"/>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641ba1cfd58494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D663CE-33C4-431C-A8B5-6847E96DCB0A}"/>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141B791-5223-4999-A73C-8EDE72B6F321}"/>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B087A6CF-8D0F-49FF-BB61-EC859FA0DC50}"/>
              </a:ext>
            </a:extLst>
          </p:cNvPr>
          <p:cNvSpPr>
            <a:spLocks xmlns:a="http://schemas.openxmlformats.org/drawingml/2006/main" noGrp="1"/>
          </p:cNvSpPr>
          <p:nvPr/>
        </p:nvSpPr>
        <p:spPr>
          <a:xfrm xmlns:a="http://schemas.openxmlformats.org/drawingml/2006/main">
            <a:off x="891540" y="1846580"/>
            <a:ext cx="10417810" cy="20916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786CED5-056D-4E21-9133-3BC5E6B6A1AD}"/>
              </a:ext>
            </a:extLst>
          </p:cNvPr>
          <p:cNvSpPr>
            <a:spLocks xmlns:a="http://schemas.openxmlformats.org/drawingml/2006/main" noGrp="1"/>
          </p:cNvSpPr>
          <p:nvPr/>
        </p:nvSpPr>
        <p:spPr>
          <a:xfrm xmlns:a="http://schemas.openxmlformats.org/drawingml/2006/main">
            <a:off x="891540" y="1846580"/>
            <a:ext cx="10417810" cy="20916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Indigo Agriculture: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Amazon Kinesis processes real-time data streams, while Amazon S3 stores the data.</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SageMaker models provide personalized crop-management recommendations.</a:t>
            </a:r>
          </a:p>
        </p:txBody>
      </p:sp>
    </p:spTree>
    <p:extLst>
      <p:ext uri="{BB962C8B-B14F-4D97-AF65-F5344CB8AC3E}">
        <p14:creationId xmlns:p14="http://schemas.microsoft.com/office/powerpoint/2010/main" val="170264141"/>
      </p:ext>
    </p:extLst>
  </p:cSld>
</p:sld>
</file>

<file path=ppt/slides/slide12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b857b122b25485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A3BC256-5F7D-4D40-B9E0-9E96C91FFFF8}"/>
              </a:ext>
            </a:extLst>
          </p:cNvPr>
          <p:cNvSpPr>
            <a:spLocks xmlns:a="http://schemas.openxmlformats.org/drawingml/2006/main" noGrp="1"/>
          </p:cNvSpPr>
          <p:nvPr/>
        </p:nvSpPr>
        <p:spPr>
          <a:xfrm xmlns:a="http://schemas.openxmlformats.org/drawingml/2006/main">
            <a:off x="597535" y="7308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EC9F704-BC2F-40E3-987E-009677FD05E6}"/>
              </a:ext>
            </a:extLst>
          </p:cNvPr>
          <p:cNvSpPr>
            <a:spLocks xmlns:a="http://schemas.openxmlformats.org/drawingml/2006/main" noGrp="1"/>
          </p:cNvSpPr>
          <p:nvPr/>
        </p:nvSpPr>
        <p:spPr>
          <a:xfrm xmlns:a="http://schemas.openxmlformats.org/drawingml/2006/main">
            <a:off x="597535" y="7308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E0698EC9-5CFB-42BC-A7DA-FC25DCF82FFF}"/>
              </a:ext>
            </a:extLst>
          </p:cNvPr>
          <p:cNvSpPr>
            <a:spLocks xmlns:a="http://schemas.openxmlformats.org/drawingml/2006/main" noGrp="1"/>
          </p:cNvSpPr>
          <p:nvPr/>
        </p:nvSpPr>
        <p:spPr>
          <a:xfrm xmlns:a="http://schemas.openxmlformats.org/drawingml/2006/main">
            <a:off x="626110" y="1988820"/>
            <a:ext cx="6097270" cy="17881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66AAB82-291B-48B7-B56B-7C522F5105D9}"/>
              </a:ext>
            </a:extLst>
          </p:cNvPr>
          <p:cNvSpPr>
            <a:spLocks xmlns:a="http://schemas.openxmlformats.org/drawingml/2006/main" noGrp="1"/>
          </p:cNvSpPr>
          <p:nvPr/>
        </p:nvSpPr>
        <p:spPr>
          <a:xfrm xmlns:a="http://schemas.openxmlformats.org/drawingml/2006/main">
            <a:off x="626110" y="1988820"/>
            <a:ext cx="6097270" cy="1788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collection - Azure IoT Hub:</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 managed service for connecting, monitoring, and managing billions of IoT devices.</a:t>
            </a:r>
          </a:p>
        </p:txBody>
      </p:sp>
    </p:spTree>
    <p:extLst>
      <p:ext uri="{BB962C8B-B14F-4D97-AF65-F5344CB8AC3E}">
        <p14:creationId xmlns:p14="http://schemas.microsoft.com/office/powerpoint/2010/main" val="201484340"/>
      </p:ext>
    </p:extLst>
  </p:cSld>
</p:sld>
</file>

<file path=ppt/slides/slide12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0f18ead262c406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92106A-DD2C-4DE8-9ABD-4F4ED57E1DDD}"/>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7FA67EC-4C7E-4E76-8412-EF747177BCF8}"/>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478570E2-FE78-464B-88D3-C824C341B298}"/>
              </a:ext>
            </a:extLst>
          </p:cNvPr>
          <p:cNvSpPr>
            <a:spLocks xmlns:a="http://schemas.openxmlformats.org/drawingml/2006/main" noGrp="1"/>
          </p:cNvSpPr>
          <p:nvPr/>
        </p:nvSpPr>
        <p:spPr>
          <a:xfrm xmlns:a="http://schemas.openxmlformats.org/drawingml/2006/main">
            <a:off x="834390" y="1846580"/>
            <a:ext cx="3737610" cy="1482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BE36148-AA29-49C7-8D26-DB10E97A823D}"/>
              </a:ext>
            </a:extLst>
          </p:cNvPr>
          <p:cNvSpPr>
            <a:spLocks xmlns:a="http://schemas.openxmlformats.org/drawingml/2006/main" noGrp="1"/>
          </p:cNvSpPr>
          <p:nvPr/>
        </p:nvSpPr>
        <p:spPr>
          <a:xfrm xmlns:a="http://schemas.openxmlformats.org/drawingml/2006/main">
            <a:off x="834390" y="1846580"/>
            <a:ext cx="3737610" cy="1482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storage: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Azure Data Lake Storage;</a:t>
            </a:r>
          </a:p>
          <a:p xmlns:a="http://schemas.openxmlformats.org/drawingml/2006/main">
            <a:pPr algn="l">
              <a:defRPr sz="1650" b="0">
                <a:solidFill>
                  <a:srgbClr val="111111"/>
                </a:solidFill>
              </a:defRPr>
            </a:pPr>
            <a:r>
              <a:rPr sz="1650" b="0">
                <a:solidFill>
                  <a:srgbClr val="111111"/>
                </a:solidFill>
              </a:rPr>
              <a:t>• Azure SQL Database;</a:t>
            </a:r>
          </a:p>
          <a:p xmlns:a="http://schemas.openxmlformats.org/drawingml/2006/main">
            <a:pPr algn="l">
              <a:defRPr sz="1650" b="0">
                <a:solidFill>
                  <a:srgbClr val="111111"/>
                </a:solidFill>
              </a:defRPr>
            </a:pPr>
            <a:r>
              <a:rPr sz="1650" b="0">
                <a:solidFill>
                  <a:srgbClr val="111111"/>
                </a:solidFill>
              </a:rPr>
              <a:t>• Azure Cosmos DB.</a:t>
            </a:r>
          </a:p>
        </p:txBody>
      </p:sp>
    </p:spTree>
    <p:extLst>
      <p:ext uri="{BB962C8B-B14F-4D97-AF65-F5344CB8AC3E}">
        <p14:creationId xmlns:p14="http://schemas.microsoft.com/office/powerpoint/2010/main" val="1596186033"/>
      </p:ext>
    </p:extLst>
  </p:cSld>
</p:sld>
</file>

<file path=ppt/slides/slide12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828e258eed5443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BE38D0F-E8E7-45F2-9D53-5741D15EEC05}"/>
              </a:ext>
            </a:extLst>
          </p:cNvPr>
          <p:cNvSpPr>
            <a:spLocks xmlns:a="http://schemas.openxmlformats.org/drawingml/2006/main" noGrp="1"/>
          </p:cNvSpPr>
          <p:nvPr/>
        </p:nvSpPr>
        <p:spPr>
          <a:xfrm xmlns:a="http://schemas.openxmlformats.org/drawingml/2006/main">
            <a:off x="597535" y="7308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4D56F6-2E5D-4D02-BB7D-AA60EE9A20C5}"/>
              </a:ext>
            </a:extLst>
          </p:cNvPr>
          <p:cNvSpPr>
            <a:spLocks xmlns:a="http://schemas.openxmlformats.org/drawingml/2006/main" noGrp="1"/>
          </p:cNvSpPr>
          <p:nvPr/>
        </p:nvSpPr>
        <p:spPr>
          <a:xfrm xmlns:a="http://schemas.openxmlformats.org/drawingml/2006/main">
            <a:off x="597535" y="7308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28B6787F-200D-4625-B1D5-AD9ECD5B6A5E}"/>
              </a:ext>
            </a:extLst>
          </p:cNvPr>
          <p:cNvSpPr>
            <a:spLocks xmlns:a="http://schemas.openxmlformats.org/drawingml/2006/main" noGrp="1"/>
          </p:cNvSpPr>
          <p:nvPr/>
        </p:nvSpPr>
        <p:spPr>
          <a:xfrm xmlns:a="http://schemas.openxmlformats.org/drawingml/2006/main">
            <a:off x="797560" y="1988820"/>
            <a:ext cx="6494780" cy="19164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726C74-F853-46C9-A5AC-C7CE87745948}"/>
              </a:ext>
            </a:extLst>
          </p:cNvPr>
          <p:cNvSpPr>
            <a:spLocks xmlns:a="http://schemas.openxmlformats.org/drawingml/2006/main" noGrp="1"/>
          </p:cNvSpPr>
          <p:nvPr/>
        </p:nvSpPr>
        <p:spPr>
          <a:xfrm xmlns:a="http://schemas.openxmlformats.org/drawingml/2006/main">
            <a:off x="797560" y="1988820"/>
            <a:ext cx="6494780" cy="19164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Data analytics - Azure Machine Learning:</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 platform for building, training, and deploying machine-learning models.</a:t>
            </a:r>
          </a:p>
        </p:txBody>
      </p:sp>
    </p:spTree>
    <p:extLst>
      <p:ext uri="{BB962C8B-B14F-4D97-AF65-F5344CB8AC3E}">
        <p14:creationId xmlns:p14="http://schemas.microsoft.com/office/powerpoint/2010/main" val="501228701"/>
      </p:ext>
    </p:extLst>
  </p:cSld>
</p:sld>
</file>

<file path=ppt/slides/slide12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47f2f971008480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867C40F-7F4A-4B75-BAAE-2577D903FAB5}"/>
              </a:ext>
            </a:extLst>
          </p:cNvPr>
          <p:cNvSpPr>
            <a:spLocks xmlns:a="http://schemas.openxmlformats.org/drawingml/2006/main" noGrp="1"/>
          </p:cNvSpPr>
          <p:nvPr/>
        </p:nvSpPr>
        <p:spPr>
          <a:xfrm xmlns:a="http://schemas.openxmlformats.org/drawingml/2006/main">
            <a:off x="597535" y="7308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211309C-7338-4433-B0EC-9769B90857B9}"/>
              </a:ext>
            </a:extLst>
          </p:cNvPr>
          <p:cNvSpPr>
            <a:spLocks xmlns:a="http://schemas.openxmlformats.org/drawingml/2006/main" noGrp="1"/>
          </p:cNvSpPr>
          <p:nvPr/>
        </p:nvSpPr>
        <p:spPr>
          <a:xfrm xmlns:a="http://schemas.openxmlformats.org/drawingml/2006/main">
            <a:off x="597535" y="7308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B5A6DC1E-918A-44D9-87AC-2BA5AD2F8F83}"/>
              </a:ext>
            </a:extLst>
          </p:cNvPr>
          <p:cNvSpPr>
            <a:spLocks xmlns:a="http://schemas.openxmlformats.org/drawingml/2006/main" noGrp="1"/>
          </p:cNvSpPr>
          <p:nvPr/>
        </p:nvSpPr>
        <p:spPr>
          <a:xfrm xmlns:a="http://schemas.openxmlformats.org/drawingml/2006/main">
            <a:off x="626110" y="1988820"/>
            <a:ext cx="6471920" cy="17881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1B6194-CFEB-4218-B877-A618598BF3A4}"/>
              </a:ext>
            </a:extLst>
          </p:cNvPr>
          <p:cNvSpPr>
            <a:spLocks xmlns:a="http://schemas.openxmlformats.org/drawingml/2006/main" noGrp="1"/>
          </p:cNvSpPr>
          <p:nvPr/>
        </p:nvSpPr>
        <p:spPr>
          <a:xfrm xmlns:a="http://schemas.openxmlformats.org/drawingml/2006/main">
            <a:off x="626110" y="1988820"/>
            <a:ext cx="6471920" cy="1788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Azure Data Manager for Agriculture: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An agriculture-specific platform that integrates data from sensors, drones, satellite imagery, and third-party sources.</a:t>
            </a:r>
          </a:p>
        </p:txBody>
      </p:sp>
    </p:spTree>
    <p:extLst>
      <p:ext uri="{BB962C8B-B14F-4D97-AF65-F5344CB8AC3E}">
        <p14:creationId xmlns:p14="http://schemas.microsoft.com/office/powerpoint/2010/main" val="802916057"/>
      </p:ext>
    </p:extLst>
  </p:cSld>
</p:sld>
</file>

<file path=ppt/slides/slide12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8db13bdba734e7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7E30560-09BB-461C-9A7F-2C1A10BAE91A}"/>
              </a:ext>
            </a:extLst>
          </p:cNvPr>
          <p:cNvSpPr>
            <a:spLocks xmlns:a="http://schemas.openxmlformats.org/drawingml/2006/main" noGrp="1"/>
          </p:cNvSpPr>
          <p:nvPr/>
        </p:nvSpPr>
        <p:spPr>
          <a:xfrm xmlns:a="http://schemas.openxmlformats.org/drawingml/2006/main">
            <a:off x="597535" y="7308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A737F59-7DC4-49A1-A45A-02B4B3F0ED9B}"/>
              </a:ext>
            </a:extLst>
          </p:cNvPr>
          <p:cNvSpPr>
            <a:spLocks xmlns:a="http://schemas.openxmlformats.org/drawingml/2006/main" noGrp="1"/>
          </p:cNvSpPr>
          <p:nvPr/>
        </p:nvSpPr>
        <p:spPr>
          <a:xfrm xmlns:a="http://schemas.openxmlformats.org/drawingml/2006/main">
            <a:off x="597535" y="7308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38F7F84B-EE73-4B58-89B4-0E2B428D3EF4}"/>
              </a:ext>
            </a:extLst>
          </p:cNvPr>
          <p:cNvSpPr>
            <a:spLocks xmlns:a="http://schemas.openxmlformats.org/drawingml/2006/main" noGrp="1"/>
          </p:cNvSpPr>
          <p:nvPr/>
        </p:nvSpPr>
        <p:spPr>
          <a:xfrm xmlns:a="http://schemas.openxmlformats.org/drawingml/2006/main">
            <a:off x="626110" y="1988820"/>
            <a:ext cx="6526530" cy="17640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22082E3-6CCD-4CA9-A8B8-055EBB1C1692}"/>
              </a:ext>
            </a:extLst>
          </p:cNvPr>
          <p:cNvSpPr>
            <a:spLocks xmlns:a="http://schemas.openxmlformats.org/drawingml/2006/main" noGrp="1"/>
          </p:cNvSpPr>
          <p:nvPr/>
        </p:nvSpPr>
        <p:spPr>
          <a:xfrm xmlns:a="http://schemas.openxmlformats.org/drawingml/2006/main">
            <a:off x="626110" y="1988820"/>
            <a:ext cx="6526530" cy="17640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Agricultural use: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Collecting and analyzing data from multiple sources to provide detailed insights into farm conditions and support decision-making.</a:t>
            </a:r>
          </a:p>
        </p:txBody>
      </p:sp>
    </p:spTree>
    <p:extLst>
      <p:ext uri="{BB962C8B-B14F-4D97-AF65-F5344CB8AC3E}">
        <p14:creationId xmlns:p14="http://schemas.microsoft.com/office/powerpoint/2010/main" val="1137580515"/>
      </p:ext>
    </p:extLst>
  </p:cSld>
</p:sld>
</file>

<file path=ppt/slides/slide13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704b0734b0e44d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A34E3B-B677-47AC-B57C-7335C274C3CB}"/>
              </a:ext>
            </a:extLst>
          </p:cNvPr>
          <p:cNvSpPr>
            <a:spLocks xmlns:a="http://schemas.openxmlformats.org/drawingml/2006/main" noGrp="1"/>
          </p:cNvSpPr>
          <p:nvPr/>
        </p:nvSpPr>
        <p:spPr>
          <a:xfrm xmlns:a="http://schemas.openxmlformats.org/drawingml/2006/main">
            <a:off x="597535" y="7308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B31BC1F-EB5A-4488-83E4-878D98887D5E}"/>
              </a:ext>
            </a:extLst>
          </p:cNvPr>
          <p:cNvSpPr>
            <a:spLocks xmlns:a="http://schemas.openxmlformats.org/drawingml/2006/main" noGrp="1"/>
          </p:cNvSpPr>
          <p:nvPr/>
        </p:nvSpPr>
        <p:spPr>
          <a:xfrm xmlns:a="http://schemas.openxmlformats.org/drawingml/2006/main">
            <a:off x="597535" y="7308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455F5424-FD7C-403C-BEA8-53DA819B108B}"/>
              </a:ext>
            </a:extLst>
          </p:cNvPr>
          <p:cNvSpPr>
            <a:spLocks xmlns:a="http://schemas.openxmlformats.org/drawingml/2006/main" noGrp="1"/>
          </p:cNvSpPr>
          <p:nvPr/>
        </p:nvSpPr>
        <p:spPr>
          <a:xfrm xmlns:a="http://schemas.openxmlformats.org/drawingml/2006/main">
            <a:off x="797560" y="1988820"/>
            <a:ext cx="6197600" cy="26136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867445-CC75-475B-94E5-C29252CAFF3C}"/>
              </a:ext>
            </a:extLst>
          </p:cNvPr>
          <p:cNvSpPr>
            <a:spLocks xmlns:a="http://schemas.openxmlformats.org/drawingml/2006/main" noGrp="1"/>
          </p:cNvSpPr>
          <p:nvPr/>
        </p:nvSpPr>
        <p:spPr>
          <a:xfrm xmlns:a="http://schemas.openxmlformats.org/drawingml/2006/main">
            <a:off x="797560" y="1988820"/>
            <a:ext cx="6197600" cy="26136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Azure Time Series Insights: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 service for time-series analysis and visualization.</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It can monitor farm operations and analyze sensor data over time to identify patterns and anomalies.</a:t>
            </a:r>
          </a:p>
        </p:txBody>
      </p:sp>
    </p:spTree>
    <p:extLst>
      <p:ext uri="{BB962C8B-B14F-4D97-AF65-F5344CB8AC3E}">
        <p14:creationId xmlns:p14="http://schemas.microsoft.com/office/powerpoint/2010/main" val="216350401"/>
      </p:ext>
    </p:extLst>
  </p:cSld>
</p:sld>
</file>

<file path=ppt/slides/slide13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1a536dbd25045f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85630A1-55DA-4FBF-8920-A5FFB97CDFCC}"/>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16162E7-DDBC-4BE0-9215-9571323E4F82}"/>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864A6B29-DED6-419E-B3C3-9DB5FBEFE534}"/>
              </a:ext>
            </a:extLst>
          </p:cNvPr>
          <p:cNvSpPr>
            <a:spLocks xmlns:a="http://schemas.openxmlformats.org/drawingml/2006/main" noGrp="1"/>
          </p:cNvSpPr>
          <p:nvPr/>
        </p:nvSpPr>
        <p:spPr>
          <a:xfrm xmlns:a="http://schemas.openxmlformats.org/drawingml/2006/main">
            <a:off x="891540" y="1846580"/>
            <a:ext cx="10328910" cy="21196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F184619-CE79-441B-89EF-4934809FA7D4}"/>
              </a:ext>
            </a:extLst>
          </p:cNvPr>
          <p:cNvSpPr>
            <a:spLocks xmlns:a="http://schemas.openxmlformats.org/drawingml/2006/main" noGrp="1"/>
          </p:cNvSpPr>
          <p:nvPr/>
        </p:nvSpPr>
        <p:spPr>
          <a:xfrm xmlns:a="http://schemas.openxmlformats.org/drawingml/2006/main">
            <a:off x="891540" y="1846580"/>
            <a:ext cx="10328910" cy="2119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Azure Cognitive Services: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APIs that add AI capabilities such as image and video analysis.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Applications include detecting pests, diseases, and water stress through drone and satellite imagery.</a:t>
            </a:r>
          </a:p>
        </p:txBody>
      </p:sp>
    </p:spTree>
    <p:extLst>
      <p:ext uri="{BB962C8B-B14F-4D97-AF65-F5344CB8AC3E}">
        <p14:creationId xmlns:p14="http://schemas.microsoft.com/office/powerpoint/2010/main" val="1194614543"/>
      </p:ext>
    </p:extLst>
  </p:cSld>
</p:sld>
</file>

<file path=ppt/slides/slide13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a2ac10c13d545e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504132-A080-4AF5-A373-B6F84255C9A9}"/>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BD909D4-8E04-4CDF-A659-BBB348E17021}"/>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21B2BB31-F2DF-4FE1-8211-38D386B64C35}"/>
              </a:ext>
            </a:extLst>
          </p:cNvPr>
          <p:cNvSpPr>
            <a:spLocks xmlns:a="http://schemas.openxmlformats.org/drawingml/2006/main" noGrp="1"/>
          </p:cNvSpPr>
          <p:nvPr/>
        </p:nvSpPr>
        <p:spPr>
          <a:xfrm xmlns:a="http://schemas.openxmlformats.org/drawingml/2006/main">
            <a:off x="891540" y="1846580"/>
            <a:ext cx="9392920" cy="18148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4707DB-C0C2-4865-B45E-0D113E864830}"/>
              </a:ext>
            </a:extLst>
          </p:cNvPr>
          <p:cNvSpPr>
            <a:spLocks xmlns:a="http://schemas.openxmlformats.org/drawingml/2006/main" noGrp="1"/>
          </p:cNvSpPr>
          <p:nvPr/>
        </p:nvSpPr>
        <p:spPr>
          <a:xfrm xmlns:a="http://schemas.openxmlformats.org/drawingml/2006/main">
            <a:off x="891540" y="1846580"/>
            <a:ext cx="9392920" cy="1814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Azure Maps: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 mapping and geolocation service.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Applications include agricultural-machinery route planning, field mapping, and product-transport monitoring.</a:t>
            </a:r>
          </a:p>
        </p:txBody>
      </p:sp>
    </p:spTree>
    <p:extLst>
      <p:ext uri="{BB962C8B-B14F-4D97-AF65-F5344CB8AC3E}">
        <p14:creationId xmlns:p14="http://schemas.microsoft.com/office/powerpoint/2010/main" val="466652575"/>
      </p:ext>
    </p:extLst>
  </p:cSld>
</p:sld>
</file>

<file path=ppt/slides/slide13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fabc064097a40f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5986B8-2BEC-40B5-B337-99D3357FA8EF}"/>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110E1F7-2F30-4FE2-9EFD-9A67C538F46D}"/>
              </a:ext>
            </a:extLst>
          </p:cNvPr>
          <p:cNvSpPr>
            <a:spLocks xmlns:a="http://schemas.openxmlformats.org/drawingml/2006/main" noGrp="1"/>
          </p:cNvSpPr>
          <p:nvPr/>
        </p:nvSpPr>
        <p:spPr>
          <a:xfrm xmlns:a="http://schemas.openxmlformats.org/drawingml/2006/main">
            <a:off x="862965" y="502285"/>
            <a:ext cx="67640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a:t>
            </a:r>
          </a:p>
        </p:txBody>
      </p:sp>
      <p:sp>
        <p:nvSpPr>
          <p:cNvPr id="4" name="">
            <a:extLst xmlns:a="http://schemas.openxmlformats.org/drawingml/2006/main">
              <a:ext uri="{FF2B5EF4-FFF2-40B4-BE49-F238E27FC236}">
                <a16:creationId xmlns:a16="http://schemas.microsoft.com/office/drawing/2014/main" id="{317851C4-B690-49F5-A05E-628368782B11}"/>
              </a:ext>
            </a:extLst>
          </p:cNvPr>
          <p:cNvSpPr>
            <a:spLocks xmlns:a="http://schemas.openxmlformats.org/drawingml/2006/main" noGrp="1"/>
          </p:cNvSpPr>
          <p:nvPr/>
        </p:nvSpPr>
        <p:spPr>
          <a:xfrm xmlns:a="http://schemas.openxmlformats.org/drawingml/2006/main">
            <a:off x="891540" y="1846580"/>
            <a:ext cx="9892030" cy="18148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3602761-3A2F-4FE1-BD6D-56299B644F0B}"/>
              </a:ext>
            </a:extLst>
          </p:cNvPr>
          <p:cNvSpPr>
            <a:spLocks xmlns:a="http://schemas.openxmlformats.org/drawingml/2006/main" noGrp="1"/>
          </p:cNvSpPr>
          <p:nvPr/>
        </p:nvSpPr>
        <p:spPr>
          <a:xfrm xmlns:a="http://schemas.openxmlformats.org/drawingml/2006/main">
            <a:off x="891540" y="1846580"/>
            <a:ext cx="9892030" cy="1814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Azure Synapse Analytics: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 data-analytics platform that integrates big data and data warehousing.</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It combines multiple agricultural data sources to produce actionable insights.</a:t>
            </a:r>
          </a:p>
        </p:txBody>
      </p:sp>
    </p:spTree>
    <p:extLst>
      <p:ext uri="{BB962C8B-B14F-4D97-AF65-F5344CB8AC3E}">
        <p14:creationId xmlns:p14="http://schemas.microsoft.com/office/powerpoint/2010/main" val="1682811504"/>
      </p:ext>
    </p:extLst>
  </p:cSld>
</p:sld>
</file>

<file path=ppt/slides/slide13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a3d189374344bb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32690A-0503-4E33-A9E1-A52069D11C86}"/>
              </a:ext>
            </a:extLst>
          </p:cNvPr>
          <p:cNvSpPr>
            <a:spLocks xmlns:a="http://schemas.openxmlformats.org/drawingml/2006/main" noGrp="1"/>
          </p:cNvSpPr>
          <p:nvPr/>
        </p:nvSpPr>
        <p:spPr>
          <a:xfrm xmlns:a="http://schemas.openxmlformats.org/drawingml/2006/main">
            <a:off x="597535" y="730885"/>
            <a:ext cx="1080897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7668288-D416-473C-90CE-355A6D697150}"/>
              </a:ext>
            </a:extLst>
          </p:cNvPr>
          <p:cNvSpPr>
            <a:spLocks xmlns:a="http://schemas.openxmlformats.org/drawingml/2006/main" noGrp="1"/>
          </p:cNvSpPr>
          <p:nvPr/>
        </p:nvSpPr>
        <p:spPr>
          <a:xfrm xmlns:a="http://schemas.openxmlformats.org/drawingml/2006/main">
            <a:off x="597535" y="730885"/>
            <a:ext cx="1080897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E2CA904B-8314-423E-B536-1985BD4843BE}"/>
              </a:ext>
            </a:extLst>
          </p:cNvPr>
          <p:cNvSpPr>
            <a:spLocks xmlns:a="http://schemas.openxmlformats.org/drawingml/2006/main" noGrp="1"/>
          </p:cNvSpPr>
          <p:nvPr/>
        </p:nvSpPr>
        <p:spPr>
          <a:xfrm xmlns:a="http://schemas.openxmlformats.org/drawingml/2006/main">
            <a:off x="626110" y="1988820"/>
            <a:ext cx="6544310" cy="14592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7080D83-493B-4585-A1EC-832832053F41}"/>
              </a:ext>
            </a:extLst>
          </p:cNvPr>
          <p:cNvSpPr>
            <a:spLocks xmlns:a="http://schemas.openxmlformats.org/drawingml/2006/main" noGrp="1"/>
          </p:cNvSpPr>
          <p:nvPr/>
        </p:nvSpPr>
        <p:spPr>
          <a:xfrm xmlns:a="http://schemas.openxmlformats.org/drawingml/2006/main">
            <a:off x="626110" y="1988820"/>
            <a:ext cx="6544310" cy="1459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Land O'Lakes: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Uses technology to increase agricultural productivity, optimize resources, and promote sustainability.</a:t>
            </a:r>
          </a:p>
        </p:txBody>
      </p:sp>
    </p:spTree>
    <p:extLst>
      <p:ext uri="{BB962C8B-B14F-4D97-AF65-F5344CB8AC3E}">
        <p14:creationId xmlns:p14="http://schemas.microsoft.com/office/powerpoint/2010/main" val="479105989"/>
      </p:ext>
    </p:extLst>
  </p:cSld>
</p:sld>
</file>

<file path=ppt/slides/slide13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3e4cfdc2fb6470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A54A97-4D18-48DE-A8E0-A6C1C063B532}"/>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0EBDE63-562E-411D-A1F0-615B6119F38F}"/>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8CA1408A-4185-48E3-A314-57F5EA6CC810}"/>
              </a:ext>
            </a:extLst>
          </p:cNvPr>
          <p:cNvSpPr>
            <a:spLocks xmlns:a="http://schemas.openxmlformats.org/drawingml/2006/main" noGrp="1"/>
          </p:cNvSpPr>
          <p:nvPr/>
        </p:nvSpPr>
        <p:spPr>
          <a:xfrm xmlns:a="http://schemas.openxmlformats.org/drawingml/2006/main">
            <a:off x="891540" y="1846580"/>
            <a:ext cx="9657080" cy="1786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E8278D2-67D3-4358-957A-58E4D7450F7E}"/>
              </a:ext>
            </a:extLst>
          </p:cNvPr>
          <p:cNvSpPr>
            <a:spLocks xmlns:a="http://schemas.openxmlformats.org/drawingml/2006/main" noGrp="1"/>
          </p:cNvSpPr>
          <p:nvPr/>
        </p:nvSpPr>
        <p:spPr>
          <a:xfrm xmlns:a="http://schemas.openxmlformats.org/drawingml/2006/main">
            <a:off x="891540" y="1846580"/>
            <a:ext cx="9657080" cy="1786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Land O'Lakes: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Azure Machine Learning forecasts crop yields from historical data and current conditions, enabling more accurate harvest planning and resource management.</a:t>
            </a:r>
          </a:p>
        </p:txBody>
      </p:sp>
    </p:spTree>
    <p:extLst>
      <p:ext uri="{BB962C8B-B14F-4D97-AF65-F5344CB8AC3E}">
        <p14:creationId xmlns:p14="http://schemas.microsoft.com/office/powerpoint/2010/main" val="743677608"/>
      </p:ext>
    </p:extLst>
  </p:cSld>
</p:sld>
</file>

<file path=ppt/slides/slide13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132777423694e3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AE2AB0-1229-4512-A50B-47BDFEB27B35}"/>
              </a:ext>
            </a:extLst>
          </p:cNvPr>
          <p:cNvSpPr>
            <a:spLocks xmlns:a="http://schemas.openxmlformats.org/drawingml/2006/main" noGrp="1"/>
          </p:cNvSpPr>
          <p:nvPr/>
        </p:nvSpPr>
        <p:spPr>
          <a:xfrm xmlns:a="http://schemas.openxmlformats.org/drawingml/2006/main">
            <a:off x="655955" y="664845"/>
            <a:ext cx="4704080" cy="14808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2E2D288-3976-44A2-A5C2-0C22F2605279}"/>
              </a:ext>
            </a:extLst>
          </p:cNvPr>
          <p:cNvSpPr>
            <a:spLocks xmlns:a="http://schemas.openxmlformats.org/drawingml/2006/main" noGrp="1"/>
          </p:cNvSpPr>
          <p:nvPr/>
        </p:nvSpPr>
        <p:spPr>
          <a:xfrm xmlns:a="http://schemas.openxmlformats.org/drawingml/2006/main">
            <a:off x="655955" y="664845"/>
            <a:ext cx="4704080" cy="14808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0A94DA47-8354-4DCA-91C9-B523A3A1C45E}"/>
              </a:ext>
            </a:extLst>
          </p:cNvPr>
          <p:cNvSpPr>
            <a:spLocks xmlns:a="http://schemas.openxmlformats.org/drawingml/2006/main" noGrp="1"/>
          </p:cNvSpPr>
          <p:nvPr/>
        </p:nvSpPr>
        <p:spPr>
          <a:xfrm xmlns:a="http://schemas.openxmlformats.org/drawingml/2006/main">
            <a:off x="684530" y="2578100"/>
            <a:ext cx="4667250" cy="20675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3D63D7F-EF3B-4FA9-A34E-CA397251593E}"/>
              </a:ext>
            </a:extLst>
          </p:cNvPr>
          <p:cNvSpPr>
            <a:spLocks xmlns:a="http://schemas.openxmlformats.org/drawingml/2006/main" noGrp="1"/>
          </p:cNvSpPr>
          <p:nvPr/>
        </p:nvSpPr>
        <p:spPr>
          <a:xfrm xmlns:a="http://schemas.openxmlformats.org/drawingml/2006/main">
            <a:off x="684530" y="2578100"/>
            <a:ext cx="4667250" cy="2067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Saturas: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Improves irrigation efficiency and crop productivity by monitoring plant water needs in real time.</a:t>
            </a:r>
          </a:p>
        </p:txBody>
      </p:sp>
    </p:spTree>
    <p:extLst>
      <p:ext uri="{BB962C8B-B14F-4D97-AF65-F5344CB8AC3E}">
        <p14:creationId xmlns:p14="http://schemas.microsoft.com/office/powerpoint/2010/main" val="1342510273"/>
      </p:ext>
    </p:extLst>
  </p:cSld>
</p:sld>
</file>

<file path=ppt/slides/slide13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6ec7e79e9f9470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D2CBDD8-C76B-43CE-BA36-11ACA47A3612}"/>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306DD09-24F3-4ABB-BD29-1C3FC59A488B}"/>
              </a:ext>
            </a:extLst>
          </p:cNvPr>
          <p:cNvSpPr>
            <a:spLocks xmlns:a="http://schemas.openxmlformats.org/drawingml/2006/main" noGrp="1"/>
          </p:cNvSpPr>
          <p:nvPr/>
        </p:nvSpPr>
        <p:spPr>
          <a:xfrm xmlns:a="http://schemas.openxmlformats.org/drawingml/2006/main">
            <a:off x="862965" y="541655"/>
            <a:ext cx="10022840" cy="90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0">
                <a:solidFill>
                  <a:srgbClr val="111111"/>
                </a:solidFill>
              </a:defRPr>
            </a:pPr>
            <a:r>
              <a:rPr sz="3150" b="0">
                <a:solidFill>
                  <a:srgbClr val="111111"/>
                </a:solidFill>
              </a:rPr>
              <a:t>Big Data Platforms: Use Cases</a:t>
            </a:r>
          </a:p>
        </p:txBody>
      </p:sp>
      <p:sp>
        <p:nvSpPr>
          <p:cNvPr id="4" name="">
            <a:extLst xmlns:a="http://schemas.openxmlformats.org/drawingml/2006/main">
              <a:ext uri="{FF2B5EF4-FFF2-40B4-BE49-F238E27FC236}">
                <a16:creationId xmlns:a16="http://schemas.microsoft.com/office/drawing/2014/main" id="{E2DA75C0-EB1E-4681-989C-7D4C0C8486B2}"/>
              </a:ext>
            </a:extLst>
          </p:cNvPr>
          <p:cNvSpPr>
            <a:spLocks xmlns:a="http://schemas.openxmlformats.org/drawingml/2006/main" noGrp="1"/>
          </p:cNvSpPr>
          <p:nvPr/>
        </p:nvSpPr>
        <p:spPr>
          <a:xfrm xmlns:a="http://schemas.openxmlformats.org/drawingml/2006/main">
            <a:off x="891540" y="1846580"/>
            <a:ext cx="10429240" cy="2383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B065539-E5C6-4C93-8D9F-243442737A16}"/>
              </a:ext>
            </a:extLst>
          </p:cNvPr>
          <p:cNvSpPr>
            <a:spLocks xmlns:a="http://schemas.openxmlformats.org/drawingml/2006/main" noGrp="1"/>
          </p:cNvSpPr>
          <p:nvPr/>
        </p:nvSpPr>
        <p:spPr>
          <a:xfrm xmlns:a="http://schemas.openxmlformats.org/drawingml/2006/main">
            <a:off x="891540" y="1846580"/>
            <a:ext cx="10429240" cy="23837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Saturas: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In apple orchards, stem-water-potential sensors continuously monitor tree water status.</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Azure IoT Hub and Synapse Analytics provide precise irrigation recommendations, delivering water savings of up to 20% and significant yield improvements.</a:t>
            </a:r>
          </a:p>
        </p:txBody>
      </p:sp>
    </p:spTree>
    <p:extLst>
      <p:ext uri="{BB962C8B-B14F-4D97-AF65-F5344CB8AC3E}">
        <p14:creationId xmlns:p14="http://schemas.microsoft.com/office/powerpoint/2010/main" val="990722446"/>
      </p:ext>
    </p:extLst>
  </p:cSld>
</p:sld>
</file>

<file path=ppt/slides/slide13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9e10ef9dd36402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9EEC4E-3E32-482E-BC99-779B75CB425F}"/>
              </a:ext>
            </a:extLst>
          </p:cNvPr>
          <p:cNvSpPr>
            <a:spLocks xmlns:a="http://schemas.openxmlformats.org/drawingml/2006/main" noGrp="1"/>
          </p:cNvSpPr>
          <p:nvPr/>
        </p:nvSpPr>
        <p:spPr>
          <a:xfrm xmlns:a="http://schemas.openxmlformats.org/drawingml/2006/main">
            <a:off x="862965" y="502285"/>
            <a:ext cx="592074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B25FF9-F30A-45DB-B3F2-F5E3867B2956}"/>
              </a:ext>
            </a:extLst>
          </p:cNvPr>
          <p:cNvSpPr>
            <a:spLocks xmlns:a="http://schemas.openxmlformats.org/drawingml/2006/main" noGrp="1"/>
          </p:cNvSpPr>
          <p:nvPr/>
        </p:nvSpPr>
        <p:spPr>
          <a:xfrm xmlns:a="http://schemas.openxmlformats.org/drawingml/2006/main">
            <a:off x="862965" y="502285"/>
            <a:ext cx="592074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1">
                <a:solidFill>
                  <a:srgbClr val="111111"/>
                </a:solidFill>
              </a:defRPr>
            </a:pPr>
            <a:r>
              <a:rPr sz="3150" b="1">
                <a:solidFill>
                  <a:srgbClr val="111111"/>
                </a:solidFill>
              </a:rPr>
              <a:t>Recommended Videos</a:t>
            </a:r>
          </a:p>
        </p:txBody>
      </p:sp>
      <p:sp>
        <p:nvSpPr>
          <p:cNvPr id="4" name="">
            <a:extLst xmlns:a="http://schemas.openxmlformats.org/drawingml/2006/main">
              <a:ext uri="{FF2B5EF4-FFF2-40B4-BE49-F238E27FC236}">
                <a16:creationId xmlns:a16="http://schemas.microsoft.com/office/drawing/2014/main" id="{5C65AA55-1100-4230-94D7-47AA47D6F87B}"/>
              </a:ext>
            </a:extLst>
          </p:cNvPr>
          <p:cNvSpPr>
            <a:spLocks xmlns:a="http://schemas.openxmlformats.org/drawingml/2006/main" noGrp="1"/>
          </p:cNvSpPr>
          <p:nvPr/>
        </p:nvSpPr>
        <p:spPr>
          <a:xfrm xmlns:a="http://schemas.openxmlformats.org/drawingml/2006/main">
            <a:off x="834390" y="1846580"/>
            <a:ext cx="10322560" cy="21678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85943E0-AF65-4DD2-9C97-D65B1143E075}"/>
              </a:ext>
            </a:extLst>
          </p:cNvPr>
          <p:cNvSpPr>
            <a:spLocks xmlns:a="http://schemas.openxmlformats.org/drawingml/2006/main" noGrp="1"/>
          </p:cNvSpPr>
          <p:nvPr/>
        </p:nvSpPr>
        <p:spPr>
          <a:xfrm xmlns:a="http://schemas.openxmlformats.org/drawingml/2006/main">
            <a:off x="834390" y="1846580"/>
            <a:ext cx="10322560" cy="2167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Land O'Lakes Uses Azure Data Manager for Agriculture to Support Efficient Farming</a:t>
            </a:r>
          </a:p>
          <a:p xmlns:a="http://schemas.openxmlformats.org/drawingml/2006/main">
            <a:pPr algn="l">
              <a:defRPr sz="1650" b="0">
                <a:solidFill>
                  <a:srgbClr val="111111"/>
                </a:solidFill>
              </a:defRPr>
            </a:pPr>
            <a:r>
              <a:rPr sz="1650" b="0">
                <a:solidFill>
                  <a:srgbClr val="111111"/>
                </a:solidFill>
              </a:rPr>
              <a:t>• https://www.youtube.com/watch?v=kLKB6Zf4jRE</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Building a Unified Agriculture Technology Ecosystem - Amazon Web Services</a:t>
            </a:r>
          </a:p>
          <a:p xmlns:a="http://schemas.openxmlformats.org/drawingml/2006/main">
            <a:pPr algn="l">
              <a:defRPr sz="1650" b="0">
                <a:solidFill>
                  <a:srgbClr val="111111"/>
                </a:solidFill>
              </a:defRPr>
            </a:pPr>
            <a:r>
              <a:rPr sz="1650" b="0">
                <a:solidFill>
                  <a:srgbClr val="111111"/>
                </a:solidFill>
              </a:rPr>
              <a:t>• https://www.youtube.com/watch?v=NX9pPrD105Y</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All in the Field: AWS Agriculture Live</a:t>
            </a:r>
          </a:p>
          <a:p xmlns:a="http://schemas.openxmlformats.org/drawingml/2006/main">
            <a:pPr algn="l">
              <a:defRPr sz="1650" b="0">
                <a:solidFill>
                  <a:srgbClr val="111111"/>
                </a:solidFill>
              </a:defRPr>
            </a:pPr>
            <a:r>
              <a:rPr sz="1650" b="0">
                <a:solidFill>
                  <a:srgbClr val="111111"/>
                </a:solidFill>
              </a:rPr>
              <a:t>• https://www.youtube.com/watch?v=S7VLSJgdKCE</a:t>
            </a:r>
          </a:p>
        </p:txBody>
      </p:sp>
    </p:spTree>
    <p:extLst>
      <p:ext uri="{BB962C8B-B14F-4D97-AF65-F5344CB8AC3E}">
        <p14:creationId xmlns:p14="http://schemas.microsoft.com/office/powerpoint/2010/main" val="556491412"/>
      </p:ext>
    </p:extLst>
  </p:cSld>
</p:sld>
</file>

<file path=ppt/slides/slide13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7ae98466037426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DBC796B-DEFD-4CE0-B82E-E1A76EBB4E6D}"/>
              </a:ext>
            </a:extLst>
          </p:cNvPr>
          <p:cNvSpPr>
            <a:spLocks xmlns:a="http://schemas.openxmlformats.org/drawingml/2006/main" noGrp="1"/>
          </p:cNvSpPr>
          <p:nvPr/>
        </p:nvSpPr>
        <p:spPr>
          <a:xfrm xmlns:a="http://schemas.openxmlformats.org/drawingml/2006/main">
            <a:off x="862965" y="502285"/>
            <a:ext cx="34239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67B700C-6EF2-462B-AC89-0745CCAC7770}"/>
              </a:ext>
            </a:extLst>
          </p:cNvPr>
          <p:cNvSpPr>
            <a:spLocks xmlns:a="http://schemas.openxmlformats.org/drawingml/2006/main" noGrp="1"/>
          </p:cNvSpPr>
          <p:nvPr/>
        </p:nvSpPr>
        <p:spPr>
          <a:xfrm xmlns:a="http://schemas.openxmlformats.org/drawingml/2006/main">
            <a:off x="862965" y="502285"/>
            <a:ext cx="34239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1">
                <a:solidFill>
                  <a:srgbClr val="111111"/>
                </a:solidFill>
              </a:defRPr>
            </a:pPr>
            <a:r>
              <a:rPr sz="3150" b="1">
                <a:solidFill>
                  <a:srgbClr val="111111"/>
                </a:solidFill>
              </a:rPr>
              <a:t>References</a:t>
            </a:r>
          </a:p>
        </p:txBody>
      </p:sp>
      <p:sp>
        <p:nvSpPr>
          <p:cNvPr id="4" name="">
            <a:extLst xmlns:a="http://schemas.openxmlformats.org/drawingml/2006/main">
              <a:ext uri="{FF2B5EF4-FFF2-40B4-BE49-F238E27FC236}">
                <a16:creationId xmlns:a16="http://schemas.microsoft.com/office/drawing/2014/main" id="{74EFB909-5CA4-4CC3-A109-329B3BFDB9BC}"/>
              </a:ext>
            </a:extLst>
          </p:cNvPr>
          <p:cNvSpPr>
            <a:spLocks xmlns:a="http://schemas.openxmlformats.org/drawingml/2006/main" noGrp="1"/>
          </p:cNvSpPr>
          <p:nvPr/>
        </p:nvSpPr>
        <p:spPr>
          <a:xfrm xmlns:a="http://schemas.openxmlformats.org/drawingml/2006/main">
            <a:off x="834390" y="1846580"/>
            <a:ext cx="10557510" cy="31978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B17B89-4991-4E98-B7E1-8F6B46E133BF}"/>
              </a:ext>
            </a:extLst>
          </p:cNvPr>
          <p:cNvSpPr>
            <a:spLocks xmlns:a="http://schemas.openxmlformats.org/drawingml/2006/main" noGrp="1"/>
          </p:cNvSpPr>
          <p:nvPr/>
        </p:nvSpPr>
        <p:spPr>
          <a:xfrm xmlns:a="http://schemas.openxmlformats.org/drawingml/2006/main">
            <a:off x="834390" y="1846580"/>
            <a:ext cx="10557510" cy="31978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00" b="0">
                <a:solidFill>
                  <a:srgbClr val="111111"/>
                </a:solidFill>
              </a:defRPr>
            </a:pPr>
            <a:r>
              <a:rPr sz="1500" b="0">
                <a:solidFill>
                  <a:srgbClr val="111111"/>
                </a:solidFill>
              </a:rPr>
              <a:t>• Sadiku, M. N. O., Chukwu, U. C. &amp; Sadiku, J. O. (2023). Cloud Computing in Agriculture. World Journal of Agriculture and Urbanization, 2(11), 26-31. https://doi.org/10.51699/wjau.v2i11.11</a:t>
            </a:r>
          </a:p>
          <a:p xmlns:a="http://schemas.openxmlformats.org/drawingml/2006/main">
            <a:r>
              <a:t/>
            </a:r>
          </a:p>
          <a:p xmlns:a="http://schemas.openxmlformats.org/drawingml/2006/main">
            <a:pPr algn="l">
              <a:defRPr sz="1500" b="0">
                <a:solidFill>
                  <a:srgbClr val="111111"/>
                </a:solidFill>
              </a:defRPr>
            </a:pPr>
            <a:r>
              <a:rPr sz="1500" b="0">
                <a:solidFill>
                  <a:srgbClr val="111111"/>
                </a:solidFill>
              </a:rPr>
              <a:t>• Ampatzidis, Y., Partel, V. &amp; Costa, L. Agroview: Cloud-based UAV data analysis for precision agriculture using AI. Computers and Electronics in Agriculture 174, 105457 (2020).</a:t>
            </a:r>
          </a:p>
          <a:p xmlns:a="http://schemas.openxmlformats.org/drawingml/2006/main">
            <a:r>
              <a:t/>
            </a:r>
          </a:p>
          <a:p xmlns:a="http://schemas.openxmlformats.org/drawingml/2006/main">
            <a:pPr algn="l">
              <a:defRPr sz="1500" b="0">
                <a:solidFill>
                  <a:srgbClr val="111111"/>
                </a:solidFill>
              </a:defRPr>
            </a:pPr>
            <a:r>
              <a:rPr sz="1500" b="0">
                <a:solidFill>
                  <a:srgbClr val="111111"/>
                </a:solidFill>
              </a:rPr>
              <a:t>• Punjani, K. K. et al. Cloud computing in agriculture: a bibliometric and network visualization analysis. Quality &amp; Quantity 57, 3849-3883 (2023). https://doi.org/10.1007/s11135-022-01535-1</a:t>
            </a:r>
          </a:p>
        </p:txBody>
      </p:sp>
    </p:spTree>
    <p:extLst>
      <p:ext uri="{BB962C8B-B14F-4D97-AF65-F5344CB8AC3E}">
        <p14:creationId xmlns:p14="http://schemas.microsoft.com/office/powerpoint/2010/main" val="1171590591"/>
      </p:ext>
    </p:extLst>
  </p:cSld>
</p:sld>
</file>

<file path=ppt/slides/slide14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bc7aa89e8db4b6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A7B583-0427-4B04-997C-31654B96DFA5}"/>
              </a:ext>
            </a:extLst>
          </p:cNvPr>
          <p:cNvSpPr>
            <a:spLocks xmlns:a="http://schemas.openxmlformats.org/drawingml/2006/main" noGrp="1"/>
          </p:cNvSpPr>
          <p:nvPr/>
        </p:nvSpPr>
        <p:spPr>
          <a:xfrm xmlns:a="http://schemas.openxmlformats.org/drawingml/2006/main">
            <a:off x="862965" y="502285"/>
            <a:ext cx="3423920" cy="9702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53C123-037D-4E08-8809-887709B288D2}"/>
              </a:ext>
            </a:extLst>
          </p:cNvPr>
          <p:cNvSpPr>
            <a:spLocks xmlns:a="http://schemas.openxmlformats.org/drawingml/2006/main" noGrp="1"/>
          </p:cNvSpPr>
          <p:nvPr/>
        </p:nvSpPr>
        <p:spPr>
          <a:xfrm xmlns:a="http://schemas.openxmlformats.org/drawingml/2006/main">
            <a:off x="862965" y="502285"/>
            <a:ext cx="3423920" cy="970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3150" b="1">
                <a:solidFill>
                  <a:srgbClr val="111111"/>
                </a:solidFill>
              </a:defRPr>
            </a:pPr>
            <a:r>
              <a:rPr sz="3150" b="1">
                <a:solidFill>
                  <a:srgbClr val="111111"/>
                </a:solidFill>
              </a:rPr>
              <a:t>References</a:t>
            </a:r>
          </a:p>
        </p:txBody>
      </p:sp>
      <p:sp>
        <p:nvSpPr>
          <p:cNvPr id="4" name="">
            <a:extLst xmlns:a="http://schemas.openxmlformats.org/drawingml/2006/main">
              <a:ext uri="{FF2B5EF4-FFF2-40B4-BE49-F238E27FC236}">
                <a16:creationId xmlns:a16="http://schemas.microsoft.com/office/drawing/2014/main" id="{E8BE21CD-04D0-49F2-81B1-570FCD28E625}"/>
              </a:ext>
            </a:extLst>
          </p:cNvPr>
          <p:cNvSpPr>
            <a:spLocks xmlns:a="http://schemas.openxmlformats.org/drawingml/2006/main" noGrp="1"/>
          </p:cNvSpPr>
          <p:nvPr/>
        </p:nvSpPr>
        <p:spPr>
          <a:xfrm xmlns:a="http://schemas.openxmlformats.org/drawingml/2006/main">
            <a:off x="834390" y="1846580"/>
            <a:ext cx="9329420" cy="18389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C8E4A09-AB71-4E6E-B8C6-C363344B358B}"/>
              </a:ext>
            </a:extLst>
          </p:cNvPr>
          <p:cNvSpPr>
            <a:spLocks xmlns:a="http://schemas.openxmlformats.org/drawingml/2006/main" noGrp="1"/>
          </p:cNvSpPr>
          <p:nvPr/>
        </p:nvSpPr>
        <p:spPr>
          <a:xfrm xmlns:a="http://schemas.openxmlformats.org/drawingml/2006/main">
            <a:off x="834390" y="1846580"/>
            <a:ext cx="9329420" cy="1838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11111"/>
                </a:solidFill>
              </a:defRPr>
            </a:pPr>
            <a:r>
              <a:rPr sz="1650" b="0">
                <a:solidFill>
                  <a:srgbClr val="111111"/>
                </a:solidFill>
              </a:rPr>
              <a:t>• Amazon Web Services</a:t>
            </a:r>
          </a:p>
          <a:p xmlns:a="http://schemas.openxmlformats.org/drawingml/2006/main">
            <a:pPr algn="l">
              <a:defRPr sz="1650" b="0">
                <a:solidFill>
                  <a:srgbClr val="111111"/>
                </a:solidFill>
              </a:defRPr>
            </a:pPr>
            <a:r>
              <a:rPr sz="1650" b="0">
                <a:solidFill>
                  <a:srgbClr val="111111"/>
                </a:solidFill>
              </a:rPr>
              <a:t>• https://aws.amazon.com/</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Microsoft Azure</a:t>
            </a:r>
          </a:p>
          <a:p xmlns:a="http://schemas.openxmlformats.org/drawingml/2006/main">
            <a:pPr algn="l">
              <a:defRPr sz="1650" b="0">
                <a:solidFill>
                  <a:srgbClr val="111111"/>
                </a:solidFill>
              </a:defRPr>
            </a:pPr>
            <a:r>
              <a:rPr sz="1650" b="0">
                <a:solidFill>
                  <a:srgbClr val="111111"/>
                </a:solidFill>
              </a:rPr>
              <a:t>• https://azure.microsoft.com/</a:t>
            </a:r>
          </a:p>
          <a:p xmlns:a="http://schemas.openxmlformats.org/drawingml/2006/main">
            <a:pPr algn="l">
              <a:defRPr sz="1650" b="0">
                <a:solidFill>
                  <a:srgbClr val="111111"/>
                </a:solidFill>
              </a:defRPr>
            </a:pPr>
            <a:r>
              <a:rPr sz="1650" b="0">
                <a:solidFill>
                  <a:srgbClr val="111111"/>
                </a:solidFill>
              </a:rPr>
              <a:t>• https://azure.microsoft.com/en-us/products/data-manager-for-agriculture</a:t>
            </a:r>
          </a:p>
        </p:txBody>
      </p:sp>
    </p:spTree>
    <p:extLst>
      <p:ext uri="{BB962C8B-B14F-4D97-AF65-F5344CB8AC3E}">
        <p14:creationId xmlns:p14="http://schemas.microsoft.com/office/powerpoint/2010/main" val="14337670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2026-09-07T22:01:07.7570000Z</dcterms:created>
  <dcterms:modified xsi:type="dcterms:W3CDTF">2026-09-07T22:01:07.7570000Z</dcterms:modified>
</coreProperties>
</file>